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Logo art is the clean plate lifted from 4:45 of the company video. Replace the two TO CONFIRM slots with the buyer's name and the issue date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confirmed by the client: trading since 2013, dehydration facility commissioned 2026, Chengalpattu, 4 acres, 100,000 nuts/day, 30+ workforce. The 2013 / 2026 split is deliberate and is a selling point: thirteen years of trade history plus a brand-new plant answers both of a buyer's first two doubts at once. Do not collapse it back to a single date. DEFAULT SUPPLIED BY CLAUDE: the 12-16 MT dried kernel conversion is my calculation at roughly 130-170 g copra per nut. NOTE - the company's own film states 10 tonnes of material per 12-hour batch and about 100,000 litres of oil per month; reconcile these three figures before quoting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Coconut oil is the ONLY finished product. The client has confirmed they do not sell desiccated coconut - the earlier third card has been removed, and the pulverised kernel seen in the film is feedstock for the expeller, not a product. Both cards are the same oil off the same line, differing only in pack format. The sulfur-free claim comes from the company's own film narration and is a genuine differentiator: sulfur is routine in copra drying and importers screen for it. DEFAULTS SUPPLIED BY CLAUDE: the FFA and moisture figures and the pack sizes are standard industry values, not your measured specs. Sign them off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slide, used as the section break into the process detail that follows. This sequence is taken from the company's own film narration and CORRECTS the earlier version of this slide in three places: washing happens BEFORE dehydration (not after paring); the post-drying step is scooping the kernel from the shell (not paring); and no dehusking is narrated - nuts go straight into an automated cutting system that halves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the client: delta region of Tamil Nadu, 100,000 nuts per day. DEFAULT SUPPLIED BY CLAUDE: 'direct from growers and regional mandis' is the conventional procurement description - correct it if you buy through agents or on contract. Nut variety is still open; East Coast Tall is the usual delta variety but I did not want to assert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slide in the deck and every figure on it comes from the company's own film narration - European catalytic IR dehydrator, platinum-plated chamber surfaces, IR-radiating infusors, compressor plus dehumidification, 10 tonnes per 12 hours to below 10% moisture, five days by sun to reach only 20%, ~3,300 sq ft. The earlier version of this slide called it merely 'controlled hot-air drying', which badly undersold it. TWO CLAIMS TO CONFIRM BEFORE SENDING: the film also states the plant is 'among India's largest' coconut dehydration facilities and that output is ~100,000 litres per month. I have left both off the slide - a superlative and a volume figure are exactly what a buyer will test, so use them only if you can substantiate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directly observable in the footage. The client has confirmed they hold NO HACCP and NO GMP/GHP certification, so the earlier scheme-status form has been removed entirely rather than left implying certification. Both cards now describe practice and plant only - no scheme is claimed anywhere. If HACCP is obtained later this is the slide to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Rewritten from the film narration. The earlier version of this slide presented desiccated coconut as a second finished stream - the client has confirmed they do not sell it, and the narration is explicit that the pulverised kernel is prepared 'for oil extraction'. So this is now one linear finishing line, not two streams. DEFAULT SUPPLIED BY CLAUDE: the FFA below 0.5% figure is a standard trade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9001, FSSAI and NABL are confirmed from the video's closing card. DEFAULTS SUPPLIED BY CLAUDE: every method and limit in this table is a standard industry value for edible coconut oil (IS 548, AOCS, ISO methods are real and correctly cited). They are NOT your measured results. Replace them with the figures off your own NABL COA before this table goes to a buyer - an importer will hold you to whatever is printed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9001, FSSAI and NABL are from the closing card. BRIT QUALIS and National Test House are read off the framed certificates behind the founder - wall text was only partly legible, so verify both names before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DEFAULTS SUPPLIED BY CLAUDE - every row on this page. These are conventional Indian coconut-export terms, not terms you have agreed to. The commercially sensitive ones are MOQ (one 20ft FCL), payment terms (30% advance / L/C at sight) and container fill (16-18 MT per 20ft). A buyer may treat these as an offer, so review each line with whoever owns pricing before sending. Port of loading assumes Chennai/Ennore as nearest to Chengalpattu.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 speaks to camera from 3:36 to 4:36 in the video. If you transcribe that segment, his own words are the best possible fill for the quote slot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the client: Mr. Barani, Operations Head, +91 95661 62825, and the Nethapakkam plant address. Email and website are the only two contact fields still outstanding - a buyer will want an email address, so this is worth closing before the first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Shape 1"/>
          <p:cNvSpPr/>
          <p:nvPr/>
        </p:nvSpPr>
        <p:spPr>
          <a:xfrm>
            <a:off x="640080" y="1572768"/>
            <a:ext cx="3794760" cy="3794760"/>
          </a:xfrm>
          <a:prstGeom prst="roundRect">
            <a:avLst>
              <a:gd name="adj" fmla="val 1205"/>
            </a:avLst>
          </a:prstGeom>
          <a:solidFill>
            <a:srgbClr val="FFFFFF"/>
          </a:solidFill>
          <a:ln w="12700">
            <a:solidFill>
              <a:srgbClr val="FFFFFF"/>
            </a:solidFill>
            <a:prstDash val="solid"/>
          </a:ln>
          <a:effectLst>
            <a:outerShdw sx="100000" sy="100000" kx="0" ky="0" algn="bl" rotWithShape="0" blurRad="254000" dist="25400" dir="5400000">
              <a:srgbClr val="000000">
                <a:alpha val="22000"/>
              </a:srgbClr>
            </a:outerShdw>
          </a:effectLst>
        </p:spPr>
      </p:sp>
      <p:pic>
        <p:nvPicPr>
          <p:cNvPr id="4" name="Image 0" descr="/home/user/coco-palms/build/img/logo.jpg">    </p:cNvPr>
          <p:cNvPicPr>
            <a:picLocks noChangeAspect="1"/>
          </p:cNvPicPr>
          <p:nvPr/>
        </p:nvPicPr>
        <p:blipFill>
          <a:blip r:embed="rId1"/>
          <a:srcRect l="0" r="0" t="0" b="0"/>
          <a:stretch/>
        </p:blipFill>
        <p:spPr>
          <a:xfrm>
            <a:off x="841248" y="1773936"/>
            <a:ext cx="3392424" cy="3392424"/>
          </a:xfrm>
          <a:prstGeom prst="rect">
            <a:avLst/>
          </a:prstGeom>
        </p:spPr>
      </p:pic>
      <p:sp>
        <p:nvSpPr>
          <p:cNvPr id="5" name="Text 2"/>
          <p:cNvSpPr/>
          <p:nvPr/>
        </p:nvSpPr>
        <p:spPr>
          <a:xfrm>
            <a:off x="5093208" y="1609344"/>
            <a:ext cx="6458407" cy="274320"/>
          </a:xfrm>
          <a:prstGeom prst="rect">
            <a:avLst/>
          </a:prstGeom>
          <a:noFill/>
          <a:ln/>
        </p:spPr>
        <p:txBody>
          <a:bodyPr wrap="square" lIns="0" tIns="0" rIns="0" bIns="0" rtlCol="0" anchor="ctr"/>
          <a:lstStyle/>
          <a:p>
            <a:pPr indent="0" marL="0">
              <a:buNone/>
            </a:pPr>
            <a:r>
              <a:rPr lang="en-US" sz="1200" b="1" spc="300" kern="0" dirty="0">
                <a:solidFill>
                  <a:srgbClr val="E3C171"/>
                </a:solidFill>
                <a:latin typeface="Calibri" pitchFamily="34" charset="0"/>
                <a:ea typeface="Calibri" pitchFamily="34" charset="-122"/>
                <a:cs typeface="Calibri" pitchFamily="34" charset="-120"/>
              </a:rPr>
              <a:t>EXPORT CAPABILITY PROFILE</a:t>
            </a:r>
            <a:endParaRPr lang="en-US" sz="1200" dirty="0"/>
          </a:p>
        </p:txBody>
      </p:sp>
      <p:sp>
        <p:nvSpPr>
          <p:cNvPr id="6" name="Text 3"/>
          <p:cNvSpPr/>
          <p:nvPr/>
        </p:nvSpPr>
        <p:spPr>
          <a:xfrm>
            <a:off x="5093208" y="1975104"/>
            <a:ext cx="6458407" cy="713232"/>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Coco Palms</a:t>
            </a:r>
            <a:endParaRPr lang="en-US" sz="4400" dirty="0"/>
          </a:p>
        </p:txBody>
      </p:sp>
      <p:sp>
        <p:nvSpPr>
          <p:cNvPr id="7" name="Text 4"/>
          <p:cNvSpPr/>
          <p:nvPr/>
        </p:nvSpPr>
        <p:spPr>
          <a:xfrm>
            <a:off x="5093208" y="2651760"/>
            <a:ext cx="6458407" cy="713232"/>
          </a:xfrm>
          <a:prstGeom prst="rect">
            <a:avLst/>
          </a:prstGeom>
          <a:noFill/>
          <a:ln/>
        </p:spPr>
        <p:txBody>
          <a:bodyPr wrap="square" lIns="0" tIns="0" rIns="0" bIns="0" rtlCol="0" anchor="ctr"/>
          <a:lstStyle/>
          <a:p>
            <a:pPr indent="0" marL="0">
              <a:buNone/>
            </a:pPr>
            <a:r>
              <a:rPr lang="en-US" sz="4400" b="1" dirty="0">
                <a:solidFill>
                  <a:srgbClr val="6FB04A"/>
                </a:solidFill>
                <a:latin typeface="Cambria" pitchFamily="34" charset="0"/>
                <a:ea typeface="Cambria" pitchFamily="34" charset="-122"/>
                <a:cs typeface="Cambria" pitchFamily="34" charset="-120"/>
              </a:rPr>
              <a:t>Skylanes</a:t>
            </a:r>
            <a:endParaRPr lang="en-US" sz="4400" dirty="0"/>
          </a:p>
        </p:txBody>
      </p:sp>
      <p:sp>
        <p:nvSpPr>
          <p:cNvPr id="8" name="Text 5"/>
          <p:cNvSpPr/>
          <p:nvPr/>
        </p:nvSpPr>
        <p:spPr>
          <a:xfrm>
            <a:off x="5093208" y="3401568"/>
            <a:ext cx="6458407" cy="329184"/>
          </a:xfrm>
          <a:prstGeom prst="rect">
            <a:avLst/>
          </a:prstGeom>
          <a:noFill/>
          <a:ln/>
        </p:spPr>
        <p:txBody>
          <a:bodyPr wrap="square" lIns="0" tIns="0" rIns="0" bIns="0" rtlCol="0" anchor="ctr"/>
          <a:lstStyle/>
          <a:p>
            <a:pPr indent="0" marL="0">
              <a:buNone/>
            </a:pPr>
            <a:r>
              <a:rPr lang="en-US" sz="1700" spc="160" kern="0" dirty="0">
                <a:solidFill>
                  <a:srgbClr val="A9BBAB"/>
                </a:solidFill>
                <a:latin typeface="Calibri" pitchFamily="34" charset="0"/>
                <a:ea typeface="Calibri" pitchFamily="34" charset="-122"/>
                <a:cs typeface="Calibri" pitchFamily="34" charset="-120"/>
              </a:rPr>
              <a:t>and Allied Products</a:t>
            </a:r>
            <a:endParaRPr lang="en-US" sz="1700" dirty="0"/>
          </a:p>
        </p:txBody>
      </p:sp>
      <p:sp>
        <p:nvSpPr>
          <p:cNvPr id="9" name="Text 6"/>
          <p:cNvSpPr/>
          <p:nvPr/>
        </p:nvSpPr>
        <p:spPr>
          <a:xfrm>
            <a:off x="5093208" y="3931920"/>
            <a:ext cx="6458407" cy="548640"/>
          </a:xfrm>
          <a:prstGeom prst="rect">
            <a:avLst/>
          </a:prstGeom>
          <a:noFill/>
          <a:ln/>
        </p:spPr>
        <p:txBody>
          <a:bodyPr wrap="square" lIns="0" tIns="0" rIns="0" bIns="0" rtlCol="0" anchor="ctr"/>
          <a:lstStyle/>
          <a:p>
            <a:pPr indent="0" marL="0">
              <a:lnSpc>
                <a:spcPct val="120000"/>
              </a:lnSpc>
              <a:buNone/>
            </a:pPr>
            <a:r>
              <a:rPr lang="en-US" sz="1350" dirty="0">
                <a:solidFill>
                  <a:srgbClr val="E3C171"/>
                </a:solidFill>
                <a:latin typeface="Calibri" pitchFamily="34" charset="0"/>
                <a:ea typeface="Calibri" pitchFamily="34" charset="-122"/>
                <a:cs typeface="Calibri" pitchFamily="34" charset="-120"/>
              </a:rPr>
              <a:t>100% organic, sulfur-free coconut oil  ·  edible and bulk grades</a:t>
            </a:r>
            <a:endParaRPr lang="en-US" sz="1350" dirty="0"/>
          </a:p>
        </p:txBody>
      </p:sp>
      <p:sp>
        <p:nvSpPr>
          <p:cNvPr id="10" name="Text 7"/>
          <p:cNvSpPr/>
          <p:nvPr/>
        </p:nvSpPr>
        <p:spPr>
          <a:xfrm>
            <a:off x="5093208" y="4517136"/>
            <a:ext cx="6458407" cy="347472"/>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Pure in every drop.</a:t>
            </a:r>
            <a:endParaRPr lang="en-US" sz="1700" dirty="0"/>
          </a:p>
        </p:txBody>
      </p:sp>
      <p:sp>
        <p:nvSpPr>
          <p:cNvPr id="11" name="Text 8"/>
          <p:cNvSpPr/>
          <p:nvPr/>
        </p:nvSpPr>
        <p:spPr>
          <a:xfrm>
            <a:off x="5093208" y="5065776"/>
            <a:ext cx="6458407" cy="274320"/>
          </a:xfrm>
          <a:prstGeom prst="rect">
            <a:avLst/>
          </a:prstGeom>
          <a:noFill/>
          <a:ln/>
        </p:spPr>
        <p:txBody>
          <a:bodyPr wrap="square" lIns="0" tIns="0" rIns="0" bIns="0" rtlCol="0" anchor="ctr"/>
          <a:lstStyle/>
          <a:p>
            <a:pPr indent="0" marL="0">
              <a:buNone/>
            </a:pPr>
            <a:r>
              <a:rPr lang="en-US" sz="1150" b="1" spc="180" kern="0" dirty="0">
                <a:solidFill>
                  <a:srgbClr val="FFFFFF"/>
                </a:solidFill>
                <a:latin typeface="Calibri" pitchFamily="34" charset="0"/>
                <a:ea typeface="Calibri" pitchFamily="34" charset="-122"/>
                <a:cs typeface="Calibri" pitchFamily="34" charset="-120"/>
              </a:rPr>
              <a:t>ISO 9001    ·    FSSAI    ·    NABL</a:t>
            </a:r>
            <a:endParaRPr lang="en-US" sz="1150" dirty="0"/>
          </a:p>
        </p:txBody>
      </p:sp>
      <p:sp>
        <p:nvSpPr>
          <p:cNvPr id="12" name="Text 9"/>
          <p:cNvSpPr/>
          <p:nvPr/>
        </p:nvSpPr>
        <p:spPr>
          <a:xfrm>
            <a:off x="640080" y="5779008"/>
            <a:ext cx="10911535" cy="274320"/>
          </a:xfrm>
          <a:prstGeom prst="rect">
            <a:avLst/>
          </a:prstGeom>
          <a:noFill/>
          <a:ln/>
        </p:spPr>
        <p:txBody>
          <a:bodyPr wrap="square" lIns="0" tIns="0" rIns="0" bIns="0" rtlCol="0" anchor="ctr"/>
          <a:lstStyle/>
          <a:p>
            <a:pPr indent="0" marL="0">
              <a:buNone/>
            </a:pPr>
            <a:r>
              <a:rPr lang="en-US" sz="1050" dirty="0">
                <a:solidFill>
                  <a:srgbClr val="A9BBAB"/>
                </a:solidFill>
                <a:latin typeface="Calibri" pitchFamily="34" charset="0"/>
                <a:ea typeface="Calibri" pitchFamily="34" charset="-122"/>
                <a:cs typeface="Calibri" pitchFamily="34" charset="-120"/>
              </a:rPr>
              <a:t>Prepared for  </a:t>
            </a:r>
            <a:pPr indent="0" marL="0">
              <a:buNone/>
            </a:pPr>
            <a:r>
              <a:rPr lang="en-US" sz="1050" b="1" i="1" spc="120" kern="0" dirty="0">
                <a:solidFill>
                  <a:srgbClr val="B8860F"/>
                </a:solidFill>
                <a:latin typeface="Calibri" pitchFamily="34" charset="0"/>
                <a:ea typeface="Calibri" pitchFamily="34" charset="-122"/>
                <a:cs typeface="Calibri" pitchFamily="34" charset="-120"/>
              </a:rPr>
              <a:t>TO CONFIRM</a:t>
            </a:r>
            <a:pPr indent="0" marL="0">
              <a:buNone/>
            </a:pPr>
            <a:r>
              <a:rPr lang="en-US" sz="1050" dirty="0">
                <a:solidFill>
                  <a:srgbClr val="A9BBAB"/>
                </a:solidFill>
                <a:latin typeface="Calibri" pitchFamily="34" charset="0"/>
                <a:ea typeface="Calibri" pitchFamily="34" charset="-122"/>
                <a:cs typeface="Calibri" pitchFamily="34" charset="-120"/>
              </a:rPr>
              <a:t>        Issue date  </a:t>
            </a:r>
            <a:pPr indent="0" marL="0">
              <a:buNone/>
            </a:pPr>
            <a:r>
              <a:rPr lang="en-US" sz="1050" dirty="0">
                <a:solidFill>
                  <a:srgbClr val="FFFFFF"/>
                </a:solidFill>
                <a:latin typeface="Calibri" pitchFamily="34" charset="0"/>
                <a:ea typeface="Calibri" pitchFamily="34" charset="-122"/>
                <a:cs typeface="Calibri" pitchFamily="34" charset="-120"/>
              </a:rPr>
              <a:t>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WHO WE ARE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Company at a glance</a:t>
            </a:r>
            <a:endParaRPr lang="en-US" sz="3400" dirty="0"/>
          </a:p>
        </p:txBody>
      </p:sp>
      <p:sp>
        <p:nvSpPr>
          <p:cNvPr id="5" name="Text 3"/>
          <p:cNvSpPr/>
          <p:nvPr/>
        </p:nvSpPr>
        <p:spPr>
          <a:xfrm>
            <a:off x="640080" y="1847088"/>
            <a:ext cx="5806440" cy="1572768"/>
          </a:xfrm>
          <a:prstGeom prst="rect">
            <a:avLst/>
          </a:prstGeom>
          <a:noFill/>
          <a:ln/>
        </p:spPr>
        <p:txBody>
          <a:bodyPr wrap="square" lIns="0" tIns="0" rIns="0" bIns="0" rtlCol="0" anchor="t"/>
          <a:lstStyle/>
          <a:p>
            <a:pPr indent="0" marL="0">
              <a:lnSpc>
                <a:spcPct val="126000"/>
              </a:lnSpc>
              <a:buNone/>
            </a:pPr>
            <a:r>
              <a:rPr lang="en-US" sz="1300" dirty="0">
                <a:solidFill>
                  <a:srgbClr val="232C24"/>
                </a:solidFill>
                <a:latin typeface="Calibri" pitchFamily="34" charset="0"/>
                <a:ea typeface="Calibri" pitchFamily="34" charset="-122"/>
                <a:cs typeface="Calibri" pitchFamily="34" charset="-120"/>
              </a:rPr>
              <a:t>Coco Palms Skylanes and Allied Products has been trading in coconut and allied products since 2013. In 2026 we commissioned a purpose-built dehydration facility on our four-acre site in Chengalpattu district, Tamil Nadu. Whole nuts are received at our own intake yard, cut and washed on site, dried in a catalytic infrared dehydrator, then pressed and filtered into finished oil. Thirteen years of trade experience now sits behind a drying plant specified to current food-safety standards rather than retrofitted to them.</a:t>
            </a:r>
            <a:endParaRPr lang="en-US" sz="1300" dirty="0"/>
          </a:p>
        </p:txBody>
      </p:sp>
      <p:sp>
        <p:nvSpPr>
          <p:cNvPr id="6" name="Text 4"/>
          <p:cNvSpPr/>
          <p:nvPr/>
        </p:nvSpPr>
        <p:spPr>
          <a:xfrm>
            <a:off x="640080" y="354787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Trading since</a:t>
            </a:r>
            <a:endParaRPr lang="en-US" sz="1150" dirty="0"/>
          </a:p>
        </p:txBody>
      </p:sp>
      <p:sp>
        <p:nvSpPr>
          <p:cNvPr id="7" name="Text 5"/>
          <p:cNvSpPr/>
          <p:nvPr/>
        </p:nvSpPr>
        <p:spPr>
          <a:xfrm>
            <a:off x="2788920" y="354787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2013</a:t>
            </a:r>
            <a:endParaRPr lang="en-US" sz="1250" dirty="0"/>
          </a:p>
        </p:txBody>
      </p:sp>
      <p:sp>
        <p:nvSpPr>
          <p:cNvPr id="8" name="Text 6"/>
          <p:cNvSpPr/>
          <p:nvPr/>
        </p:nvSpPr>
        <p:spPr>
          <a:xfrm>
            <a:off x="640080" y="391363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Dehydration facility</a:t>
            </a:r>
            <a:endParaRPr lang="en-US" sz="1150" dirty="0"/>
          </a:p>
        </p:txBody>
      </p:sp>
      <p:sp>
        <p:nvSpPr>
          <p:cNvPr id="9" name="Text 7"/>
          <p:cNvSpPr/>
          <p:nvPr/>
        </p:nvSpPr>
        <p:spPr>
          <a:xfrm>
            <a:off x="2788920" y="391363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Commissioned 2026</a:t>
            </a:r>
            <a:endParaRPr lang="en-US" sz="1250" dirty="0"/>
          </a:p>
        </p:txBody>
      </p:sp>
      <p:sp>
        <p:nvSpPr>
          <p:cNvPr id="10" name="Text 8"/>
          <p:cNvSpPr/>
          <p:nvPr/>
        </p:nvSpPr>
        <p:spPr>
          <a:xfrm>
            <a:off x="640080" y="427939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Plant location</a:t>
            </a:r>
            <a:endParaRPr lang="en-US" sz="1150" dirty="0"/>
          </a:p>
        </p:txBody>
      </p:sp>
      <p:sp>
        <p:nvSpPr>
          <p:cNvPr id="11" name="Text 9"/>
          <p:cNvSpPr/>
          <p:nvPr/>
        </p:nvSpPr>
        <p:spPr>
          <a:xfrm>
            <a:off x="2788920" y="427939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Chengalpattu, Tamil Nadu</a:t>
            </a:r>
            <a:endParaRPr lang="en-US" sz="1250" dirty="0"/>
          </a:p>
        </p:txBody>
      </p:sp>
      <p:sp>
        <p:nvSpPr>
          <p:cNvPr id="12" name="Text 10"/>
          <p:cNvSpPr/>
          <p:nvPr/>
        </p:nvSpPr>
        <p:spPr>
          <a:xfrm>
            <a:off x="640080" y="464515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Site area</a:t>
            </a:r>
            <a:endParaRPr lang="en-US" sz="1150" dirty="0"/>
          </a:p>
        </p:txBody>
      </p:sp>
      <p:sp>
        <p:nvSpPr>
          <p:cNvPr id="13" name="Text 11"/>
          <p:cNvSpPr/>
          <p:nvPr/>
        </p:nvSpPr>
        <p:spPr>
          <a:xfrm>
            <a:off x="2788920" y="464515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4 acres</a:t>
            </a:r>
            <a:endParaRPr lang="en-US" sz="1250" dirty="0"/>
          </a:p>
        </p:txBody>
      </p:sp>
      <p:sp>
        <p:nvSpPr>
          <p:cNvPr id="14" name="Text 12"/>
          <p:cNvSpPr/>
          <p:nvPr/>
        </p:nvSpPr>
        <p:spPr>
          <a:xfrm>
            <a:off x="640080" y="501091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Daily nut intake</a:t>
            </a:r>
            <a:endParaRPr lang="en-US" sz="1150" dirty="0"/>
          </a:p>
        </p:txBody>
      </p:sp>
      <p:sp>
        <p:nvSpPr>
          <p:cNvPr id="15" name="Text 13"/>
          <p:cNvSpPr/>
          <p:nvPr/>
        </p:nvSpPr>
        <p:spPr>
          <a:xfrm>
            <a:off x="2788920" y="501091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100,000 nuts</a:t>
            </a:r>
            <a:endParaRPr lang="en-US" sz="1250" dirty="0"/>
          </a:p>
        </p:txBody>
      </p:sp>
      <p:sp>
        <p:nvSpPr>
          <p:cNvPr id="16" name="Text 14"/>
          <p:cNvSpPr/>
          <p:nvPr/>
        </p:nvSpPr>
        <p:spPr>
          <a:xfrm>
            <a:off x="640080" y="537667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Workforce</a:t>
            </a:r>
            <a:endParaRPr lang="en-US" sz="1150" dirty="0"/>
          </a:p>
        </p:txBody>
      </p:sp>
      <p:sp>
        <p:nvSpPr>
          <p:cNvPr id="17" name="Text 15"/>
          <p:cNvSpPr/>
          <p:nvPr/>
        </p:nvSpPr>
        <p:spPr>
          <a:xfrm>
            <a:off x="2788920" y="537667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30+</a:t>
            </a:r>
            <a:endParaRPr lang="en-US" sz="1250" dirty="0"/>
          </a:p>
        </p:txBody>
      </p:sp>
      <p:sp>
        <p:nvSpPr>
          <p:cNvPr id="18" name="Text 16"/>
          <p:cNvSpPr/>
          <p:nvPr/>
        </p:nvSpPr>
        <p:spPr>
          <a:xfrm>
            <a:off x="640080" y="5742432"/>
            <a:ext cx="21488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Quality accreditations</a:t>
            </a:r>
            <a:endParaRPr lang="en-US" sz="1150" dirty="0"/>
          </a:p>
        </p:txBody>
      </p:sp>
      <p:sp>
        <p:nvSpPr>
          <p:cNvPr id="19" name="Text 17"/>
          <p:cNvSpPr/>
          <p:nvPr/>
        </p:nvSpPr>
        <p:spPr>
          <a:xfrm>
            <a:off x="2788920" y="5742432"/>
            <a:ext cx="3657600"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ISO 9001, FSSAI, NABL</a:t>
            </a:r>
            <a:endParaRPr lang="en-US" sz="1250" dirty="0"/>
          </a:p>
        </p:txBody>
      </p:sp>
      <p:pic>
        <p:nvPicPr>
          <p:cNvPr id="20" name="Image 0" descr="/home/user/coco-palms/build/img/aerial2.jpg">    </p:cNvPr>
          <p:cNvPicPr>
            <a:picLocks noChangeAspect="1"/>
          </p:cNvPicPr>
          <p:nvPr/>
        </p:nvPicPr>
        <p:blipFill>
          <a:blip r:embed="rId1"/>
          <a:srcRect l="0" r="0" t="0" b="0"/>
          <a:stretch/>
        </p:blipFill>
        <p:spPr>
          <a:xfrm>
            <a:off x="6949440" y="1847088"/>
            <a:ext cx="4005072" cy="3035808"/>
          </a:xfrm>
          <a:prstGeom prst="rect">
            <a:avLst/>
          </a:prstGeom>
        </p:spPr>
      </p:pic>
      <p:sp>
        <p:nvSpPr>
          <p:cNvPr id="21" name="Text 18"/>
          <p:cNvSpPr/>
          <p:nvPr/>
        </p:nvSpPr>
        <p:spPr>
          <a:xfrm>
            <a:off x="6949440" y="4956048"/>
            <a:ext cx="4005072"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Drying halls from above - the plant's insulated chamber block</a:t>
            </a:r>
            <a:endParaRPr lang="en-US" sz="950" dirty="0"/>
          </a:p>
        </p:txBody>
      </p:sp>
      <p:sp>
        <p:nvSpPr>
          <p:cNvPr id="22" name="Shape 19"/>
          <p:cNvSpPr/>
          <p:nvPr/>
        </p:nvSpPr>
        <p:spPr>
          <a:xfrm>
            <a:off x="6949440" y="5303520"/>
            <a:ext cx="4005072" cy="768096"/>
          </a:xfrm>
          <a:prstGeom prst="roundRect">
            <a:avLst>
              <a:gd name="adj" fmla="val 7143"/>
            </a:avLst>
          </a:prstGeom>
          <a:solidFill>
            <a:srgbClr val="14532D"/>
          </a:solidFill>
          <a:ln w="12700">
            <a:solidFill>
              <a:srgbClr val="14532D"/>
            </a:solidFill>
            <a:prstDash val="solid"/>
          </a:ln>
        </p:spPr>
      </p:sp>
      <p:sp>
        <p:nvSpPr>
          <p:cNvPr id="23" name="Text 20"/>
          <p:cNvSpPr/>
          <p:nvPr/>
        </p:nvSpPr>
        <p:spPr>
          <a:xfrm>
            <a:off x="7178040" y="5303520"/>
            <a:ext cx="3639312" cy="768096"/>
          </a:xfrm>
          <a:prstGeom prst="rect">
            <a:avLst/>
          </a:prstGeom>
          <a:noFill/>
          <a:ln/>
        </p:spPr>
        <p:txBody>
          <a:bodyPr wrap="square" lIns="0" tIns="0" rIns="0" bIns="0" rtlCol="0" anchor="ctr"/>
          <a:lstStyle/>
          <a:p>
            <a:pPr indent="0" marL="0">
              <a:lnSpc>
                <a:spcPct val="114000"/>
              </a:lnSpc>
              <a:buNone/>
            </a:pPr>
            <a:r>
              <a:rPr lang="en-US" sz="1400" b="1" dirty="0">
                <a:solidFill>
                  <a:srgbClr val="FFFFFF"/>
                </a:solidFill>
                <a:latin typeface="Cambria" pitchFamily="34" charset="0"/>
                <a:ea typeface="Cambria" pitchFamily="34" charset="-122"/>
                <a:cs typeface="Cambria" pitchFamily="34" charset="-120"/>
              </a:rPr>
              <a:t>100,000 nuts per day</a:t>
            </a:r>
            <a:endParaRPr lang="en-US" sz="1400" dirty="0"/>
          </a:p>
          <a:p>
            <a:pPr indent="0" marL="0">
              <a:lnSpc>
                <a:spcPct val="114000"/>
              </a:lnSpc>
              <a:buNone/>
            </a:pPr>
            <a:r>
              <a:rPr lang="en-US" sz="1050" dirty="0">
                <a:solidFill>
                  <a:srgbClr val="E3C171"/>
                </a:solidFill>
                <a:latin typeface="Calibri" pitchFamily="34" charset="0"/>
                <a:ea typeface="Calibri" pitchFamily="34" charset="-122"/>
                <a:cs typeface="Calibri" pitchFamily="34" charset="-120"/>
              </a:rPr>
              <a:t>10 tonnes of material dried per 12-hour batch</a:t>
            </a:r>
            <a:endParaRPr lang="en-US" sz="1400" dirty="0"/>
          </a:p>
        </p:txBody>
      </p:sp>
      <p:sp>
        <p:nvSpPr>
          <p:cNvPr id="24"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5"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PRODUCT RANGE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What we supply</a:t>
            </a:r>
            <a:endParaRPr lang="en-US" sz="3400" dirty="0"/>
          </a:p>
        </p:txBody>
      </p:sp>
      <p:sp>
        <p:nvSpPr>
          <p:cNvPr id="5" name="Shape 3"/>
          <p:cNvSpPr/>
          <p:nvPr/>
        </p:nvSpPr>
        <p:spPr>
          <a:xfrm>
            <a:off x="640080" y="1810512"/>
            <a:ext cx="5263744" cy="3712464"/>
          </a:xfrm>
          <a:prstGeom prst="roundRect">
            <a:avLst>
              <a:gd name="adj" fmla="val 1478"/>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6" name="Image 0" descr="/home/user/coco-palms/build/img/bottle.jpg">    </p:cNvPr>
          <p:cNvPicPr>
            <a:picLocks noChangeAspect="1"/>
          </p:cNvPicPr>
          <p:nvPr/>
        </p:nvPicPr>
        <p:blipFill>
          <a:blip r:embed="rId1"/>
          <a:srcRect l="0" r="0" t="0" b="0"/>
          <a:stretch/>
        </p:blipFill>
        <p:spPr>
          <a:xfrm>
            <a:off x="640080" y="1810512"/>
            <a:ext cx="5263744" cy="1920240"/>
          </a:xfrm>
          <a:prstGeom prst="rect">
            <a:avLst/>
          </a:prstGeom>
        </p:spPr>
      </p:pic>
      <p:sp>
        <p:nvSpPr>
          <p:cNvPr id="7" name="Shape 4"/>
          <p:cNvSpPr/>
          <p:nvPr/>
        </p:nvSpPr>
        <p:spPr>
          <a:xfrm>
            <a:off x="914400" y="3877056"/>
            <a:ext cx="493776" cy="493776"/>
          </a:xfrm>
          <a:prstGeom prst="ellipse">
            <a:avLst/>
          </a:prstGeom>
          <a:solidFill>
            <a:srgbClr val="B8860F"/>
          </a:solidFill>
          <a:ln w="12700">
            <a:solidFill>
              <a:srgbClr val="B8860F"/>
            </a:solidFill>
            <a:prstDash val="solid"/>
          </a:ln>
        </p:spPr>
      </p:sp>
      <p:sp>
        <p:nvSpPr>
          <p:cNvPr id="8" name="Text 5"/>
          <p:cNvSpPr/>
          <p:nvPr/>
        </p:nvSpPr>
        <p:spPr>
          <a:xfrm>
            <a:off x="914400" y="3877056"/>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9" name="Text 6"/>
          <p:cNvSpPr/>
          <p:nvPr/>
        </p:nvSpPr>
        <p:spPr>
          <a:xfrm>
            <a:off x="1536192" y="3877056"/>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Coconut Oil, Edible Grade</a:t>
            </a:r>
            <a:endParaRPr lang="en-US" sz="1700" dirty="0"/>
          </a:p>
        </p:txBody>
      </p:sp>
      <p:sp>
        <p:nvSpPr>
          <p:cNvPr id="10" name="Text 7"/>
          <p:cNvSpPr/>
          <p:nvPr/>
        </p:nvSpPr>
        <p:spPr>
          <a:xfrm>
            <a:off x="914400" y="4553712"/>
            <a:ext cx="4715104" cy="9144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Expeller-pressed from infrared-dried kernel</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Sulfur-free - no chemical used at any stage</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FFA below 0.5% · moisture below 0.1%</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200 ml / 500 ml / 1 L PET · 5 L jerrycan</a:t>
            </a:r>
            <a:endParaRPr lang="en-US" sz="1150" dirty="0"/>
          </a:p>
        </p:txBody>
      </p:sp>
      <p:sp>
        <p:nvSpPr>
          <p:cNvPr id="11" name="Shape 8"/>
          <p:cNvSpPr/>
          <p:nvPr/>
        </p:nvSpPr>
        <p:spPr>
          <a:xfrm>
            <a:off x="6287872" y="1810512"/>
            <a:ext cx="5263744" cy="3712464"/>
          </a:xfrm>
          <a:prstGeom prst="roundRect">
            <a:avLst>
              <a:gd name="adj" fmla="val 1478"/>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12" name="Image 1" descr="/home/user/coco-palms/build/img/oil.jpg">    </p:cNvPr>
          <p:cNvPicPr>
            <a:picLocks noChangeAspect="1"/>
          </p:cNvPicPr>
          <p:nvPr/>
        </p:nvPicPr>
        <p:blipFill>
          <a:blip r:embed="rId2"/>
          <a:srcRect l="0" r="0" t="0" b="0"/>
          <a:stretch/>
        </p:blipFill>
        <p:spPr>
          <a:xfrm>
            <a:off x="6287872" y="1810512"/>
            <a:ext cx="5263744" cy="1920240"/>
          </a:xfrm>
          <a:prstGeom prst="rect">
            <a:avLst/>
          </a:prstGeom>
        </p:spPr>
      </p:pic>
      <p:sp>
        <p:nvSpPr>
          <p:cNvPr id="13" name="Shape 9"/>
          <p:cNvSpPr/>
          <p:nvPr/>
        </p:nvSpPr>
        <p:spPr>
          <a:xfrm>
            <a:off x="6562192" y="3877056"/>
            <a:ext cx="493776" cy="493776"/>
          </a:xfrm>
          <a:prstGeom prst="ellipse">
            <a:avLst/>
          </a:prstGeom>
          <a:solidFill>
            <a:srgbClr val="B8860F"/>
          </a:solidFill>
          <a:ln w="12700">
            <a:solidFill>
              <a:srgbClr val="B8860F"/>
            </a:solidFill>
            <a:prstDash val="solid"/>
          </a:ln>
        </p:spPr>
      </p:sp>
      <p:sp>
        <p:nvSpPr>
          <p:cNvPr id="14" name="Text 10"/>
          <p:cNvSpPr/>
          <p:nvPr/>
        </p:nvSpPr>
        <p:spPr>
          <a:xfrm>
            <a:off x="6562192" y="3877056"/>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5" name="Text 11"/>
          <p:cNvSpPr/>
          <p:nvPr/>
        </p:nvSpPr>
        <p:spPr>
          <a:xfrm>
            <a:off x="7183984" y="3877056"/>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Coconut Oil, Bulk</a:t>
            </a:r>
            <a:endParaRPr lang="en-US" sz="1700" dirty="0"/>
          </a:p>
        </p:txBody>
      </p:sp>
      <p:sp>
        <p:nvSpPr>
          <p:cNvPr id="16" name="Text 12"/>
          <p:cNvSpPr/>
          <p:nvPr/>
        </p:nvSpPr>
        <p:spPr>
          <a:xfrm>
            <a:off x="6562192" y="4553712"/>
            <a:ext cx="4715104" cy="9144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Same line and same specification, bulk packed</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Filtered grade; RBD available on request</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For industrial and repacking buyers</a:t>
            </a:r>
            <a:endParaRPr lang="en-US" sz="1150" dirty="0"/>
          </a:p>
          <a:p>
            <a:pPr marL="342900" indent="-342900">
              <a:lnSpc>
                <a:spcPct val="108000"/>
              </a:lnSpc>
              <a:spcAft>
                <a:spcPts val="500"/>
              </a:spcAft>
              <a:buSzPct val="100000"/>
              <a:buChar char="•"/>
            </a:pPr>
            <a:r>
              <a:rPr lang="en-US" sz="1150" dirty="0">
                <a:solidFill>
                  <a:srgbClr val="232C24"/>
                </a:solidFill>
                <a:latin typeface="Calibri" pitchFamily="34" charset="0"/>
                <a:ea typeface="Calibri" pitchFamily="34" charset="-122"/>
                <a:cs typeface="Calibri" pitchFamily="34" charset="-120"/>
              </a:rPr>
              <a:t>15 kg tin · 200 kg HDPE drum · flexitank</a:t>
            </a:r>
            <a:endParaRPr lang="en-US" sz="1150" dirty="0"/>
          </a:p>
        </p:txBody>
      </p:sp>
      <p:sp>
        <p:nvSpPr>
          <p:cNvPr id="17" name="Shape 13"/>
          <p:cNvSpPr/>
          <p:nvPr/>
        </p:nvSpPr>
        <p:spPr>
          <a:xfrm>
            <a:off x="640080" y="5687568"/>
            <a:ext cx="10911535" cy="566928"/>
          </a:xfrm>
          <a:prstGeom prst="roundRect">
            <a:avLst>
              <a:gd name="adj" fmla="val 9677"/>
            </a:avLst>
          </a:prstGeom>
          <a:solidFill>
            <a:srgbClr val="14532D"/>
          </a:solidFill>
          <a:ln w="12700">
            <a:solidFill>
              <a:srgbClr val="14532D"/>
            </a:solidFill>
            <a:prstDash val="solid"/>
          </a:ln>
        </p:spPr>
      </p:sp>
      <p:sp>
        <p:nvSpPr>
          <p:cNvPr id="18" name="Text 14"/>
          <p:cNvSpPr/>
          <p:nvPr/>
        </p:nvSpPr>
        <p:spPr>
          <a:xfrm>
            <a:off x="914400" y="5687568"/>
            <a:ext cx="10362895" cy="566928"/>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Allied products   </a:t>
            </a:r>
            <a:pPr indent="0" marL="0">
              <a:buNone/>
            </a:pPr>
            <a:r>
              <a:rPr lang="en-US" sz="1200" dirty="0">
                <a:solidFill>
                  <a:srgbClr val="A9BBAB"/>
                </a:solidFill>
                <a:latin typeface="Calibri" pitchFamily="34" charset="0"/>
                <a:ea typeface="Calibri" pitchFamily="34" charset="-122"/>
                <a:cs typeface="Calibri" pitchFamily="34" charset="-120"/>
              </a:rPr>
              <a:t>copra cake / de-oiled cake, a direct by-product of oil extraction.  Further lines:  </a:t>
            </a:r>
            <a:pPr indent="0" marL="0">
              <a:buNone/>
            </a:pPr>
            <a:r>
              <a:rPr lang="en-US" sz="1200" b="1" i="1" spc="120" kern="0" dirty="0">
                <a:solidFill>
                  <a:srgbClr val="E3C171"/>
                </a:solidFill>
                <a:latin typeface="Calibri" pitchFamily="34" charset="0"/>
                <a:ea typeface="Calibri" pitchFamily="34" charset="-122"/>
                <a:cs typeface="Calibri" pitchFamily="34" charset="-120"/>
              </a:rPr>
              <a:t>TO CONFIRM</a:t>
            </a:r>
            <a:endParaRPr lang="en-US" sz="1200" dirty="0"/>
          </a:p>
        </p:txBody>
      </p:sp>
      <p:sp>
        <p:nvSpPr>
          <p:cNvPr id="19" name="Text 15"/>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0" name="Text 16"/>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E3C171"/>
                </a:solidFill>
                <a:latin typeface="Calibri" pitchFamily="34" charset="0"/>
                <a:ea typeface="Calibri" pitchFamily="34" charset="-122"/>
                <a:cs typeface="Calibri" pitchFamily="34" charset="-120"/>
              </a:rPr>
              <a:t>HOW IT IS MADE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From whole nut to filtered oil</a:t>
            </a:r>
            <a:endParaRPr lang="en-US" sz="3400" dirty="0"/>
          </a:p>
        </p:txBody>
      </p:sp>
      <p:sp>
        <p:nvSpPr>
          <p:cNvPr id="5" name="Shape 3"/>
          <p:cNvSpPr/>
          <p:nvPr/>
        </p:nvSpPr>
        <p:spPr>
          <a:xfrm>
            <a:off x="640080" y="1883664"/>
            <a:ext cx="2522144" cy="1792224"/>
          </a:xfrm>
          <a:prstGeom prst="roundRect">
            <a:avLst>
              <a:gd name="adj" fmla="val 2551"/>
            </a:avLst>
          </a:prstGeom>
          <a:solidFill>
            <a:srgbClr val="1B6034"/>
          </a:solidFill>
          <a:ln w="12700">
            <a:solidFill>
              <a:srgbClr val="1B6034"/>
            </a:solidFill>
            <a:prstDash val="solid"/>
          </a:ln>
        </p:spPr>
      </p:sp>
      <p:sp>
        <p:nvSpPr>
          <p:cNvPr id="6" name="Shape 4"/>
          <p:cNvSpPr/>
          <p:nvPr/>
        </p:nvSpPr>
        <p:spPr>
          <a:xfrm>
            <a:off x="877824" y="2103120"/>
            <a:ext cx="457200" cy="457200"/>
          </a:xfrm>
          <a:prstGeom prst="ellipse">
            <a:avLst/>
          </a:prstGeom>
          <a:solidFill>
            <a:srgbClr val="B8860F"/>
          </a:solidFill>
          <a:ln w="12700">
            <a:solidFill>
              <a:srgbClr val="B8860F"/>
            </a:solidFill>
            <a:prstDash val="solid"/>
          </a:ln>
        </p:spPr>
      </p:sp>
      <p:sp>
        <p:nvSpPr>
          <p:cNvPr id="7" name="Text 5"/>
          <p:cNvSpPr/>
          <p:nvPr/>
        </p:nvSpPr>
        <p:spPr>
          <a:xfrm>
            <a:off x="877824"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877824"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Intake</a:t>
            </a:r>
            <a:endParaRPr lang="en-US" sz="1300" dirty="0"/>
          </a:p>
        </p:txBody>
      </p:sp>
      <p:sp>
        <p:nvSpPr>
          <p:cNvPr id="9" name="Text 7"/>
          <p:cNvSpPr/>
          <p:nvPr/>
        </p:nvSpPr>
        <p:spPr>
          <a:xfrm>
            <a:off x="877824"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Nuts received and unloaded in our raw material yard</a:t>
            </a:r>
            <a:endParaRPr lang="en-US" sz="1050" dirty="0"/>
          </a:p>
        </p:txBody>
      </p:sp>
      <p:sp>
        <p:nvSpPr>
          <p:cNvPr id="10" name="Shape 8"/>
          <p:cNvSpPr/>
          <p:nvPr/>
        </p:nvSpPr>
        <p:spPr>
          <a:xfrm>
            <a:off x="3436544" y="1883664"/>
            <a:ext cx="2522144" cy="1792224"/>
          </a:xfrm>
          <a:prstGeom prst="roundRect">
            <a:avLst>
              <a:gd name="adj" fmla="val 2551"/>
            </a:avLst>
          </a:prstGeom>
          <a:solidFill>
            <a:srgbClr val="1B6034"/>
          </a:solidFill>
          <a:ln w="12700">
            <a:solidFill>
              <a:srgbClr val="1B6034"/>
            </a:solidFill>
            <a:prstDash val="solid"/>
          </a:ln>
        </p:spPr>
      </p:sp>
      <p:sp>
        <p:nvSpPr>
          <p:cNvPr id="11" name="Shape 9"/>
          <p:cNvSpPr/>
          <p:nvPr/>
        </p:nvSpPr>
        <p:spPr>
          <a:xfrm>
            <a:off x="3674288" y="2103120"/>
            <a:ext cx="457200" cy="457200"/>
          </a:xfrm>
          <a:prstGeom prst="ellipse">
            <a:avLst/>
          </a:prstGeom>
          <a:solidFill>
            <a:srgbClr val="B8860F"/>
          </a:solidFill>
          <a:ln w="12700">
            <a:solidFill>
              <a:srgbClr val="B8860F"/>
            </a:solidFill>
            <a:prstDash val="solid"/>
          </a:ln>
        </p:spPr>
      </p:sp>
      <p:sp>
        <p:nvSpPr>
          <p:cNvPr id="12" name="Text 10"/>
          <p:cNvSpPr/>
          <p:nvPr/>
        </p:nvSpPr>
        <p:spPr>
          <a:xfrm>
            <a:off x="3674288"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3674288"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Automated cutting</a:t>
            </a:r>
            <a:endParaRPr lang="en-US" sz="1300" dirty="0"/>
          </a:p>
        </p:txBody>
      </p:sp>
      <p:sp>
        <p:nvSpPr>
          <p:cNvPr id="14" name="Text 12"/>
          <p:cNvSpPr/>
          <p:nvPr/>
        </p:nvSpPr>
        <p:spPr>
          <a:xfrm>
            <a:off x="3674288"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Conveyor cutting system halves every nut evenly</a:t>
            </a:r>
            <a:endParaRPr lang="en-US" sz="1050" dirty="0"/>
          </a:p>
        </p:txBody>
      </p:sp>
      <p:sp>
        <p:nvSpPr>
          <p:cNvPr id="15" name="Shape 13"/>
          <p:cNvSpPr/>
          <p:nvPr/>
        </p:nvSpPr>
        <p:spPr>
          <a:xfrm>
            <a:off x="6233008" y="1883664"/>
            <a:ext cx="2522144" cy="1792224"/>
          </a:xfrm>
          <a:prstGeom prst="roundRect">
            <a:avLst>
              <a:gd name="adj" fmla="val 2551"/>
            </a:avLst>
          </a:prstGeom>
          <a:solidFill>
            <a:srgbClr val="1B6034"/>
          </a:solidFill>
          <a:ln w="12700">
            <a:solidFill>
              <a:srgbClr val="1B6034"/>
            </a:solidFill>
            <a:prstDash val="solid"/>
          </a:ln>
        </p:spPr>
      </p:sp>
      <p:sp>
        <p:nvSpPr>
          <p:cNvPr id="16" name="Shape 14"/>
          <p:cNvSpPr/>
          <p:nvPr/>
        </p:nvSpPr>
        <p:spPr>
          <a:xfrm>
            <a:off x="6470752" y="2103120"/>
            <a:ext cx="457200" cy="457200"/>
          </a:xfrm>
          <a:prstGeom prst="ellipse">
            <a:avLst/>
          </a:prstGeom>
          <a:solidFill>
            <a:srgbClr val="B8860F"/>
          </a:solidFill>
          <a:ln w="12700">
            <a:solidFill>
              <a:srgbClr val="B8860F"/>
            </a:solidFill>
            <a:prstDash val="solid"/>
          </a:ln>
        </p:spPr>
      </p:sp>
      <p:sp>
        <p:nvSpPr>
          <p:cNvPr id="17" name="Text 15"/>
          <p:cNvSpPr/>
          <p:nvPr/>
        </p:nvSpPr>
        <p:spPr>
          <a:xfrm>
            <a:off x="6470752"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6470752"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Trays and trolleys</a:t>
            </a:r>
            <a:endParaRPr lang="en-US" sz="1300" dirty="0"/>
          </a:p>
        </p:txBody>
      </p:sp>
      <p:sp>
        <p:nvSpPr>
          <p:cNvPr id="19" name="Text 17"/>
          <p:cNvSpPr/>
          <p:nvPr/>
        </p:nvSpPr>
        <p:spPr>
          <a:xfrm>
            <a:off x="6470752"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Halves arranged on drying trays and loaded</a:t>
            </a:r>
            <a:endParaRPr lang="en-US" sz="1050" dirty="0"/>
          </a:p>
        </p:txBody>
      </p:sp>
      <p:sp>
        <p:nvSpPr>
          <p:cNvPr id="20" name="Shape 18"/>
          <p:cNvSpPr/>
          <p:nvPr/>
        </p:nvSpPr>
        <p:spPr>
          <a:xfrm>
            <a:off x="9029471" y="1883664"/>
            <a:ext cx="2522144" cy="1792224"/>
          </a:xfrm>
          <a:prstGeom prst="roundRect">
            <a:avLst>
              <a:gd name="adj" fmla="val 2551"/>
            </a:avLst>
          </a:prstGeom>
          <a:solidFill>
            <a:srgbClr val="1B6034"/>
          </a:solidFill>
          <a:ln w="12700">
            <a:solidFill>
              <a:srgbClr val="1B6034"/>
            </a:solidFill>
            <a:prstDash val="solid"/>
          </a:ln>
        </p:spPr>
      </p:sp>
      <p:sp>
        <p:nvSpPr>
          <p:cNvPr id="21" name="Shape 19"/>
          <p:cNvSpPr/>
          <p:nvPr/>
        </p:nvSpPr>
        <p:spPr>
          <a:xfrm>
            <a:off x="9267215" y="2103120"/>
            <a:ext cx="457200" cy="457200"/>
          </a:xfrm>
          <a:prstGeom prst="ellipse">
            <a:avLst/>
          </a:prstGeom>
          <a:solidFill>
            <a:srgbClr val="B8860F"/>
          </a:solidFill>
          <a:ln w="12700">
            <a:solidFill>
              <a:srgbClr val="B8860F"/>
            </a:solidFill>
            <a:prstDash val="solid"/>
          </a:ln>
        </p:spPr>
      </p:sp>
      <p:sp>
        <p:nvSpPr>
          <p:cNvPr id="22" name="Text 20"/>
          <p:cNvSpPr/>
          <p:nvPr/>
        </p:nvSpPr>
        <p:spPr>
          <a:xfrm>
            <a:off x="9267215" y="21031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9267215" y="2670048"/>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High-pressure wash</a:t>
            </a:r>
            <a:endParaRPr lang="en-US" sz="1300" dirty="0"/>
          </a:p>
        </p:txBody>
      </p:sp>
      <p:sp>
        <p:nvSpPr>
          <p:cNvPr id="24" name="Text 22"/>
          <p:cNvSpPr/>
          <p:nvPr/>
        </p:nvSpPr>
        <p:spPr>
          <a:xfrm>
            <a:off x="9267215" y="3182112"/>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Water spray removes dust and impurities</a:t>
            </a:r>
            <a:endParaRPr lang="en-US" sz="1050" dirty="0"/>
          </a:p>
        </p:txBody>
      </p:sp>
      <p:sp>
        <p:nvSpPr>
          <p:cNvPr id="25" name="Shape 23"/>
          <p:cNvSpPr/>
          <p:nvPr/>
        </p:nvSpPr>
        <p:spPr>
          <a:xfrm>
            <a:off x="640080" y="3968496"/>
            <a:ext cx="2522144" cy="1792224"/>
          </a:xfrm>
          <a:prstGeom prst="roundRect">
            <a:avLst>
              <a:gd name="adj" fmla="val 2551"/>
            </a:avLst>
          </a:prstGeom>
          <a:solidFill>
            <a:srgbClr val="1B6034"/>
          </a:solidFill>
          <a:ln w="12700">
            <a:solidFill>
              <a:srgbClr val="1B6034"/>
            </a:solidFill>
            <a:prstDash val="solid"/>
          </a:ln>
        </p:spPr>
      </p:sp>
      <p:sp>
        <p:nvSpPr>
          <p:cNvPr id="26" name="Shape 24"/>
          <p:cNvSpPr/>
          <p:nvPr/>
        </p:nvSpPr>
        <p:spPr>
          <a:xfrm>
            <a:off x="877824" y="4187952"/>
            <a:ext cx="457200" cy="457200"/>
          </a:xfrm>
          <a:prstGeom prst="ellipse">
            <a:avLst/>
          </a:prstGeom>
          <a:solidFill>
            <a:srgbClr val="B8860F"/>
          </a:solidFill>
          <a:ln w="12700">
            <a:solidFill>
              <a:srgbClr val="B8860F"/>
            </a:solidFill>
            <a:prstDash val="solid"/>
          </a:ln>
        </p:spPr>
      </p:sp>
      <p:sp>
        <p:nvSpPr>
          <p:cNvPr id="27" name="Text 25"/>
          <p:cNvSpPr/>
          <p:nvPr/>
        </p:nvSpPr>
        <p:spPr>
          <a:xfrm>
            <a:off x="877824"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877824"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Infrared dehydration</a:t>
            </a:r>
            <a:endParaRPr lang="en-US" sz="1300" dirty="0"/>
          </a:p>
        </p:txBody>
      </p:sp>
      <p:sp>
        <p:nvSpPr>
          <p:cNvPr id="29" name="Text 27"/>
          <p:cNvSpPr/>
          <p:nvPr/>
        </p:nvSpPr>
        <p:spPr>
          <a:xfrm>
            <a:off x="877824"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10 tonnes per 12 hours, moisture below 10%</a:t>
            </a:r>
            <a:endParaRPr lang="en-US" sz="1050" dirty="0"/>
          </a:p>
        </p:txBody>
      </p:sp>
      <p:sp>
        <p:nvSpPr>
          <p:cNvPr id="30" name="Shape 28"/>
          <p:cNvSpPr/>
          <p:nvPr/>
        </p:nvSpPr>
        <p:spPr>
          <a:xfrm>
            <a:off x="3436544" y="3968496"/>
            <a:ext cx="2522144" cy="1792224"/>
          </a:xfrm>
          <a:prstGeom prst="roundRect">
            <a:avLst>
              <a:gd name="adj" fmla="val 2551"/>
            </a:avLst>
          </a:prstGeom>
          <a:solidFill>
            <a:srgbClr val="1B6034"/>
          </a:solidFill>
          <a:ln w="12700">
            <a:solidFill>
              <a:srgbClr val="1B6034"/>
            </a:solidFill>
            <a:prstDash val="solid"/>
          </a:ln>
        </p:spPr>
      </p:sp>
      <p:sp>
        <p:nvSpPr>
          <p:cNvPr id="31" name="Shape 29"/>
          <p:cNvSpPr/>
          <p:nvPr/>
        </p:nvSpPr>
        <p:spPr>
          <a:xfrm>
            <a:off x="3674288" y="4187952"/>
            <a:ext cx="457200" cy="457200"/>
          </a:xfrm>
          <a:prstGeom prst="ellipse">
            <a:avLst/>
          </a:prstGeom>
          <a:solidFill>
            <a:srgbClr val="B8860F"/>
          </a:solidFill>
          <a:ln w="12700">
            <a:solidFill>
              <a:srgbClr val="B8860F"/>
            </a:solidFill>
            <a:prstDash val="solid"/>
          </a:ln>
        </p:spPr>
      </p:sp>
      <p:sp>
        <p:nvSpPr>
          <p:cNvPr id="32" name="Text 30"/>
          <p:cNvSpPr/>
          <p:nvPr/>
        </p:nvSpPr>
        <p:spPr>
          <a:xfrm>
            <a:off x="3674288"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p:nvPr/>
        </p:nvSpPr>
        <p:spPr>
          <a:xfrm>
            <a:off x="3674288"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Tray inspection</a:t>
            </a:r>
            <a:endParaRPr lang="en-US" sz="1300" dirty="0"/>
          </a:p>
        </p:txBody>
      </p:sp>
      <p:sp>
        <p:nvSpPr>
          <p:cNvPr id="34" name="Text 32"/>
          <p:cNvSpPr/>
          <p:nvPr/>
        </p:nvSpPr>
        <p:spPr>
          <a:xfrm>
            <a:off x="3674288"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Every tray checked by trained staff and supervisors</a:t>
            </a:r>
            <a:endParaRPr lang="en-US" sz="1050" dirty="0"/>
          </a:p>
        </p:txBody>
      </p:sp>
      <p:sp>
        <p:nvSpPr>
          <p:cNvPr id="35" name="Shape 33"/>
          <p:cNvSpPr/>
          <p:nvPr/>
        </p:nvSpPr>
        <p:spPr>
          <a:xfrm>
            <a:off x="6233008" y="3968496"/>
            <a:ext cx="2522144" cy="1792224"/>
          </a:xfrm>
          <a:prstGeom prst="roundRect">
            <a:avLst>
              <a:gd name="adj" fmla="val 2551"/>
            </a:avLst>
          </a:prstGeom>
          <a:solidFill>
            <a:srgbClr val="1B6034"/>
          </a:solidFill>
          <a:ln w="12700">
            <a:solidFill>
              <a:srgbClr val="1B6034"/>
            </a:solidFill>
            <a:prstDash val="solid"/>
          </a:ln>
        </p:spPr>
      </p:sp>
      <p:sp>
        <p:nvSpPr>
          <p:cNvPr id="36" name="Shape 34"/>
          <p:cNvSpPr/>
          <p:nvPr/>
        </p:nvSpPr>
        <p:spPr>
          <a:xfrm>
            <a:off x="6470752" y="4187952"/>
            <a:ext cx="457200" cy="457200"/>
          </a:xfrm>
          <a:prstGeom prst="ellipse">
            <a:avLst/>
          </a:prstGeom>
          <a:solidFill>
            <a:srgbClr val="B8860F"/>
          </a:solidFill>
          <a:ln w="12700">
            <a:solidFill>
              <a:srgbClr val="B8860F"/>
            </a:solidFill>
            <a:prstDash val="solid"/>
          </a:ln>
        </p:spPr>
      </p:sp>
      <p:sp>
        <p:nvSpPr>
          <p:cNvPr id="37" name="Text 35"/>
          <p:cNvSpPr/>
          <p:nvPr/>
        </p:nvSpPr>
        <p:spPr>
          <a:xfrm>
            <a:off x="6470752"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8" name="Text 36"/>
          <p:cNvSpPr/>
          <p:nvPr/>
        </p:nvSpPr>
        <p:spPr>
          <a:xfrm>
            <a:off x="6470752"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Scooping and pulverising</a:t>
            </a:r>
            <a:endParaRPr lang="en-US" sz="1300" dirty="0"/>
          </a:p>
        </p:txBody>
      </p:sp>
      <p:sp>
        <p:nvSpPr>
          <p:cNvPr id="39" name="Text 37"/>
          <p:cNvSpPr/>
          <p:nvPr/>
        </p:nvSpPr>
        <p:spPr>
          <a:xfrm>
            <a:off x="6470752"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Kernel lifted from shell, then reduced for pressing</a:t>
            </a:r>
            <a:endParaRPr lang="en-US" sz="1050" dirty="0"/>
          </a:p>
        </p:txBody>
      </p:sp>
      <p:sp>
        <p:nvSpPr>
          <p:cNvPr id="40" name="Shape 38"/>
          <p:cNvSpPr/>
          <p:nvPr/>
        </p:nvSpPr>
        <p:spPr>
          <a:xfrm>
            <a:off x="9029471" y="3968496"/>
            <a:ext cx="2522144" cy="1792224"/>
          </a:xfrm>
          <a:prstGeom prst="roundRect">
            <a:avLst>
              <a:gd name="adj" fmla="val 2551"/>
            </a:avLst>
          </a:prstGeom>
          <a:solidFill>
            <a:srgbClr val="1B6034"/>
          </a:solidFill>
          <a:ln w="12700">
            <a:solidFill>
              <a:srgbClr val="1B6034"/>
            </a:solidFill>
            <a:prstDash val="solid"/>
          </a:ln>
        </p:spPr>
      </p:sp>
      <p:sp>
        <p:nvSpPr>
          <p:cNvPr id="41" name="Shape 39"/>
          <p:cNvSpPr/>
          <p:nvPr/>
        </p:nvSpPr>
        <p:spPr>
          <a:xfrm>
            <a:off x="9267215" y="4187952"/>
            <a:ext cx="457200" cy="457200"/>
          </a:xfrm>
          <a:prstGeom prst="ellipse">
            <a:avLst/>
          </a:prstGeom>
          <a:solidFill>
            <a:srgbClr val="B8860F"/>
          </a:solidFill>
          <a:ln w="12700">
            <a:solidFill>
              <a:srgbClr val="B8860F"/>
            </a:solidFill>
            <a:prstDash val="solid"/>
          </a:ln>
        </p:spPr>
      </p:sp>
      <p:sp>
        <p:nvSpPr>
          <p:cNvPr id="42" name="Text 40"/>
          <p:cNvSpPr/>
          <p:nvPr/>
        </p:nvSpPr>
        <p:spPr>
          <a:xfrm>
            <a:off x="9267215" y="4187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3" name="Text 41"/>
          <p:cNvSpPr/>
          <p:nvPr/>
        </p:nvSpPr>
        <p:spPr>
          <a:xfrm>
            <a:off x="9267215" y="4754880"/>
            <a:ext cx="2046656" cy="512064"/>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Expelling and filtration</a:t>
            </a:r>
            <a:endParaRPr lang="en-US" sz="1300" dirty="0"/>
          </a:p>
        </p:txBody>
      </p:sp>
      <p:sp>
        <p:nvSpPr>
          <p:cNvPr id="44" name="Text 42"/>
          <p:cNvSpPr/>
          <p:nvPr/>
        </p:nvSpPr>
        <p:spPr>
          <a:xfrm>
            <a:off x="9267215" y="5266944"/>
            <a:ext cx="2046656" cy="512064"/>
          </a:xfrm>
          <a:prstGeom prst="rect">
            <a:avLst/>
          </a:prstGeom>
          <a:noFill/>
          <a:ln/>
        </p:spPr>
        <p:txBody>
          <a:bodyPr wrap="square" lIns="0" tIns="0" rIns="0" bIns="0" rtlCol="0" anchor="t"/>
          <a:lstStyle/>
          <a:p>
            <a:pPr indent="0" marL="0">
              <a:lnSpc>
                <a:spcPct val="114000"/>
              </a:lnSpc>
              <a:buNone/>
            </a:pPr>
            <a:r>
              <a:rPr lang="en-US" sz="1050" dirty="0">
                <a:solidFill>
                  <a:srgbClr val="A9BBAB"/>
                </a:solidFill>
                <a:latin typeface="Calibri" pitchFamily="34" charset="0"/>
                <a:ea typeface="Calibri" pitchFamily="34" charset="-122"/>
                <a:cs typeface="Calibri" pitchFamily="34" charset="-120"/>
              </a:rPr>
              <a:t>Mechanical press, then advanced filtration</a:t>
            </a:r>
            <a:endParaRPr lang="en-US" sz="1050" dirty="0"/>
          </a:p>
        </p:txBody>
      </p:sp>
      <p:sp>
        <p:nvSpPr>
          <p:cNvPr id="45" name="Text 43"/>
          <p:cNvSpPr/>
          <p:nvPr/>
        </p:nvSpPr>
        <p:spPr>
          <a:xfrm>
            <a:off x="640080" y="5888736"/>
            <a:ext cx="10911535" cy="310896"/>
          </a:xfrm>
          <a:prstGeom prst="rect">
            <a:avLst/>
          </a:prstGeom>
          <a:noFill/>
          <a:ln/>
        </p:spPr>
        <p:txBody>
          <a:bodyPr wrap="square" lIns="0" tIns="0" rIns="0" bIns="0" rtlCol="0" anchor="ctr"/>
          <a:lstStyle/>
          <a:p>
            <a:pPr indent="0" marL="0">
              <a:buNone/>
            </a:pPr>
            <a:r>
              <a:rPr lang="en-US" sz="1100" i="1" dirty="0">
                <a:solidFill>
                  <a:srgbClr val="E3C171"/>
                </a:solidFill>
                <a:latin typeface="Calibri" pitchFamily="34" charset="0"/>
                <a:ea typeface="Calibri" pitchFamily="34" charset="-122"/>
                <a:cs typeface="Calibri" pitchFamily="34" charset="-120"/>
              </a:rPr>
              <a:t>No sulfur or any other chemical is used at any stage. The dehydration method itself is what makes chemical-free processing possible.</a:t>
            </a:r>
            <a:endParaRPr lang="en-US" sz="1100" dirty="0"/>
          </a:p>
        </p:txBody>
      </p:sp>
      <p:sp>
        <p:nvSpPr>
          <p:cNvPr id="46" name="Text 44"/>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A9BBAB"/>
                </a:solidFill>
                <a:latin typeface="Calibri" pitchFamily="34" charset="0"/>
                <a:ea typeface="Calibri" pitchFamily="34" charset="-122"/>
                <a:cs typeface="Calibri" pitchFamily="34" charset="-120"/>
              </a:rPr>
              <a:t>Coco Palms Skylanes and Allied Products</a:t>
            </a:r>
            <a:endParaRPr lang="en-US" sz="900" dirty="0"/>
          </a:p>
        </p:txBody>
      </p:sp>
      <p:sp>
        <p:nvSpPr>
          <p:cNvPr id="47" name="Text 45"/>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A9BBA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pic>
        <p:nvPicPr>
          <p:cNvPr id="3" name="Image 0" descr="/home/user/coco-palms/build/img/intake.jpg">    </p:cNvPr>
          <p:cNvPicPr>
            <a:picLocks noChangeAspect="1"/>
          </p:cNvPicPr>
          <p:nvPr/>
        </p:nvPicPr>
        <p:blipFill>
          <a:blip r:embed="rId1"/>
          <a:srcRect l="0" r="0" t="0" b="0"/>
          <a:stretch/>
        </p:blipFill>
        <p:spPr>
          <a:xfrm>
            <a:off x="0" y="0"/>
            <a:ext cx="5541264" cy="6858000"/>
          </a:xfrm>
          <a:prstGeom prst="rect">
            <a:avLst/>
          </a:prstGeom>
        </p:spPr>
      </p:pic>
      <p:sp>
        <p:nvSpPr>
          <p:cNvPr id="4" name="Text 1"/>
          <p:cNvSpPr/>
          <p:nvPr/>
        </p:nvSpPr>
        <p:spPr>
          <a:xfrm>
            <a:off x="6108192" y="1024128"/>
            <a:ext cx="5443423"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 01</a:t>
            </a:r>
            <a:endParaRPr lang="en-US" sz="1150" dirty="0"/>
          </a:p>
        </p:txBody>
      </p:sp>
      <p:sp>
        <p:nvSpPr>
          <p:cNvPr id="5" name="Text 2"/>
          <p:cNvSpPr/>
          <p:nvPr/>
        </p:nvSpPr>
        <p:spPr>
          <a:xfrm>
            <a:off x="6108192" y="1335024"/>
            <a:ext cx="5443423" cy="749808"/>
          </a:xfrm>
          <a:prstGeom prst="rect">
            <a:avLst/>
          </a:prstGeom>
          <a:noFill/>
          <a:ln/>
        </p:spPr>
        <p:txBody>
          <a:bodyPr wrap="square" lIns="0" tIns="0" rIns="0" bIns="0" rtlCol="0" anchor="t"/>
          <a:lstStyle/>
          <a:p>
            <a:pPr indent="0" marL="0">
              <a:buNone/>
            </a:pPr>
            <a:r>
              <a:rPr lang="en-US" sz="3000" b="1" dirty="0">
                <a:solidFill>
                  <a:srgbClr val="14532D"/>
                </a:solidFill>
                <a:latin typeface="Cambria" pitchFamily="34" charset="0"/>
                <a:ea typeface="Cambria" pitchFamily="34" charset="-122"/>
                <a:cs typeface="Cambria" pitchFamily="34" charset="-120"/>
              </a:rPr>
              <a:t>Sourcing and intake</a:t>
            </a:r>
            <a:endParaRPr lang="en-US" sz="3000" dirty="0"/>
          </a:p>
        </p:txBody>
      </p:sp>
      <p:sp>
        <p:nvSpPr>
          <p:cNvPr id="6" name="Text 3"/>
          <p:cNvSpPr/>
          <p:nvPr/>
        </p:nvSpPr>
        <p:spPr>
          <a:xfrm>
            <a:off x="6108192" y="2231136"/>
            <a:ext cx="5443423" cy="1371600"/>
          </a:xfrm>
          <a:prstGeom prst="rect">
            <a:avLst/>
          </a:prstGeom>
          <a:noFill/>
          <a:ln/>
        </p:spPr>
        <p:txBody>
          <a:bodyPr wrap="square" lIns="0" tIns="0" rIns="0" bIns="0" rtlCol="0" anchor="t"/>
          <a:lstStyle/>
          <a:p>
            <a:pPr indent="0" marL="0">
              <a:lnSpc>
                <a:spcPct val="128000"/>
              </a:lnSpc>
              <a:buNone/>
            </a:pPr>
            <a:r>
              <a:rPr lang="en-US" sz="1300" dirty="0">
                <a:solidFill>
                  <a:srgbClr val="232C24"/>
                </a:solidFill>
                <a:latin typeface="Calibri" pitchFamily="34" charset="0"/>
                <a:ea typeface="Calibri" pitchFamily="34" charset="-122"/>
                <a:cs typeface="Calibri" pitchFamily="34" charset="-120"/>
              </a:rPr>
              <a:t>Nuts arrive at the plant by tipper and are offloaded directly onto our spacious raw material yard by our own uniformed crew. From there they are fed into an automated conveyor cutting system that halves every nut evenly, so the nut is opened within the same site it was received on.</a:t>
            </a:r>
            <a:endParaRPr lang="en-US" sz="1300" dirty="0"/>
          </a:p>
        </p:txBody>
      </p:sp>
      <p:sp>
        <p:nvSpPr>
          <p:cNvPr id="7" name="Text 4"/>
          <p:cNvSpPr/>
          <p:nvPr/>
        </p:nvSpPr>
        <p:spPr>
          <a:xfrm>
            <a:off x="6108192" y="3767328"/>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Sourcing region</a:t>
            </a:r>
            <a:endParaRPr lang="en-US" sz="1150" dirty="0"/>
          </a:p>
        </p:txBody>
      </p:sp>
      <p:sp>
        <p:nvSpPr>
          <p:cNvPr id="8" name="Text 5"/>
          <p:cNvSpPr/>
          <p:nvPr/>
        </p:nvSpPr>
        <p:spPr>
          <a:xfrm>
            <a:off x="8119872" y="3767328"/>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Delta region, Tamil Nadu</a:t>
            </a:r>
            <a:endParaRPr lang="en-US" sz="1250" dirty="0"/>
          </a:p>
        </p:txBody>
      </p:sp>
      <p:sp>
        <p:nvSpPr>
          <p:cNvPr id="9" name="Text 6"/>
          <p:cNvSpPr/>
          <p:nvPr/>
        </p:nvSpPr>
        <p:spPr>
          <a:xfrm>
            <a:off x="6108192" y="4187952"/>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Procurement</a:t>
            </a:r>
            <a:endParaRPr lang="en-US" sz="1150" dirty="0"/>
          </a:p>
        </p:txBody>
      </p:sp>
      <p:sp>
        <p:nvSpPr>
          <p:cNvPr id="10" name="Text 7"/>
          <p:cNvSpPr/>
          <p:nvPr/>
        </p:nvSpPr>
        <p:spPr>
          <a:xfrm>
            <a:off x="8119872" y="4187952"/>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Direct from growers and regional mandis</a:t>
            </a:r>
            <a:endParaRPr lang="en-US" sz="1250" dirty="0"/>
          </a:p>
        </p:txBody>
      </p:sp>
      <p:sp>
        <p:nvSpPr>
          <p:cNvPr id="11" name="Text 8"/>
          <p:cNvSpPr/>
          <p:nvPr/>
        </p:nvSpPr>
        <p:spPr>
          <a:xfrm>
            <a:off x="6108192" y="4608576"/>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Intake per day</a:t>
            </a:r>
            <a:endParaRPr lang="en-US" sz="1150" dirty="0"/>
          </a:p>
        </p:txBody>
      </p:sp>
      <p:sp>
        <p:nvSpPr>
          <p:cNvPr id="12" name="Text 9"/>
          <p:cNvSpPr/>
          <p:nvPr/>
        </p:nvSpPr>
        <p:spPr>
          <a:xfrm>
            <a:off x="8119872" y="4608576"/>
            <a:ext cx="3431743"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100,000 nuts</a:t>
            </a:r>
            <a:endParaRPr lang="en-US" sz="1250" dirty="0"/>
          </a:p>
        </p:txBody>
      </p:sp>
      <p:sp>
        <p:nvSpPr>
          <p:cNvPr id="13" name="Text 10"/>
          <p:cNvSpPr/>
          <p:nvPr/>
        </p:nvSpPr>
        <p:spPr>
          <a:xfrm>
            <a:off x="6108192" y="5029200"/>
            <a:ext cx="201168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Nut variety</a:t>
            </a:r>
            <a:endParaRPr lang="en-US" sz="1150" dirty="0"/>
          </a:p>
        </p:txBody>
      </p:sp>
      <p:sp>
        <p:nvSpPr>
          <p:cNvPr id="14" name="Text 11"/>
          <p:cNvSpPr/>
          <p:nvPr/>
        </p:nvSpPr>
        <p:spPr>
          <a:xfrm>
            <a:off x="8119872" y="5029200"/>
            <a:ext cx="3431743"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5" name="Text 12"/>
          <p:cNvSpPr/>
          <p:nvPr/>
        </p:nvSpPr>
        <p:spPr>
          <a:xfrm>
            <a:off x="6108192"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3"/>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 05  ·  OUR TECHNICAL DIFFERENTIATOR</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Catalytic infrared dehydration</a:t>
            </a:r>
            <a:endParaRPr lang="en-US" sz="3400" dirty="0"/>
          </a:p>
        </p:txBody>
      </p:sp>
      <p:pic>
        <p:nvPicPr>
          <p:cNvPr id="5" name="Image 0" descr="/home/user/coco-palms/build/img/hall.jpg">    </p:cNvPr>
          <p:cNvPicPr>
            <a:picLocks noChangeAspect="1"/>
          </p:cNvPicPr>
          <p:nvPr/>
        </p:nvPicPr>
        <p:blipFill>
          <a:blip r:embed="rId1"/>
          <a:srcRect l="0" r="0" t="0" b="0"/>
          <a:stretch/>
        </p:blipFill>
        <p:spPr>
          <a:xfrm>
            <a:off x="640080" y="1810512"/>
            <a:ext cx="5230368" cy="2176272"/>
          </a:xfrm>
          <a:prstGeom prst="rect">
            <a:avLst/>
          </a:prstGeom>
        </p:spPr>
      </p:pic>
      <p:sp>
        <p:nvSpPr>
          <p:cNvPr id="6" name="Text 3"/>
          <p:cNvSpPr/>
          <p:nvPr/>
        </p:nvSpPr>
        <p:spPr>
          <a:xfrm>
            <a:off x="640080" y="4041648"/>
            <a:ext cx="5230368"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The dehydration chamber block inside the main hall</a:t>
            </a:r>
            <a:endParaRPr lang="en-US" sz="950" dirty="0"/>
          </a:p>
        </p:txBody>
      </p:sp>
      <p:pic>
        <p:nvPicPr>
          <p:cNvPr id="7" name="Image 1" descr="/home/user/coco-palms/build/img/hmi.jpg">    </p:cNvPr>
          <p:cNvPicPr>
            <a:picLocks noChangeAspect="1"/>
          </p:cNvPicPr>
          <p:nvPr/>
        </p:nvPicPr>
        <p:blipFill>
          <a:blip r:embed="rId2"/>
          <a:srcRect l="0" r="0" t="0" b="0"/>
          <a:stretch/>
        </p:blipFill>
        <p:spPr>
          <a:xfrm>
            <a:off x="640080" y="4443984"/>
            <a:ext cx="5230368" cy="1371600"/>
          </a:xfrm>
          <a:prstGeom prst="rect">
            <a:avLst/>
          </a:prstGeom>
        </p:spPr>
      </p:pic>
      <p:sp>
        <p:nvSpPr>
          <p:cNvPr id="8" name="Text 4"/>
          <p:cNvSpPr/>
          <p:nvPr/>
        </p:nvSpPr>
        <p:spPr>
          <a:xfrm>
            <a:off x="640080" y="5870448"/>
            <a:ext cx="5230368"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PLC touchscreen holding chamber temperature in any climate</a:t>
            </a:r>
            <a:endParaRPr lang="en-US" sz="950" dirty="0"/>
          </a:p>
        </p:txBody>
      </p:sp>
      <p:sp>
        <p:nvSpPr>
          <p:cNvPr id="9" name="Text 5"/>
          <p:cNvSpPr/>
          <p:nvPr/>
        </p:nvSpPr>
        <p:spPr>
          <a:xfrm>
            <a:off x="6419088" y="1828800"/>
            <a:ext cx="5132527" cy="1243584"/>
          </a:xfrm>
          <a:prstGeom prst="rect">
            <a:avLst/>
          </a:prstGeom>
          <a:noFill/>
          <a:ln/>
        </p:spPr>
        <p:txBody>
          <a:bodyPr wrap="square" lIns="0" tIns="0" rIns="0" bIns="0" rtlCol="0" anchor="t"/>
          <a:lstStyle/>
          <a:p>
            <a:pPr indent="0" marL="0">
              <a:lnSpc>
                <a:spcPct val="126000"/>
              </a:lnSpc>
              <a:buNone/>
            </a:pPr>
            <a:r>
              <a:rPr lang="en-US" sz="1250" dirty="0">
                <a:solidFill>
                  <a:srgbClr val="232C24"/>
                </a:solidFill>
                <a:latin typeface="Calibri" pitchFamily="34" charset="0"/>
                <a:ea typeface="Calibri" pitchFamily="34" charset="-122"/>
                <a:cs typeface="Calibri" pitchFamily="34" charset="-120"/>
              </a:rPr>
              <a:t>Drying decides the quality of the finished oil, so it is the step we have engineered hardest. Instead of sun drying we use a European catalytic infrared dehydrator - one of the fastest and most efficient methods of coconut dehydration available.</a:t>
            </a:r>
            <a:endParaRPr lang="en-US" sz="1250" dirty="0"/>
          </a:p>
        </p:txBody>
      </p:sp>
      <p:sp>
        <p:nvSpPr>
          <p:cNvPr id="10" name="Shape 6"/>
          <p:cNvSpPr/>
          <p:nvPr/>
        </p:nvSpPr>
        <p:spPr>
          <a:xfrm>
            <a:off x="6419088" y="3163824"/>
            <a:ext cx="5132527" cy="2048256"/>
          </a:xfrm>
          <a:prstGeom prst="roundRect">
            <a:avLst>
              <a:gd name="adj" fmla="val 2679"/>
            </a:avLst>
          </a:prstGeom>
          <a:solidFill>
            <a:srgbClr val="F1F5EF"/>
          </a:solidFill>
          <a:ln w="12700">
            <a:solidFill>
              <a:srgbClr val="F1F5EF"/>
            </a:solidFill>
            <a:prstDash val="solid"/>
          </a:ln>
        </p:spPr>
      </p:sp>
      <p:sp>
        <p:nvSpPr>
          <p:cNvPr id="11" name="Text 7"/>
          <p:cNvSpPr/>
          <p:nvPr/>
        </p:nvSpPr>
        <p:spPr>
          <a:xfrm>
            <a:off x="6675120" y="3328416"/>
            <a:ext cx="4620463"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How the chamber works</a:t>
            </a:r>
            <a:endParaRPr lang="en-US" sz="1100" dirty="0"/>
          </a:p>
        </p:txBody>
      </p:sp>
      <p:sp>
        <p:nvSpPr>
          <p:cNvPr id="12" name="Text 8"/>
          <p:cNvSpPr/>
          <p:nvPr/>
        </p:nvSpPr>
        <p:spPr>
          <a:xfrm>
            <a:off x="6675120" y="3657600"/>
            <a:ext cx="4620463" cy="1481328"/>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Infrared-radiating metal infusors generate controlled heat waves</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Platinum metal-plated walls, ceiling and doors reflect heat from every direction</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A compressor draws atmospheric air through a dehumidification system</a:t>
            </a:r>
            <a:endParaRPr lang="en-US" sz="1100" dirty="0"/>
          </a:p>
          <a:p>
            <a:pPr marL="342900" indent="-342900">
              <a:lnSpc>
                <a:spcPct val="108000"/>
              </a:lnSpc>
              <a:spcAft>
                <a:spcPts val="400"/>
              </a:spcAft>
              <a:buSzPct val="100000"/>
              <a:buChar char="•"/>
            </a:pPr>
            <a:r>
              <a:rPr lang="en-US" sz="1100" dirty="0">
                <a:solidFill>
                  <a:srgbClr val="232C24"/>
                </a:solidFill>
                <a:latin typeface="Calibri" pitchFamily="34" charset="0"/>
                <a:ea typeface="Calibri" pitchFamily="34" charset="-122"/>
                <a:cs typeface="Calibri" pitchFamily="34" charset="-120"/>
              </a:rPr>
              <a:t>Roughly 3,300 sq ft of drying area</a:t>
            </a:r>
            <a:endParaRPr lang="en-US" sz="1100" dirty="0"/>
          </a:p>
        </p:txBody>
      </p:sp>
      <p:sp>
        <p:nvSpPr>
          <p:cNvPr id="13" name="Shape 9"/>
          <p:cNvSpPr/>
          <p:nvPr/>
        </p:nvSpPr>
        <p:spPr>
          <a:xfrm>
            <a:off x="6419088" y="5358384"/>
            <a:ext cx="5132527" cy="749808"/>
          </a:xfrm>
          <a:prstGeom prst="roundRect">
            <a:avLst>
              <a:gd name="adj" fmla="val 7317"/>
            </a:avLst>
          </a:prstGeom>
          <a:solidFill>
            <a:srgbClr val="14532D"/>
          </a:solidFill>
          <a:ln w="12700">
            <a:solidFill>
              <a:srgbClr val="14532D"/>
            </a:solidFill>
            <a:prstDash val="solid"/>
          </a:ln>
        </p:spPr>
      </p:sp>
      <p:sp>
        <p:nvSpPr>
          <p:cNvPr id="14" name="Text 10"/>
          <p:cNvSpPr/>
          <p:nvPr/>
        </p:nvSpPr>
        <p:spPr>
          <a:xfrm>
            <a:off x="6675120" y="5358384"/>
            <a:ext cx="4620463" cy="749808"/>
          </a:xfrm>
          <a:prstGeom prst="rect">
            <a:avLst/>
          </a:prstGeom>
          <a:noFill/>
          <a:ln/>
        </p:spPr>
        <p:txBody>
          <a:bodyPr wrap="square" lIns="0" tIns="0" rIns="0" bIns="0" rtlCol="0" anchor="ctr"/>
          <a:lstStyle/>
          <a:p>
            <a:pPr indent="0" marL="0">
              <a:lnSpc>
                <a:spcPct val="114000"/>
              </a:lnSpc>
              <a:buNone/>
            </a:pPr>
            <a:r>
              <a:rPr lang="en-US" sz="1300" b="1" dirty="0">
                <a:solidFill>
                  <a:srgbClr val="FFFFFF"/>
                </a:solidFill>
                <a:latin typeface="Cambria" pitchFamily="34" charset="0"/>
                <a:ea typeface="Cambria" pitchFamily="34" charset="-122"/>
                <a:cs typeface="Cambria" pitchFamily="34" charset="-120"/>
              </a:rPr>
              <a:t>10 tonnes in 12 hours, to below 10% moisture</a:t>
            </a:r>
            <a:endParaRPr lang="en-US" sz="1300" dirty="0"/>
          </a:p>
          <a:p>
            <a:pPr indent="0" marL="0">
              <a:lnSpc>
                <a:spcPct val="114000"/>
              </a:lnSpc>
              <a:buNone/>
            </a:pPr>
            <a:r>
              <a:rPr lang="en-US" sz="1050" dirty="0">
                <a:solidFill>
                  <a:srgbClr val="E3C171"/>
                </a:solidFill>
                <a:latin typeface="Calibri" pitchFamily="34" charset="0"/>
                <a:ea typeface="Calibri" pitchFamily="34" charset="-122"/>
                <a:cs typeface="Calibri" pitchFamily="34" charset="-120"/>
              </a:rPr>
              <a:t>Sun drying needs five days to reach only 20%</a:t>
            </a:r>
            <a:endParaRPr lang="en-US" sz="1300" dirty="0"/>
          </a:p>
        </p:txBody>
      </p:sp>
      <p:sp>
        <p:nvSpPr>
          <p:cNvPr id="15" name="Text 1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STEPS 04 AND 06</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Washing and inspection</a:t>
            </a:r>
            <a:endParaRPr lang="en-US" sz="3400" dirty="0"/>
          </a:p>
        </p:txBody>
      </p:sp>
      <p:pic>
        <p:nvPicPr>
          <p:cNvPr id="5" name="Image 0" descr="/home/user/coco-palms/build/img/wash.jpg">    </p:cNvPr>
          <p:cNvPicPr>
            <a:picLocks noChangeAspect="1"/>
          </p:cNvPicPr>
          <p:nvPr/>
        </p:nvPicPr>
        <p:blipFill>
          <a:blip r:embed="rId1"/>
          <a:srcRect l="0" r="0" t="0" b="0"/>
          <a:stretch/>
        </p:blipFill>
        <p:spPr>
          <a:xfrm>
            <a:off x="640080" y="1810512"/>
            <a:ext cx="5263744" cy="2286000"/>
          </a:xfrm>
          <a:prstGeom prst="rect">
            <a:avLst/>
          </a:prstGeom>
        </p:spPr>
      </p:pic>
      <p:sp>
        <p:nvSpPr>
          <p:cNvPr id="6" name="Text 3"/>
          <p:cNvSpPr/>
          <p:nvPr/>
        </p:nvSpPr>
        <p:spPr>
          <a:xfrm>
            <a:off x="640080" y="4169664"/>
            <a:ext cx="5263744"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High-pressure water spray wash, before dehydration</a:t>
            </a:r>
            <a:endParaRPr lang="en-US" sz="950" dirty="0"/>
          </a:p>
        </p:txBody>
      </p:sp>
      <p:pic>
        <p:nvPicPr>
          <p:cNvPr id="7" name="Image 1" descr="/home/user/coco-palms/build/img/qc.jpg">    </p:cNvPr>
          <p:cNvPicPr>
            <a:picLocks noChangeAspect="1"/>
          </p:cNvPicPr>
          <p:nvPr/>
        </p:nvPicPr>
        <p:blipFill>
          <a:blip r:embed="rId2"/>
          <a:srcRect l="0" r="0" t="0" b="0"/>
          <a:stretch/>
        </p:blipFill>
        <p:spPr>
          <a:xfrm>
            <a:off x="6287872" y="1810512"/>
            <a:ext cx="5263744" cy="2286000"/>
          </a:xfrm>
          <a:prstGeom prst="rect">
            <a:avLst/>
          </a:prstGeom>
        </p:spPr>
      </p:pic>
      <p:sp>
        <p:nvSpPr>
          <p:cNvPr id="8" name="Text 4"/>
          <p:cNvSpPr/>
          <p:nvPr/>
        </p:nvSpPr>
        <p:spPr>
          <a:xfrm>
            <a:off x="6287872" y="4169664"/>
            <a:ext cx="5263744"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Every tray inspected by trained staff and supervisors</a:t>
            </a:r>
            <a:endParaRPr lang="en-US" sz="950" dirty="0"/>
          </a:p>
        </p:txBody>
      </p:sp>
      <p:sp>
        <p:nvSpPr>
          <p:cNvPr id="9" name="Shape 5"/>
          <p:cNvSpPr/>
          <p:nvPr/>
        </p:nvSpPr>
        <p:spPr>
          <a:xfrm>
            <a:off x="640080" y="4608576"/>
            <a:ext cx="5263744" cy="1572768"/>
          </a:xfrm>
          <a:prstGeom prst="roundRect">
            <a:avLst>
              <a:gd name="adj" fmla="val 3488"/>
            </a:avLst>
          </a:prstGeom>
          <a:solidFill>
            <a:srgbClr val="F1F5EF"/>
          </a:solidFill>
          <a:ln w="12700">
            <a:solidFill>
              <a:srgbClr val="F1F5EF"/>
            </a:solidFill>
            <a:prstDash val="solid"/>
          </a:ln>
        </p:spPr>
      </p:sp>
      <p:sp>
        <p:nvSpPr>
          <p:cNvPr id="10" name="Text 6"/>
          <p:cNvSpPr/>
          <p:nvPr/>
        </p:nvSpPr>
        <p:spPr>
          <a:xfrm>
            <a:off x="896112" y="4754880"/>
            <a:ext cx="4751680"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Personnel hygiene</a:t>
            </a:r>
            <a:endParaRPr lang="en-US" sz="1100" dirty="0"/>
          </a:p>
        </p:txBody>
      </p:sp>
      <p:sp>
        <p:nvSpPr>
          <p:cNvPr id="11" name="Text 7"/>
          <p:cNvSpPr/>
          <p:nvPr/>
        </p:nvSpPr>
        <p:spPr>
          <a:xfrm>
            <a:off x="896112" y="5084064"/>
            <a:ext cx="4751680" cy="1005840"/>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Hairnets, face masks and gloves on the line</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Company-issued uniforms throughout</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Food-contact surfaces in stainless steel</a:t>
            </a:r>
            <a:endParaRPr lang="en-US" sz="1150" dirty="0"/>
          </a:p>
        </p:txBody>
      </p:sp>
      <p:sp>
        <p:nvSpPr>
          <p:cNvPr id="12" name="Shape 8"/>
          <p:cNvSpPr/>
          <p:nvPr/>
        </p:nvSpPr>
        <p:spPr>
          <a:xfrm>
            <a:off x="6287872" y="4608576"/>
            <a:ext cx="5263744" cy="1572768"/>
          </a:xfrm>
          <a:prstGeom prst="roundRect">
            <a:avLst>
              <a:gd name="adj" fmla="val 3488"/>
            </a:avLst>
          </a:prstGeom>
          <a:solidFill>
            <a:srgbClr val="F1F5EF"/>
          </a:solidFill>
          <a:ln w="12700">
            <a:solidFill>
              <a:srgbClr val="F1F5EF"/>
            </a:solidFill>
            <a:prstDash val="solid"/>
          </a:ln>
        </p:spPr>
      </p:sp>
      <p:sp>
        <p:nvSpPr>
          <p:cNvPr id="13" name="Text 9"/>
          <p:cNvSpPr/>
          <p:nvPr/>
        </p:nvSpPr>
        <p:spPr>
          <a:xfrm>
            <a:off x="6543904" y="4754880"/>
            <a:ext cx="4751680"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Plant and surfaces</a:t>
            </a:r>
            <a:endParaRPr lang="en-US" sz="1100" dirty="0"/>
          </a:p>
        </p:txBody>
      </p:sp>
      <p:sp>
        <p:nvSpPr>
          <p:cNvPr id="14" name="Text 10"/>
          <p:cNvSpPr/>
          <p:nvPr/>
        </p:nvSpPr>
        <p:spPr>
          <a:xfrm>
            <a:off x="6543904" y="5084064"/>
            <a:ext cx="4751680" cy="1005840"/>
          </a:xfrm>
          <a:prstGeom prst="rect">
            <a:avLst/>
          </a:prstGeom>
          <a:noFill/>
          <a:ln/>
        </p:spPr>
        <p:txBody>
          <a:bodyPr wrap="square" lIns="0" tIns="0" rIns="0" bIns="0" rtlCol="0" anchor="t"/>
          <a:lstStyle/>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Enclosed drying rooms, not open-air yards</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Stainless trays and troughs at every wet stage</a:t>
            </a:r>
            <a:endParaRPr lang="en-US" sz="1150" dirty="0"/>
          </a:p>
          <a:p>
            <a:pPr marL="342900" indent="-342900">
              <a:lnSpc>
                <a:spcPct val="108000"/>
              </a:lnSpc>
              <a:spcAft>
                <a:spcPts val="400"/>
              </a:spcAft>
              <a:buSzPct val="100000"/>
              <a:buChar char="•"/>
            </a:pPr>
            <a:r>
              <a:rPr lang="en-US" sz="1150" dirty="0">
                <a:solidFill>
                  <a:srgbClr val="232C24"/>
                </a:solidFill>
                <a:latin typeface="Calibri" pitchFamily="34" charset="0"/>
                <a:ea typeface="Calibri" pitchFamily="34" charset="-122"/>
                <a:cs typeface="Calibri" pitchFamily="34" charset="-120"/>
              </a:rPr>
              <a:t>Sealed washable floors and strip-curtain barriers</a:t>
            </a:r>
            <a:endParaRPr lang="en-US" sz="1150" dirty="0"/>
          </a:p>
        </p:txBody>
      </p:sp>
      <p:sp>
        <p:nvSpPr>
          <p:cNvPr id="15" name="Text 1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6" name="Text 1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STEPS 07 AND 08</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From dried kernel to filtered oil</a:t>
            </a:r>
            <a:endParaRPr lang="en-US" sz="3400" dirty="0"/>
          </a:p>
        </p:txBody>
      </p:sp>
      <p:sp>
        <p:nvSpPr>
          <p:cNvPr id="5" name="Shape 3"/>
          <p:cNvSpPr/>
          <p:nvPr/>
        </p:nvSpPr>
        <p:spPr>
          <a:xfrm>
            <a:off x="640080" y="1810512"/>
            <a:ext cx="5263744" cy="4224528"/>
          </a:xfrm>
          <a:prstGeom prst="roundRect">
            <a:avLst>
              <a:gd name="adj" fmla="val 1299"/>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6" name="Image 0" descr="/home/user/coco-palms/build/img/shred.jpg">    </p:cNvPr>
          <p:cNvPicPr>
            <a:picLocks noChangeAspect="1"/>
          </p:cNvPicPr>
          <p:nvPr/>
        </p:nvPicPr>
        <p:blipFill>
          <a:blip r:embed="rId1"/>
          <a:srcRect l="0" r="0" t="0" b="0"/>
          <a:stretch/>
        </p:blipFill>
        <p:spPr>
          <a:xfrm>
            <a:off x="640080" y="1810512"/>
            <a:ext cx="5263744" cy="1847088"/>
          </a:xfrm>
          <a:prstGeom prst="rect">
            <a:avLst/>
          </a:prstGeom>
        </p:spPr>
      </p:pic>
      <p:sp>
        <p:nvSpPr>
          <p:cNvPr id="7" name="Shape 4"/>
          <p:cNvSpPr/>
          <p:nvPr/>
        </p:nvSpPr>
        <p:spPr>
          <a:xfrm>
            <a:off x="914400" y="3803904"/>
            <a:ext cx="493776" cy="493776"/>
          </a:xfrm>
          <a:prstGeom prst="ellipse">
            <a:avLst/>
          </a:prstGeom>
          <a:solidFill>
            <a:srgbClr val="B8860F"/>
          </a:solidFill>
          <a:ln w="12700">
            <a:solidFill>
              <a:srgbClr val="B8860F"/>
            </a:solidFill>
            <a:prstDash val="solid"/>
          </a:ln>
        </p:spPr>
      </p:sp>
      <p:sp>
        <p:nvSpPr>
          <p:cNvPr id="8" name="Text 5"/>
          <p:cNvSpPr/>
          <p:nvPr/>
        </p:nvSpPr>
        <p:spPr>
          <a:xfrm>
            <a:off x="914400" y="3803904"/>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07</a:t>
            </a:r>
            <a:endParaRPr lang="en-US" sz="1200" dirty="0"/>
          </a:p>
        </p:txBody>
      </p:sp>
      <p:sp>
        <p:nvSpPr>
          <p:cNvPr id="9" name="Text 6"/>
          <p:cNvSpPr/>
          <p:nvPr/>
        </p:nvSpPr>
        <p:spPr>
          <a:xfrm>
            <a:off x="1536192" y="3803904"/>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Scooping and pulverising</a:t>
            </a:r>
            <a:endParaRPr lang="en-US" sz="1700" dirty="0"/>
          </a:p>
        </p:txBody>
      </p:sp>
      <p:sp>
        <p:nvSpPr>
          <p:cNvPr id="10" name="Text 7"/>
          <p:cNvSpPr/>
          <p:nvPr/>
        </p:nvSpPr>
        <p:spPr>
          <a:xfrm>
            <a:off x="914400" y="4443984"/>
            <a:ext cx="4715104" cy="914400"/>
          </a:xfrm>
          <a:prstGeom prst="rect">
            <a:avLst/>
          </a:prstGeom>
          <a:noFill/>
          <a:ln/>
        </p:spPr>
        <p:txBody>
          <a:bodyPr wrap="square" lIns="0" tIns="0" rIns="0" bIns="0" rtlCol="0" anchor="t"/>
          <a:lstStyle/>
          <a:p>
            <a:pPr indent="0" marL="0">
              <a:lnSpc>
                <a:spcPct val="124000"/>
              </a:lnSpc>
              <a:buNone/>
            </a:pPr>
            <a:r>
              <a:rPr lang="en-US" sz="1200" dirty="0">
                <a:solidFill>
                  <a:srgbClr val="232C24"/>
                </a:solidFill>
                <a:latin typeface="Calibri" pitchFamily="34" charset="0"/>
                <a:ea typeface="Calibri" pitchFamily="34" charset="-122"/>
                <a:cs typeface="Calibri" pitchFamily="34" charset="-120"/>
              </a:rPr>
              <a:t>Once dehydration is complete the kernel lifts cleanly away from the shell and is scooped out, then pulverised into smaller pieces ready for pressing.</a:t>
            </a:r>
            <a:endParaRPr lang="en-US" sz="1200" dirty="0"/>
          </a:p>
        </p:txBody>
      </p:sp>
      <p:sp>
        <p:nvSpPr>
          <p:cNvPr id="11" name="Text 8"/>
          <p:cNvSpPr/>
          <p:nvPr/>
        </p:nvSpPr>
        <p:spPr>
          <a:xfrm>
            <a:off x="914400" y="5413248"/>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Moisture at scooping</a:t>
            </a:r>
            <a:endParaRPr lang="en-US" sz="1150" dirty="0"/>
          </a:p>
        </p:txBody>
      </p:sp>
      <p:sp>
        <p:nvSpPr>
          <p:cNvPr id="12" name="Text 9"/>
          <p:cNvSpPr/>
          <p:nvPr/>
        </p:nvSpPr>
        <p:spPr>
          <a:xfrm>
            <a:off x="2834640" y="5413248"/>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below 10%</a:t>
            </a:r>
            <a:endParaRPr lang="en-US" sz="1250" dirty="0"/>
          </a:p>
        </p:txBody>
      </p:sp>
      <p:sp>
        <p:nvSpPr>
          <p:cNvPr id="13" name="Text 10"/>
          <p:cNvSpPr/>
          <p:nvPr/>
        </p:nvSpPr>
        <p:spPr>
          <a:xfrm>
            <a:off x="914400" y="5742432"/>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Batch size</a:t>
            </a:r>
            <a:endParaRPr lang="en-US" sz="1150" dirty="0"/>
          </a:p>
        </p:txBody>
      </p:sp>
      <p:sp>
        <p:nvSpPr>
          <p:cNvPr id="14" name="Text 11"/>
          <p:cNvSpPr/>
          <p:nvPr/>
        </p:nvSpPr>
        <p:spPr>
          <a:xfrm>
            <a:off x="2834640" y="5742432"/>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10 tonnes per 12 h</a:t>
            </a:r>
            <a:endParaRPr lang="en-US" sz="1250" dirty="0"/>
          </a:p>
        </p:txBody>
      </p:sp>
      <p:sp>
        <p:nvSpPr>
          <p:cNvPr id="15" name="Shape 12"/>
          <p:cNvSpPr/>
          <p:nvPr/>
        </p:nvSpPr>
        <p:spPr>
          <a:xfrm>
            <a:off x="6287872" y="1810512"/>
            <a:ext cx="5263744" cy="4224528"/>
          </a:xfrm>
          <a:prstGeom prst="roundRect">
            <a:avLst>
              <a:gd name="adj" fmla="val 1299"/>
            </a:avLst>
          </a:prstGeom>
          <a:solidFill>
            <a:srgbClr val="F1F5EF"/>
          </a:solidFill>
          <a:ln w="12700">
            <a:solidFill>
              <a:srgbClr val="F1F5EF"/>
            </a:solidFill>
            <a:prstDash val="solid"/>
          </a:ln>
          <a:effectLst>
            <a:outerShdw sx="100000" sy="100000" kx="0" ky="0" algn="bl" rotWithShape="0" blurRad="152400" dist="25400" dir="5400000">
              <a:srgbClr val="000000">
                <a:alpha val="8000"/>
              </a:srgbClr>
            </a:outerShdw>
          </a:effectLst>
        </p:spPr>
      </p:sp>
      <p:pic>
        <p:nvPicPr>
          <p:cNvPr id="16" name="Image 1" descr="/home/user/coco-palms/build/img/oil.jpg">    </p:cNvPr>
          <p:cNvPicPr>
            <a:picLocks noChangeAspect="1"/>
          </p:cNvPicPr>
          <p:nvPr/>
        </p:nvPicPr>
        <p:blipFill>
          <a:blip r:embed="rId2"/>
          <a:srcRect l="0" r="0" t="0" b="0"/>
          <a:stretch/>
        </p:blipFill>
        <p:spPr>
          <a:xfrm>
            <a:off x="6287872" y="1810512"/>
            <a:ext cx="5263744" cy="1847088"/>
          </a:xfrm>
          <a:prstGeom prst="rect">
            <a:avLst/>
          </a:prstGeom>
        </p:spPr>
      </p:pic>
      <p:sp>
        <p:nvSpPr>
          <p:cNvPr id="17" name="Shape 13"/>
          <p:cNvSpPr/>
          <p:nvPr/>
        </p:nvSpPr>
        <p:spPr>
          <a:xfrm>
            <a:off x="6562192" y="3803904"/>
            <a:ext cx="493776" cy="493776"/>
          </a:xfrm>
          <a:prstGeom prst="ellipse">
            <a:avLst/>
          </a:prstGeom>
          <a:solidFill>
            <a:srgbClr val="B8860F"/>
          </a:solidFill>
          <a:ln w="12700">
            <a:solidFill>
              <a:srgbClr val="B8860F"/>
            </a:solidFill>
            <a:prstDash val="solid"/>
          </a:ln>
        </p:spPr>
      </p:sp>
      <p:sp>
        <p:nvSpPr>
          <p:cNvPr id="18" name="Text 14"/>
          <p:cNvSpPr/>
          <p:nvPr/>
        </p:nvSpPr>
        <p:spPr>
          <a:xfrm>
            <a:off x="6562192" y="3803904"/>
            <a:ext cx="493776"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08</a:t>
            </a:r>
            <a:endParaRPr lang="en-US" sz="1200" dirty="0"/>
          </a:p>
        </p:txBody>
      </p:sp>
      <p:sp>
        <p:nvSpPr>
          <p:cNvPr id="19" name="Text 15"/>
          <p:cNvSpPr/>
          <p:nvPr/>
        </p:nvSpPr>
        <p:spPr>
          <a:xfrm>
            <a:off x="7183984" y="3803904"/>
            <a:ext cx="4093312" cy="493776"/>
          </a:xfrm>
          <a:prstGeom prst="rect">
            <a:avLst/>
          </a:prstGeom>
          <a:noFill/>
          <a:ln/>
        </p:spPr>
        <p:txBody>
          <a:bodyPr wrap="square" lIns="0" tIns="0" rIns="0" bIns="0" rtlCol="0" anchor="ctr"/>
          <a:lstStyle/>
          <a:p>
            <a:pPr indent="0" marL="0">
              <a:buNone/>
            </a:pPr>
            <a:r>
              <a:rPr lang="en-US" sz="1700" b="1" dirty="0">
                <a:solidFill>
                  <a:srgbClr val="14532D"/>
                </a:solidFill>
                <a:latin typeface="Cambria" pitchFamily="34" charset="0"/>
                <a:ea typeface="Cambria" pitchFamily="34" charset="-122"/>
                <a:cs typeface="Cambria" pitchFamily="34" charset="-120"/>
              </a:rPr>
              <a:t>Expelling and filtration</a:t>
            </a:r>
            <a:endParaRPr lang="en-US" sz="1700" dirty="0"/>
          </a:p>
        </p:txBody>
      </p:sp>
      <p:sp>
        <p:nvSpPr>
          <p:cNvPr id="20" name="Text 16"/>
          <p:cNvSpPr/>
          <p:nvPr/>
        </p:nvSpPr>
        <p:spPr>
          <a:xfrm>
            <a:off x="6562192" y="4443984"/>
            <a:ext cx="4715104" cy="914400"/>
          </a:xfrm>
          <a:prstGeom prst="rect">
            <a:avLst/>
          </a:prstGeom>
          <a:noFill/>
          <a:ln/>
        </p:spPr>
        <p:txBody>
          <a:bodyPr wrap="square" lIns="0" tIns="0" rIns="0" bIns="0" rtlCol="0" anchor="t"/>
          <a:lstStyle/>
          <a:p>
            <a:pPr indent="0" marL="0">
              <a:lnSpc>
                <a:spcPct val="124000"/>
              </a:lnSpc>
              <a:buNone/>
            </a:pPr>
            <a:r>
              <a:rPr lang="en-US" sz="1200" dirty="0">
                <a:solidFill>
                  <a:srgbClr val="232C24"/>
                </a:solidFill>
                <a:latin typeface="Calibri" pitchFamily="34" charset="0"/>
                <a:ea typeface="Calibri" pitchFamily="34" charset="-122"/>
                <a:cs typeface="Calibri" pitchFamily="34" charset="-120"/>
              </a:rPr>
              <a:t>The pulverised kernel is fed into an expeller and pressed mechanically. The extracted oil then passes through advanced filtration to finished grade.</a:t>
            </a:r>
            <a:endParaRPr lang="en-US" sz="1200" dirty="0"/>
          </a:p>
        </p:txBody>
      </p:sp>
      <p:sp>
        <p:nvSpPr>
          <p:cNvPr id="21" name="Text 17"/>
          <p:cNvSpPr/>
          <p:nvPr/>
        </p:nvSpPr>
        <p:spPr>
          <a:xfrm>
            <a:off x="6562192" y="5413248"/>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FFA at despatch</a:t>
            </a:r>
            <a:endParaRPr lang="en-US" sz="1150" dirty="0"/>
          </a:p>
        </p:txBody>
      </p:sp>
      <p:sp>
        <p:nvSpPr>
          <p:cNvPr id="22" name="Text 18"/>
          <p:cNvSpPr/>
          <p:nvPr/>
        </p:nvSpPr>
        <p:spPr>
          <a:xfrm>
            <a:off x="8482432" y="5413248"/>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below 0.5%</a:t>
            </a:r>
            <a:endParaRPr lang="en-US" sz="1250" dirty="0"/>
          </a:p>
        </p:txBody>
      </p:sp>
      <p:sp>
        <p:nvSpPr>
          <p:cNvPr id="23" name="Text 19"/>
          <p:cNvSpPr/>
          <p:nvPr/>
        </p:nvSpPr>
        <p:spPr>
          <a:xfrm>
            <a:off x="6562192" y="5742432"/>
            <a:ext cx="19202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Chemical use</a:t>
            </a:r>
            <a:endParaRPr lang="en-US" sz="1150" dirty="0"/>
          </a:p>
        </p:txBody>
      </p:sp>
      <p:sp>
        <p:nvSpPr>
          <p:cNvPr id="24" name="Text 20"/>
          <p:cNvSpPr/>
          <p:nvPr/>
        </p:nvSpPr>
        <p:spPr>
          <a:xfrm>
            <a:off x="8482432" y="5742432"/>
            <a:ext cx="2794864" cy="274320"/>
          </a:xfrm>
          <a:prstGeom prst="rect">
            <a:avLst/>
          </a:prstGeom>
          <a:noFill/>
          <a:ln/>
        </p:spPr>
        <p:txBody>
          <a:bodyPr wrap="square" lIns="0" tIns="0" rIns="0" bIns="0" rtlCol="0" anchor="ctr"/>
          <a:lstStyle/>
          <a:p>
            <a:pPr indent="0" marL="0">
              <a:buNone/>
            </a:pPr>
            <a:r>
              <a:rPr lang="en-US" sz="1250" dirty="0">
                <a:solidFill>
                  <a:srgbClr val="232C24"/>
                </a:solidFill>
                <a:latin typeface="Calibri" pitchFamily="34" charset="0"/>
                <a:ea typeface="Calibri" pitchFamily="34" charset="-122"/>
                <a:cs typeface="Calibri" pitchFamily="34" charset="-120"/>
              </a:rPr>
              <a:t>None - sulfur-free</a:t>
            </a:r>
            <a:endParaRPr lang="en-US" sz="1250" dirty="0"/>
          </a:p>
        </p:txBody>
      </p:sp>
      <p:sp>
        <p:nvSpPr>
          <p:cNvPr id="25"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6"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QUALITY ASSURANCE</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Tested, not assumed</a:t>
            </a:r>
            <a:endParaRPr lang="en-US" sz="3400" dirty="0"/>
          </a:p>
        </p:txBody>
      </p:sp>
      <p:sp>
        <p:nvSpPr>
          <p:cNvPr id="5" name="Text 3"/>
          <p:cNvSpPr/>
          <p:nvPr/>
        </p:nvSpPr>
        <p:spPr>
          <a:xfrm>
            <a:off x="640080" y="1828800"/>
            <a:ext cx="5029200" cy="1572768"/>
          </a:xfrm>
          <a:prstGeom prst="rect">
            <a:avLst/>
          </a:prstGeom>
          <a:noFill/>
          <a:ln/>
        </p:spPr>
        <p:txBody>
          <a:bodyPr wrap="square" lIns="0" tIns="0" rIns="0" bIns="0" rtlCol="0" anchor="t"/>
          <a:lstStyle/>
          <a:p>
            <a:pPr indent="0" marL="0">
              <a:lnSpc>
                <a:spcPct val="126000"/>
              </a:lnSpc>
              <a:buNone/>
            </a:pPr>
            <a:r>
              <a:rPr lang="en-US" sz="1300" dirty="0">
                <a:solidFill>
                  <a:srgbClr val="232C24"/>
                </a:solidFill>
                <a:latin typeface="Calibri" pitchFamily="34" charset="0"/>
                <a:ea typeface="Calibri" pitchFamily="34" charset="-122"/>
                <a:cs typeface="Calibri" pitchFamily="34" charset="-120"/>
              </a:rPr>
              <a:t>Quality is managed under an ISO 9001 system, the plant is FSSAI licensed, and testing is backed by NABL accreditation - the Indian national standard for laboratory competence. Every manufacturing batch is tested by our quality assurance team in our own in-house laboratory before it reaches a customer.</a:t>
            </a:r>
            <a:endParaRPr lang="en-US" sz="1300" dirty="0"/>
          </a:p>
        </p:txBody>
      </p:sp>
      <p:sp>
        <p:nvSpPr>
          <p:cNvPr id="6" name="Shape 4"/>
          <p:cNvSpPr/>
          <p:nvPr/>
        </p:nvSpPr>
        <p:spPr>
          <a:xfrm>
            <a:off x="640080" y="3346704"/>
            <a:ext cx="5029200" cy="749808"/>
          </a:xfrm>
          <a:prstGeom prst="roundRect">
            <a:avLst>
              <a:gd name="adj" fmla="val 7317"/>
            </a:avLst>
          </a:prstGeom>
          <a:solidFill>
            <a:srgbClr val="F1F5EF"/>
          </a:solidFill>
          <a:ln w="12700">
            <a:solidFill>
              <a:srgbClr val="F1F5EF"/>
            </a:solidFill>
            <a:prstDash val="solid"/>
          </a:ln>
        </p:spPr>
      </p:sp>
      <p:sp>
        <p:nvSpPr>
          <p:cNvPr id="7" name="Shape 5"/>
          <p:cNvSpPr/>
          <p:nvPr/>
        </p:nvSpPr>
        <p:spPr>
          <a:xfrm>
            <a:off x="859536" y="3502152"/>
            <a:ext cx="438912" cy="438912"/>
          </a:xfrm>
          <a:prstGeom prst="ellipse">
            <a:avLst/>
          </a:prstGeom>
          <a:solidFill>
            <a:srgbClr val="B8860F"/>
          </a:solidFill>
          <a:ln w="12700">
            <a:solidFill>
              <a:srgbClr val="B8860F"/>
            </a:solidFill>
            <a:prstDash val="solid"/>
          </a:ln>
        </p:spPr>
      </p:sp>
      <p:sp>
        <p:nvSpPr>
          <p:cNvPr id="8" name="Text 6"/>
          <p:cNvSpPr/>
          <p:nvPr/>
        </p:nvSpPr>
        <p:spPr>
          <a:xfrm>
            <a:off x="859536" y="35021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463040" y="3438144"/>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ISO 9001</a:t>
            </a:r>
            <a:endParaRPr lang="en-US" sz="1400" dirty="0"/>
          </a:p>
        </p:txBody>
      </p:sp>
      <p:sp>
        <p:nvSpPr>
          <p:cNvPr id="10" name="Text 8"/>
          <p:cNvSpPr/>
          <p:nvPr/>
        </p:nvSpPr>
        <p:spPr>
          <a:xfrm>
            <a:off x="1463040" y="3730752"/>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Quality management system</a:t>
            </a:r>
            <a:endParaRPr lang="en-US" sz="1050" dirty="0"/>
          </a:p>
        </p:txBody>
      </p:sp>
      <p:sp>
        <p:nvSpPr>
          <p:cNvPr id="11" name="Shape 9"/>
          <p:cNvSpPr/>
          <p:nvPr/>
        </p:nvSpPr>
        <p:spPr>
          <a:xfrm>
            <a:off x="640080" y="4206240"/>
            <a:ext cx="5029200" cy="749808"/>
          </a:xfrm>
          <a:prstGeom prst="roundRect">
            <a:avLst>
              <a:gd name="adj" fmla="val 7317"/>
            </a:avLst>
          </a:prstGeom>
          <a:solidFill>
            <a:srgbClr val="F1F5EF"/>
          </a:solidFill>
          <a:ln w="12700">
            <a:solidFill>
              <a:srgbClr val="F1F5EF"/>
            </a:solidFill>
            <a:prstDash val="solid"/>
          </a:ln>
        </p:spPr>
      </p:sp>
      <p:sp>
        <p:nvSpPr>
          <p:cNvPr id="12" name="Shape 10"/>
          <p:cNvSpPr/>
          <p:nvPr/>
        </p:nvSpPr>
        <p:spPr>
          <a:xfrm>
            <a:off x="859536" y="4361688"/>
            <a:ext cx="438912" cy="438912"/>
          </a:xfrm>
          <a:prstGeom prst="ellipse">
            <a:avLst/>
          </a:prstGeom>
          <a:solidFill>
            <a:srgbClr val="B8860F"/>
          </a:solidFill>
          <a:ln w="12700">
            <a:solidFill>
              <a:srgbClr val="B8860F"/>
            </a:solidFill>
            <a:prstDash val="solid"/>
          </a:ln>
        </p:spPr>
      </p:sp>
      <p:sp>
        <p:nvSpPr>
          <p:cNvPr id="13" name="Text 11"/>
          <p:cNvSpPr/>
          <p:nvPr/>
        </p:nvSpPr>
        <p:spPr>
          <a:xfrm>
            <a:off x="859536" y="436168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1463040" y="4297680"/>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FSSAI</a:t>
            </a:r>
            <a:endParaRPr lang="en-US" sz="1400" dirty="0"/>
          </a:p>
        </p:txBody>
      </p:sp>
      <p:sp>
        <p:nvSpPr>
          <p:cNvPr id="15" name="Text 13"/>
          <p:cNvSpPr/>
          <p:nvPr/>
        </p:nvSpPr>
        <p:spPr>
          <a:xfrm>
            <a:off x="1463040" y="4590288"/>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Indian food safety licence</a:t>
            </a:r>
            <a:endParaRPr lang="en-US" sz="1050" dirty="0"/>
          </a:p>
        </p:txBody>
      </p:sp>
      <p:sp>
        <p:nvSpPr>
          <p:cNvPr id="16" name="Shape 14"/>
          <p:cNvSpPr/>
          <p:nvPr/>
        </p:nvSpPr>
        <p:spPr>
          <a:xfrm>
            <a:off x="640080" y="5065776"/>
            <a:ext cx="5029200" cy="749808"/>
          </a:xfrm>
          <a:prstGeom prst="roundRect">
            <a:avLst>
              <a:gd name="adj" fmla="val 7317"/>
            </a:avLst>
          </a:prstGeom>
          <a:solidFill>
            <a:srgbClr val="F1F5EF"/>
          </a:solidFill>
          <a:ln w="12700">
            <a:solidFill>
              <a:srgbClr val="F1F5EF"/>
            </a:solidFill>
            <a:prstDash val="solid"/>
          </a:ln>
        </p:spPr>
      </p:sp>
      <p:sp>
        <p:nvSpPr>
          <p:cNvPr id="17" name="Shape 15"/>
          <p:cNvSpPr/>
          <p:nvPr/>
        </p:nvSpPr>
        <p:spPr>
          <a:xfrm>
            <a:off x="859536" y="5221224"/>
            <a:ext cx="438912" cy="438912"/>
          </a:xfrm>
          <a:prstGeom prst="ellipse">
            <a:avLst/>
          </a:prstGeom>
          <a:solidFill>
            <a:srgbClr val="B8860F"/>
          </a:solidFill>
          <a:ln w="12700">
            <a:solidFill>
              <a:srgbClr val="B8860F"/>
            </a:solidFill>
            <a:prstDash val="solid"/>
          </a:ln>
        </p:spPr>
      </p:sp>
      <p:sp>
        <p:nvSpPr>
          <p:cNvPr id="18" name="Text 16"/>
          <p:cNvSpPr/>
          <p:nvPr/>
        </p:nvSpPr>
        <p:spPr>
          <a:xfrm>
            <a:off x="859536" y="52212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1463040" y="5157216"/>
            <a:ext cx="3977640" cy="310896"/>
          </a:xfrm>
          <a:prstGeom prst="rect">
            <a:avLst/>
          </a:prstGeom>
          <a:noFill/>
          <a:ln/>
        </p:spPr>
        <p:txBody>
          <a:bodyPr wrap="square" lIns="0" tIns="0" rIns="0" bIns="0" rtlCol="0" anchor="ctr"/>
          <a:lstStyle/>
          <a:p>
            <a:pPr indent="0" marL="0">
              <a:buNone/>
            </a:pPr>
            <a:r>
              <a:rPr lang="en-US" sz="1400" b="1" dirty="0">
                <a:solidFill>
                  <a:srgbClr val="14532D"/>
                </a:solidFill>
                <a:latin typeface="Cambria" pitchFamily="34" charset="0"/>
                <a:ea typeface="Cambria" pitchFamily="34" charset="-122"/>
                <a:cs typeface="Cambria" pitchFamily="34" charset="-120"/>
              </a:rPr>
              <a:t>NABL</a:t>
            </a:r>
            <a:endParaRPr lang="en-US" sz="1400" dirty="0"/>
          </a:p>
        </p:txBody>
      </p:sp>
      <p:sp>
        <p:nvSpPr>
          <p:cNvPr id="20" name="Text 18"/>
          <p:cNvSpPr/>
          <p:nvPr/>
        </p:nvSpPr>
        <p:spPr>
          <a:xfrm>
            <a:off x="1463040" y="5449824"/>
            <a:ext cx="3977640" cy="274320"/>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Accredited laboratory testing</a:t>
            </a:r>
            <a:endParaRPr lang="en-US" sz="1050" dirty="0"/>
          </a:p>
        </p:txBody>
      </p:sp>
      <p:sp>
        <p:nvSpPr>
          <p:cNvPr id="21" name="Text 19"/>
          <p:cNvSpPr/>
          <p:nvPr/>
        </p:nvSpPr>
        <p:spPr>
          <a:xfrm>
            <a:off x="6236208" y="1828800"/>
            <a:ext cx="5315407" cy="292608"/>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Release specification per batch</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36208" y="2212848"/>
          <a:ext cx="5315407" cy="914400"/>
        </p:xfrm>
        <a:graphic>
          <a:graphicData uri="http://schemas.openxmlformats.org/drawingml/2006/table">
            <a:tbl>
              <a:tblPr/>
              <a:tblGrid>
                <a:gridCol w="1966701"/>
                <a:gridCol w="1700930"/>
                <a:gridCol w="1647776"/>
              </a:tblGrid>
              <a:tr h="384048">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Limit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Moisture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 548</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0.10%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Free fatty acid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AOCS Ca 5a-40</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0.5%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Peroxide value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AOCS Cd 8-53</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 meq/kg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Total plate count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ISO 4833</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10,000 cfu/g</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Yeast and mould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ISO 21527</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100 cfu/g max</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Foreign matter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Visual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Absent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bl>
          </a:graphicData>
        </a:graphic>
      </p:graphicFrame>
      <p:sp>
        <p:nvSpPr>
          <p:cNvPr id="23" name="Text 20"/>
          <p:cNvSpPr/>
          <p:nvPr/>
        </p:nvSpPr>
        <p:spPr>
          <a:xfrm>
            <a:off x="6236208" y="5193792"/>
            <a:ext cx="5315407" cy="731520"/>
          </a:xfrm>
          <a:prstGeom prst="rect">
            <a:avLst/>
          </a:prstGeom>
          <a:noFill/>
          <a:ln/>
        </p:spPr>
        <p:txBody>
          <a:bodyPr wrap="square" lIns="0" tIns="0" rIns="0" bIns="0" rtlCol="0" anchor="t"/>
          <a:lstStyle/>
          <a:p>
            <a:pPr indent="0" marL="0">
              <a:lnSpc>
                <a:spcPct val="120000"/>
              </a:lnSpc>
              <a:buNone/>
            </a:pPr>
            <a:r>
              <a:rPr lang="en-US" sz="1100" i="1" dirty="0">
                <a:solidFill>
                  <a:srgbClr val="6E7A6F"/>
                </a:solidFill>
                <a:latin typeface="Calibri" pitchFamily="34" charset="0"/>
                <a:ea typeface="Calibri" pitchFamily="34" charset="-122"/>
                <a:cs typeface="Calibri" pitchFamily="34" charset="-120"/>
              </a:rPr>
              <a:t>Limits shown are for edible-grade coconut oil, tested per batch in our in-house laboratory before release.</a:t>
            </a:r>
            <a:endParaRPr lang="en-US" sz="1100" dirty="0"/>
          </a:p>
        </p:txBody>
      </p:sp>
      <p:sp>
        <p:nvSpPr>
          <p:cNvPr id="24" name="Text 21"/>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5" name="Text 22"/>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ACCREDITATIONS</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Certifications on file</a:t>
            </a:r>
            <a:endParaRPr lang="en-US" sz="3400" dirty="0"/>
          </a:p>
        </p:txBody>
      </p:sp>
      <p:sp>
        <p:nvSpPr>
          <p:cNvPr id="5" name="Shape 3"/>
          <p:cNvSpPr/>
          <p:nvPr/>
        </p:nvSpPr>
        <p:spPr>
          <a:xfrm>
            <a:off x="640080" y="1828800"/>
            <a:ext cx="5486400" cy="2286000"/>
          </a:xfrm>
          <a:prstGeom prst="roundRect">
            <a:avLst>
              <a:gd name="adj" fmla="val 2000"/>
            </a:avLst>
          </a:prstGeom>
          <a:solidFill>
            <a:srgbClr val="FFFFFF"/>
          </a:solidFill>
          <a:ln w="12700">
            <a:solidFill>
              <a:srgbClr val="FFFFFF"/>
            </a:solidFill>
            <a:prstDash val="solid"/>
          </a:ln>
          <a:effectLst>
            <a:outerShdw sx="100000" sy="100000" kx="0" ky="0" algn="bl" rotWithShape="0" blurRad="177800" dist="25400" dir="5400000">
              <a:srgbClr val="000000">
                <a:alpha val="12000"/>
              </a:srgbClr>
            </a:outerShdw>
          </a:effectLst>
        </p:spPr>
      </p:sp>
      <p:pic>
        <p:nvPicPr>
          <p:cNvPr id="6" name="Image 0" descr="/home/user/coco-palms/build/img/certs.jpg">    </p:cNvPr>
          <p:cNvPicPr>
            <a:picLocks noChangeAspect="1"/>
          </p:cNvPicPr>
          <p:nvPr/>
        </p:nvPicPr>
        <p:blipFill>
          <a:blip r:embed="rId1"/>
          <a:srcRect l="0" r="0" t="0" b="0"/>
          <a:stretch/>
        </p:blipFill>
        <p:spPr>
          <a:xfrm>
            <a:off x="777240" y="1965960"/>
            <a:ext cx="5212080" cy="2011680"/>
          </a:xfrm>
          <a:prstGeom prst="rect">
            <a:avLst/>
          </a:prstGeom>
        </p:spPr>
      </p:pic>
      <p:sp>
        <p:nvSpPr>
          <p:cNvPr id="7" name="Text 4"/>
          <p:cNvSpPr/>
          <p:nvPr/>
        </p:nvSpPr>
        <p:spPr>
          <a:xfrm>
            <a:off x="640080" y="4224528"/>
            <a:ext cx="548640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Certification marks as presented in the company profile film</a:t>
            </a:r>
            <a:endParaRPr lang="en-US" sz="950" dirty="0"/>
          </a:p>
        </p:txBody>
      </p:sp>
      <p:sp>
        <p:nvSpPr>
          <p:cNvPr id="8" name="Text 5"/>
          <p:cNvSpPr/>
          <p:nvPr/>
        </p:nvSpPr>
        <p:spPr>
          <a:xfrm>
            <a:off x="6693408" y="1810512"/>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ISO 9001</a:t>
            </a:r>
            <a:endParaRPr lang="en-US" sz="1350" dirty="0"/>
          </a:p>
        </p:txBody>
      </p:sp>
      <p:sp>
        <p:nvSpPr>
          <p:cNvPr id="9" name="Text 6"/>
          <p:cNvSpPr/>
          <p:nvPr/>
        </p:nvSpPr>
        <p:spPr>
          <a:xfrm>
            <a:off x="6693408" y="2057400"/>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Quality management system</a:t>
            </a:r>
            <a:endParaRPr lang="en-US" sz="1050" dirty="0"/>
          </a:p>
        </p:txBody>
      </p:sp>
      <p:sp>
        <p:nvSpPr>
          <p:cNvPr id="10" name="Text 7"/>
          <p:cNvSpPr/>
          <p:nvPr/>
        </p:nvSpPr>
        <p:spPr>
          <a:xfrm>
            <a:off x="6693408" y="2377440"/>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FSSAI</a:t>
            </a:r>
            <a:endParaRPr lang="en-US" sz="1350" dirty="0"/>
          </a:p>
        </p:txBody>
      </p:sp>
      <p:sp>
        <p:nvSpPr>
          <p:cNvPr id="11" name="Text 8"/>
          <p:cNvSpPr/>
          <p:nvPr/>
        </p:nvSpPr>
        <p:spPr>
          <a:xfrm>
            <a:off x="6693408" y="2624328"/>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Food licence, Government of India</a:t>
            </a:r>
            <a:endParaRPr lang="en-US" sz="1050" dirty="0"/>
          </a:p>
        </p:txBody>
      </p:sp>
      <p:sp>
        <p:nvSpPr>
          <p:cNvPr id="12" name="Text 9"/>
          <p:cNvSpPr/>
          <p:nvPr/>
        </p:nvSpPr>
        <p:spPr>
          <a:xfrm>
            <a:off x="6693408" y="2944368"/>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NABL</a:t>
            </a:r>
            <a:endParaRPr lang="en-US" sz="1350" dirty="0"/>
          </a:p>
        </p:txBody>
      </p:sp>
      <p:sp>
        <p:nvSpPr>
          <p:cNvPr id="13" name="Text 10"/>
          <p:cNvSpPr/>
          <p:nvPr/>
        </p:nvSpPr>
        <p:spPr>
          <a:xfrm>
            <a:off x="6693408" y="3191256"/>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Laboratory accreditation</a:t>
            </a:r>
            <a:endParaRPr lang="en-US" sz="1050" dirty="0"/>
          </a:p>
        </p:txBody>
      </p:sp>
      <p:sp>
        <p:nvSpPr>
          <p:cNvPr id="14" name="Text 11"/>
          <p:cNvSpPr/>
          <p:nvPr/>
        </p:nvSpPr>
        <p:spPr>
          <a:xfrm>
            <a:off x="6693408" y="3511296"/>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BRIT QUALIS</a:t>
            </a:r>
            <a:endParaRPr lang="en-US" sz="1350" dirty="0"/>
          </a:p>
        </p:txBody>
      </p:sp>
      <p:sp>
        <p:nvSpPr>
          <p:cNvPr id="15" name="Text 12"/>
          <p:cNvSpPr/>
          <p:nvPr/>
        </p:nvSpPr>
        <p:spPr>
          <a:xfrm>
            <a:off x="6693408" y="3758184"/>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Two certificates held</a:t>
            </a:r>
            <a:endParaRPr lang="en-US" sz="1050" dirty="0"/>
          </a:p>
        </p:txBody>
      </p:sp>
      <p:sp>
        <p:nvSpPr>
          <p:cNvPr id="16" name="Text 13"/>
          <p:cNvSpPr/>
          <p:nvPr/>
        </p:nvSpPr>
        <p:spPr>
          <a:xfrm>
            <a:off x="6693408" y="4078224"/>
            <a:ext cx="4858207" cy="256032"/>
          </a:xfrm>
          <a:prstGeom prst="rect">
            <a:avLst/>
          </a:prstGeom>
          <a:noFill/>
          <a:ln/>
        </p:spPr>
        <p:txBody>
          <a:bodyPr wrap="square" lIns="0" tIns="0" rIns="0" bIns="0" rtlCol="0" anchor="ctr"/>
          <a:lstStyle/>
          <a:p>
            <a:pPr indent="0" marL="0">
              <a:buNone/>
            </a:pPr>
            <a:r>
              <a:rPr lang="en-US" sz="1350" b="1" dirty="0">
                <a:solidFill>
                  <a:srgbClr val="14532D"/>
                </a:solidFill>
                <a:latin typeface="Cambria" pitchFamily="34" charset="0"/>
                <a:ea typeface="Cambria" pitchFamily="34" charset="-122"/>
                <a:cs typeface="Cambria" pitchFamily="34" charset="-120"/>
              </a:rPr>
              <a:t>National Test House</a:t>
            </a:r>
            <a:endParaRPr lang="en-US" sz="1350" dirty="0"/>
          </a:p>
        </p:txBody>
      </p:sp>
      <p:sp>
        <p:nvSpPr>
          <p:cNvPr id="17" name="Text 14"/>
          <p:cNvSpPr/>
          <p:nvPr/>
        </p:nvSpPr>
        <p:spPr>
          <a:xfrm>
            <a:off x="6693408" y="4325112"/>
            <a:ext cx="4858207" cy="237744"/>
          </a:xfrm>
          <a:prstGeom prst="rect">
            <a:avLst/>
          </a:prstGeom>
          <a:noFill/>
          <a:ln/>
        </p:spPr>
        <p:txBody>
          <a:bodyPr wrap="square" lIns="0" tIns="0" rIns="0" bIns="0" rtlCol="0" anchor="ctr"/>
          <a:lstStyle/>
          <a:p>
            <a:pPr indent="0" marL="0">
              <a:buNone/>
            </a:pPr>
            <a:r>
              <a:rPr lang="en-US" sz="1050" dirty="0">
                <a:solidFill>
                  <a:srgbClr val="6E7A6F"/>
                </a:solidFill>
                <a:latin typeface="Calibri" pitchFamily="34" charset="0"/>
                <a:ea typeface="Calibri" pitchFamily="34" charset="-122"/>
                <a:cs typeface="Calibri" pitchFamily="34" charset="-120"/>
              </a:rPr>
              <a:t>Government test certificate</a:t>
            </a:r>
            <a:endParaRPr lang="en-US" sz="1050" dirty="0"/>
          </a:p>
        </p:txBody>
      </p:sp>
      <p:sp>
        <p:nvSpPr>
          <p:cNvPr id="18" name="Shape 15"/>
          <p:cNvSpPr/>
          <p:nvPr/>
        </p:nvSpPr>
        <p:spPr>
          <a:xfrm>
            <a:off x="640080" y="4882896"/>
            <a:ext cx="10911535" cy="1133856"/>
          </a:xfrm>
          <a:prstGeom prst="roundRect">
            <a:avLst>
              <a:gd name="adj" fmla="val 4839"/>
            </a:avLst>
          </a:prstGeom>
          <a:solidFill>
            <a:srgbClr val="F1F5EF"/>
          </a:solidFill>
          <a:ln w="12700">
            <a:solidFill>
              <a:srgbClr val="F1F5EF"/>
            </a:solidFill>
            <a:prstDash val="solid"/>
          </a:ln>
        </p:spPr>
      </p:sp>
      <p:sp>
        <p:nvSpPr>
          <p:cNvPr id="19" name="Text 16"/>
          <p:cNvSpPr/>
          <p:nvPr/>
        </p:nvSpPr>
        <p:spPr>
          <a:xfrm>
            <a:off x="914400" y="5010912"/>
            <a:ext cx="10362895" cy="274320"/>
          </a:xfrm>
          <a:prstGeom prst="rect">
            <a:avLst/>
          </a:prstGeom>
          <a:noFill/>
          <a:ln/>
        </p:spPr>
        <p:txBody>
          <a:bodyPr wrap="square" lIns="0" tIns="0" rIns="0" bIns="0" rtlCol="0" anchor="ctr"/>
          <a:lstStyle/>
          <a:p>
            <a:pPr indent="0" marL="0">
              <a:buNone/>
            </a:pPr>
            <a:r>
              <a:rPr lang="en-US" sz="1100" b="1" spc="140" kern="0" dirty="0">
                <a:solidFill>
                  <a:srgbClr val="14532D"/>
                </a:solidFill>
                <a:latin typeface="Calibri" pitchFamily="34" charset="0"/>
                <a:ea typeface="Calibri" pitchFamily="34" charset="-122"/>
                <a:cs typeface="Calibri" pitchFamily="34" charset="-120"/>
              </a:rPr>
              <a:t>Still needed for an export pack</a:t>
            </a:r>
            <a:endParaRPr lang="en-US" sz="1100" dirty="0"/>
          </a:p>
        </p:txBody>
      </p:sp>
      <p:sp>
        <p:nvSpPr>
          <p:cNvPr id="20" name="Text 17"/>
          <p:cNvSpPr/>
          <p:nvPr/>
        </p:nvSpPr>
        <p:spPr>
          <a:xfrm>
            <a:off x="914400" y="5340096"/>
            <a:ext cx="10362895" cy="548640"/>
          </a:xfrm>
          <a:prstGeom prst="rect">
            <a:avLst/>
          </a:prstGeom>
          <a:noFill/>
          <a:ln/>
        </p:spPr>
        <p:txBody>
          <a:bodyPr wrap="square" lIns="0" tIns="0" rIns="0" bIns="0" rtlCol="0" anchor="t"/>
          <a:lstStyle/>
          <a:p>
            <a:pPr indent="0" marL="0">
              <a:lnSpc>
                <a:spcPct val="120000"/>
              </a:lnSpc>
              <a:buNone/>
            </a:pPr>
            <a:r>
              <a:rPr lang="en-US" sz="1150" dirty="0">
                <a:solidFill>
                  <a:srgbClr val="232C24"/>
                </a:solidFill>
                <a:latin typeface="Calibri" pitchFamily="34" charset="0"/>
                <a:ea typeface="Calibri" pitchFamily="34" charset="-122"/>
                <a:cs typeface="Calibri" pitchFamily="34" charset="-120"/>
              </a:rPr>
              <a:t>Certificate numbers and validity dates for each mark above  ·  organic / Fairtrade status if held  ·  importing-country registrations (US FDA, EU, GCC) as applicable.</a:t>
            </a:r>
            <a:endParaRPr lang="en-US" sz="1150" dirty="0"/>
          </a:p>
        </p:txBody>
      </p:sp>
      <p:sp>
        <p:nvSpPr>
          <p:cNvPr id="21" name="Text 18"/>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22" name="Text 19"/>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COMMERCIAL</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Packaging, logistics and terms</a:t>
            </a:r>
            <a:endParaRPr lang="en-US" sz="3400" dirty="0"/>
          </a:p>
        </p:txBody>
      </p:sp>
      <p:sp>
        <p:nvSpPr>
          <p:cNvPr id="5" name="Text 3"/>
          <p:cNvSpPr/>
          <p:nvPr/>
        </p:nvSpPr>
        <p:spPr>
          <a:xfrm>
            <a:off x="640080" y="1682496"/>
            <a:ext cx="7498080" cy="420624"/>
          </a:xfrm>
          <a:prstGeom prst="rect">
            <a:avLst/>
          </a:prstGeom>
          <a:noFill/>
          <a:ln/>
        </p:spPr>
        <p:txBody>
          <a:bodyPr wrap="square" lIns="0" tIns="0" rIns="0" bIns="0" rtlCol="0" anchor="ctr"/>
          <a:lstStyle/>
          <a:p>
            <a:pPr indent="0" marL="0">
              <a:lnSpc>
                <a:spcPct val="120000"/>
              </a:lnSpc>
              <a:buNone/>
            </a:pPr>
            <a:r>
              <a:rPr lang="en-US" sz="1200" i="1" dirty="0">
                <a:solidFill>
                  <a:srgbClr val="6E7A6F"/>
                </a:solidFill>
                <a:latin typeface="Calibri" pitchFamily="34" charset="0"/>
                <a:ea typeface="Calibri" pitchFamily="34" charset="-122"/>
                <a:cs typeface="Calibri" pitchFamily="34" charset="-120"/>
              </a:rPr>
              <a:t>Standard terms below. All are negotiable against confirmed volume and destination.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212848"/>
          <a:ext cx="7498080" cy="914400"/>
        </p:xfrm>
        <a:graphic>
          <a:graphicData uri="http://schemas.openxmlformats.org/drawingml/2006/table">
            <a:tbl>
              <a:tblPr/>
              <a:tblGrid>
                <a:gridCol w="3299155"/>
                <a:gridCol w="4198925"/>
              </a:tblGrid>
              <a:tr h="365760">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b="1" dirty="0">
                          <a:solidFill>
                            <a:srgbClr val="232C24"/>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Retail pack sizes</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200 ml · 500 ml · 1 L PET · 5 L jerrycan</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Bulk pack format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15 kg tin · 200 kg HDPE drum · flexitank</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Minimum order quantity</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One 20ft FCL</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Units per 20ft / 40ft container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16-18 MT / 24-26 MT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Port of loading</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Chennai / Ennore, Tamil Nadu</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Lead time from order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15-21 days from confirmed order</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Incoterms offered</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FOB · CFR · CIF</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Payment terms</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30% advance, balance vs B/L; or L/C at sight</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Private label / OEM</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Available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Shelf life</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c>
                  <a:txBody>
                    <a:bodyPr/>
                    <a:lstStyle/>
                    <a:p>
                      <a:pPr indent="0" marL="0">
                        <a:buNone/>
                      </a:pPr>
                      <a:r>
                        <a:rPr lang="en-US" sz="1100" dirty="0">
                          <a:solidFill>
                            <a:srgbClr val="232C24"/>
                          </a:solidFill>
                          <a:latin typeface="Calibri" pitchFamily="34" charset="0"/>
                          <a:ea typeface="Calibri" pitchFamily="34" charset="-122"/>
                          <a:cs typeface="Calibri" pitchFamily="34" charset="-120"/>
                        </a:rPr>
                        <a:t>18 months in original sealed pack</a:t>
                      </a:r>
                      <a:endParaRPr lang="en-US" sz="1100" dirty="0">
                        <a:latin typeface="Calibri" charset="0"/>
                        <a:ea typeface="Calibri" charset="0"/>
                        <a:cs typeface="Calibri" charset="0"/>
                      </a:endParaRPr>
                    </a:p>
                  </a:txBody>
                  <a:tcPr marL="109728" marR="109728" marT="0" marB="0" anchor="ctr">
                    <a:lnL w="9525" cap="flat" cmpd="sng" algn="ctr">
                      <a:solidFill>
                        <a:srgbClr val="DDE5DB"/>
                      </a:solidFill>
                      <a:prstDash val="solid"/>
                      <a:round/>
                      <a:headEnd type="none" w="med" len="med"/>
                      <a:tailEnd type="none" w="med" len="med"/>
                    </a:lnL>
                    <a:lnR w="9525" cap="flat" cmpd="sng" algn="ctr">
                      <a:solidFill>
                        <a:srgbClr val="DDE5DB"/>
                      </a:solidFill>
                      <a:prstDash val="solid"/>
                      <a:round/>
                      <a:headEnd type="none" w="med" len="med"/>
                      <a:tailEnd type="none" w="med" len="med"/>
                    </a:lnR>
                    <a:lnT w="9525" cap="flat" cmpd="sng" algn="ctr">
                      <a:solidFill>
                        <a:srgbClr val="DDE5DB"/>
                      </a:solidFill>
                      <a:prstDash val="solid"/>
                      <a:round/>
                      <a:headEnd type="none" w="med" len="med"/>
                      <a:tailEnd type="none" w="med" len="med"/>
                    </a:lnT>
                    <a:lnB w="9525" cap="flat" cmpd="sng" algn="ctr">
                      <a:solidFill>
                        <a:srgbClr val="DDE5DB"/>
                      </a:solidFill>
                      <a:prstDash val="solid"/>
                      <a:round/>
                      <a:headEnd type="none" w="med" len="med"/>
                      <a:tailEnd type="none" w="med" len="med"/>
                    </a:lnB>
                    <a:solidFill>
                      <a:srgbClr val="FFFFFF"/>
                    </a:solidFill>
                  </a:tcPr>
                </a:tc>
              </a:tr>
            </a:tbl>
          </a:graphicData>
        </a:graphic>
      </p:graphicFrame>
      <p:pic>
        <p:nvPicPr>
          <p:cNvPr id="7" name="Image 0" descr="/home/user/coco-palms/build/img/machine2.jpg">    </p:cNvPr>
          <p:cNvPicPr>
            <a:picLocks noChangeAspect="1"/>
          </p:cNvPicPr>
          <p:nvPr/>
        </p:nvPicPr>
        <p:blipFill>
          <a:blip r:embed="rId1"/>
          <a:srcRect l="0" r="0" t="0" b="0"/>
          <a:stretch/>
        </p:blipFill>
        <p:spPr>
          <a:xfrm>
            <a:off x="8686800" y="2212848"/>
            <a:ext cx="2864815" cy="1920240"/>
          </a:xfrm>
          <a:prstGeom prst="rect">
            <a:avLst/>
          </a:prstGeom>
        </p:spPr>
      </p:pic>
      <p:sp>
        <p:nvSpPr>
          <p:cNvPr id="8" name="Text 4"/>
          <p:cNvSpPr/>
          <p:nvPr/>
        </p:nvSpPr>
        <p:spPr>
          <a:xfrm>
            <a:off x="8686800" y="4206240"/>
            <a:ext cx="2864815"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Handling between drying and finishing</a:t>
            </a:r>
            <a:endParaRPr lang="en-US" sz="950" dirty="0"/>
          </a:p>
        </p:txBody>
      </p:sp>
      <p:sp>
        <p:nvSpPr>
          <p:cNvPr id="9" name="Shape 5"/>
          <p:cNvSpPr/>
          <p:nvPr/>
        </p:nvSpPr>
        <p:spPr>
          <a:xfrm>
            <a:off x="8686800" y="4608576"/>
            <a:ext cx="2864815" cy="1408176"/>
          </a:xfrm>
          <a:prstGeom prst="roundRect">
            <a:avLst>
              <a:gd name="adj" fmla="val 3896"/>
            </a:avLst>
          </a:prstGeom>
          <a:solidFill>
            <a:srgbClr val="14532D"/>
          </a:solidFill>
          <a:ln w="12700">
            <a:solidFill>
              <a:srgbClr val="14532D"/>
            </a:solidFill>
            <a:prstDash val="solid"/>
          </a:ln>
        </p:spPr>
      </p:sp>
      <p:sp>
        <p:nvSpPr>
          <p:cNvPr id="10" name="Text 6"/>
          <p:cNvSpPr/>
          <p:nvPr/>
        </p:nvSpPr>
        <p:spPr>
          <a:xfrm>
            <a:off x="8924544" y="4754880"/>
            <a:ext cx="2389327" cy="274320"/>
          </a:xfrm>
          <a:prstGeom prst="rect">
            <a:avLst/>
          </a:prstGeom>
          <a:noFill/>
          <a:ln/>
        </p:spPr>
        <p:txBody>
          <a:bodyPr wrap="square" lIns="0" tIns="0" rIns="0" bIns="0" rtlCol="0" anchor="ctr"/>
          <a:lstStyle/>
          <a:p>
            <a:pPr indent="0" marL="0">
              <a:buNone/>
            </a:pPr>
            <a:r>
              <a:rPr lang="en-US" sz="1050" b="1" spc="130" kern="0" dirty="0">
                <a:solidFill>
                  <a:srgbClr val="E3C171"/>
                </a:solidFill>
                <a:latin typeface="Calibri" pitchFamily="34" charset="0"/>
                <a:ea typeface="Calibri" pitchFamily="34" charset="-122"/>
                <a:cs typeface="Calibri" pitchFamily="34" charset="-120"/>
              </a:rPr>
              <a:t>Flexible on structure</a:t>
            </a:r>
            <a:endParaRPr lang="en-US" sz="1050" dirty="0"/>
          </a:p>
        </p:txBody>
      </p:sp>
      <p:sp>
        <p:nvSpPr>
          <p:cNvPr id="11" name="Text 7"/>
          <p:cNvSpPr/>
          <p:nvPr/>
        </p:nvSpPr>
        <p:spPr>
          <a:xfrm>
            <a:off x="8924544" y="5065776"/>
            <a:ext cx="2389327" cy="82296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Tell us your volume, pack format and destination port and we will quote FOB or CIF against it.</a:t>
            </a:r>
            <a:endParaRPr lang="en-US" sz="1050" dirty="0"/>
          </a:p>
        </p:txBody>
      </p:sp>
      <p:sp>
        <p:nvSpPr>
          <p:cNvPr id="12" name="Text 8"/>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3" name="Text 9"/>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640080" y="566928"/>
            <a:ext cx="10911535" cy="256032"/>
          </a:xfrm>
          <a:prstGeom prst="rect">
            <a:avLst/>
          </a:prstGeom>
          <a:noFill/>
          <a:ln/>
        </p:spPr>
        <p:txBody>
          <a:bodyPr wrap="square" lIns="0" tIns="0" rIns="0" bIns="0" rtlCol="0" anchor="ctr"/>
          <a:lstStyle/>
          <a:p>
            <a:pPr indent="0" marL="0">
              <a:buNone/>
            </a:pPr>
            <a:r>
              <a:rPr lang="en-US" sz="1150" b="1" spc="240" kern="0" dirty="0">
                <a:solidFill>
                  <a:srgbClr val="B8860F"/>
                </a:solidFill>
                <a:latin typeface="Calibri" pitchFamily="34" charset="0"/>
                <a:ea typeface="Calibri" pitchFamily="34" charset="-122"/>
                <a:cs typeface="Calibri" pitchFamily="34" charset="-120"/>
              </a:rPr>
              <a:t>LEADERSHIP</a:t>
            </a:r>
            <a:endParaRPr lang="en-US" sz="1150" dirty="0"/>
          </a:p>
        </p:txBody>
      </p:sp>
      <p:sp>
        <p:nvSpPr>
          <p:cNvPr id="4" name="Text 2"/>
          <p:cNvSpPr/>
          <p:nvPr/>
        </p:nvSpPr>
        <p:spPr>
          <a:xfrm>
            <a:off x="640080" y="877824"/>
            <a:ext cx="10911535" cy="749808"/>
          </a:xfrm>
          <a:prstGeom prst="rect">
            <a:avLst/>
          </a:prstGeom>
          <a:noFill/>
          <a:ln/>
        </p:spPr>
        <p:txBody>
          <a:bodyPr wrap="square" lIns="0" tIns="0" rIns="0" bIns="0" rtlCol="0" anchor="t"/>
          <a:lstStyle/>
          <a:p>
            <a:pPr indent="0" marL="0">
              <a:buNone/>
            </a:pPr>
            <a:r>
              <a:rPr lang="en-US" sz="3400" b="1" dirty="0">
                <a:solidFill>
                  <a:srgbClr val="14532D"/>
                </a:solidFill>
                <a:latin typeface="Cambria" pitchFamily="34" charset="0"/>
                <a:ea typeface="Cambria" pitchFamily="34" charset="-122"/>
                <a:cs typeface="Cambria" pitchFamily="34" charset="-120"/>
              </a:rPr>
              <a:t>The people behind the plant</a:t>
            </a:r>
            <a:endParaRPr lang="en-US" sz="3400" dirty="0"/>
          </a:p>
        </p:txBody>
      </p:sp>
      <p:pic>
        <p:nvPicPr>
          <p:cNvPr id="5" name="Image 0" descr="/home/user/coco-palms/build/img/founder.jpg">    </p:cNvPr>
          <p:cNvPicPr>
            <a:picLocks noChangeAspect="1"/>
          </p:cNvPicPr>
          <p:nvPr/>
        </p:nvPicPr>
        <p:blipFill>
          <a:blip r:embed="rId1"/>
          <a:srcRect l="0" r="0" t="0" b="0"/>
          <a:stretch/>
        </p:blipFill>
        <p:spPr>
          <a:xfrm>
            <a:off x="640080" y="1810512"/>
            <a:ext cx="5394960" cy="2871216"/>
          </a:xfrm>
          <a:prstGeom prst="rect">
            <a:avLst/>
          </a:prstGeom>
        </p:spPr>
      </p:pic>
      <p:sp>
        <p:nvSpPr>
          <p:cNvPr id="6" name="Text 3"/>
          <p:cNvSpPr/>
          <p:nvPr/>
        </p:nvSpPr>
        <p:spPr>
          <a:xfrm>
            <a:off x="640080" y="4754880"/>
            <a:ext cx="539496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Speaking to camera at the plant office</a:t>
            </a:r>
            <a:endParaRPr lang="en-US" sz="950" dirty="0"/>
          </a:p>
        </p:txBody>
      </p:sp>
      <p:pic>
        <p:nvPicPr>
          <p:cNvPr id="7" name="Image 1" descr="/home/user/coco-palms/build/img/team.jpg">    </p:cNvPr>
          <p:cNvPicPr>
            <a:picLocks noChangeAspect="1"/>
          </p:cNvPicPr>
          <p:nvPr/>
        </p:nvPicPr>
        <p:blipFill>
          <a:blip r:embed="rId2"/>
          <a:srcRect l="0" r="0" t="0" b="0"/>
          <a:stretch/>
        </p:blipFill>
        <p:spPr>
          <a:xfrm>
            <a:off x="640080" y="5157216"/>
            <a:ext cx="5394960" cy="1060704"/>
          </a:xfrm>
          <a:prstGeom prst="rect">
            <a:avLst/>
          </a:prstGeom>
        </p:spPr>
      </p:pic>
      <p:sp>
        <p:nvSpPr>
          <p:cNvPr id="8" name="Text 4"/>
          <p:cNvSpPr/>
          <p:nvPr/>
        </p:nvSpPr>
        <p:spPr>
          <a:xfrm>
            <a:off x="640080" y="6272784"/>
            <a:ext cx="5394960" cy="274320"/>
          </a:xfrm>
          <a:prstGeom prst="rect">
            <a:avLst/>
          </a:prstGeom>
          <a:noFill/>
          <a:ln/>
        </p:spPr>
        <p:txBody>
          <a:bodyPr wrap="square" lIns="0" tIns="0" rIns="0" bIns="0" rtlCol="0" anchor="ctr"/>
          <a:lstStyle/>
          <a:p>
            <a:pPr indent="0" marL="0">
              <a:buNone/>
            </a:pPr>
            <a:r>
              <a:rPr lang="en-US" sz="950" i="1" dirty="0">
                <a:solidFill>
                  <a:srgbClr val="6E7A6F"/>
                </a:solidFill>
                <a:latin typeface="Calibri" pitchFamily="34" charset="0"/>
                <a:ea typeface="Calibri" pitchFamily="34" charset="-122"/>
                <a:cs typeface="Calibri" pitchFamily="34" charset="-120"/>
              </a:rPr>
              <a:t>Review meeting with the plant team</a:t>
            </a:r>
            <a:endParaRPr lang="en-US" sz="950" dirty="0"/>
          </a:p>
        </p:txBody>
      </p:sp>
      <p:sp>
        <p:nvSpPr>
          <p:cNvPr id="9" name="Shape 5"/>
          <p:cNvSpPr/>
          <p:nvPr/>
        </p:nvSpPr>
        <p:spPr>
          <a:xfrm>
            <a:off x="6601968" y="1810512"/>
            <a:ext cx="4949647" cy="2157984"/>
          </a:xfrm>
          <a:prstGeom prst="roundRect">
            <a:avLst>
              <a:gd name="adj" fmla="val 2542"/>
            </a:avLst>
          </a:prstGeom>
          <a:solidFill>
            <a:srgbClr val="F1F5EF"/>
          </a:solidFill>
          <a:ln w="12700">
            <a:solidFill>
              <a:srgbClr val="F1F5EF"/>
            </a:solidFill>
            <a:prstDash val="solid"/>
          </a:ln>
        </p:spPr>
      </p:sp>
      <p:sp>
        <p:nvSpPr>
          <p:cNvPr id="10" name="Text 6"/>
          <p:cNvSpPr/>
          <p:nvPr/>
        </p:nvSpPr>
        <p:spPr>
          <a:xfrm>
            <a:off x="6876288" y="2011680"/>
            <a:ext cx="4401007" cy="822960"/>
          </a:xfrm>
          <a:prstGeom prst="rect">
            <a:avLst/>
          </a:prstGeom>
          <a:noFill/>
          <a:ln/>
        </p:spPr>
        <p:txBody>
          <a:bodyPr wrap="square" lIns="0" tIns="0" rIns="0" bIns="0" rtlCol="0" anchor="t"/>
          <a:lstStyle/>
          <a:p>
            <a:pPr indent="0" marL="0">
              <a:lnSpc>
                <a:spcPct val="120000"/>
              </a:lnSpc>
              <a:buNone/>
            </a:pPr>
            <a:r>
              <a:rPr lang="en-US" sz="1900" i="1" dirty="0">
                <a:solidFill>
                  <a:srgbClr val="14532D"/>
                </a:solidFill>
                <a:latin typeface="Cambria" pitchFamily="34" charset="0"/>
                <a:ea typeface="Cambria" pitchFamily="34" charset="-122"/>
                <a:cs typeface="Cambria" pitchFamily="34" charset="-120"/>
              </a:rPr>
              <a:t>“TO CONFIRM”</a:t>
            </a:r>
            <a:endParaRPr lang="en-US" sz="1900" dirty="0"/>
          </a:p>
        </p:txBody>
      </p:sp>
      <p:sp>
        <p:nvSpPr>
          <p:cNvPr id="11" name="Text 7"/>
          <p:cNvSpPr/>
          <p:nvPr/>
        </p:nvSpPr>
        <p:spPr>
          <a:xfrm>
            <a:off x="6876288" y="3035808"/>
            <a:ext cx="4401007" cy="694944"/>
          </a:xfrm>
          <a:prstGeom prst="rect">
            <a:avLst/>
          </a:prstGeom>
          <a:noFill/>
          <a:ln/>
        </p:spPr>
        <p:txBody>
          <a:bodyPr wrap="square" lIns="0" tIns="0" rIns="0" bIns="0" rtlCol="0" anchor="t"/>
          <a:lstStyle/>
          <a:p>
            <a:pPr indent="0" marL="0">
              <a:lnSpc>
                <a:spcPct val="118000"/>
              </a:lnSpc>
              <a:buNone/>
            </a:pPr>
            <a:r>
              <a:rPr lang="en-US" sz="1050" i="1" dirty="0">
                <a:solidFill>
                  <a:srgbClr val="6E7A6F"/>
                </a:solidFill>
                <a:latin typeface="Calibri" pitchFamily="34" charset="0"/>
                <a:ea typeface="Calibri" pitchFamily="34" charset="-122"/>
                <a:cs typeface="Calibri" pitchFamily="34" charset="-120"/>
              </a:rPr>
              <a:t>A two-line statement on standards, and on why the plant was built the way it was.</a:t>
            </a:r>
            <a:endParaRPr lang="en-US" sz="1050" dirty="0"/>
          </a:p>
        </p:txBody>
      </p:sp>
      <p:sp>
        <p:nvSpPr>
          <p:cNvPr id="12" name="Text 8"/>
          <p:cNvSpPr/>
          <p:nvPr/>
        </p:nvSpPr>
        <p:spPr>
          <a:xfrm>
            <a:off x="6601968" y="42611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Name</a:t>
            </a:r>
            <a:endParaRPr lang="en-US" sz="1150" dirty="0"/>
          </a:p>
        </p:txBody>
      </p:sp>
      <p:sp>
        <p:nvSpPr>
          <p:cNvPr id="13" name="Text 9"/>
          <p:cNvSpPr/>
          <p:nvPr/>
        </p:nvSpPr>
        <p:spPr>
          <a:xfrm>
            <a:off x="8979408" y="42611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4" name="Text 10"/>
          <p:cNvSpPr/>
          <p:nvPr/>
        </p:nvSpPr>
        <p:spPr>
          <a:xfrm>
            <a:off x="6601968" y="47183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Title</a:t>
            </a:r>
            <a:endParaRPr lang="en-US" sz="1150" dirty="0"/>
          </a:p>
        </p:txBody>
      </p:sp>
      <p:sp>
        <p:nvSpPr>
          <p:cNvPr id="15" name="Text 11"/>
          <p:cNvSpPr/>
          <p:nvPr/>
        </p:nvSpPr>
        <p:spPr>
          <a:xfrm>
            <a:off x="8979408" y="47183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6" name="Text 12"/>
          <p:cNvSpPr/>
          <p:nvPr/>
        </p:nvSpPr>
        <p:spPr>
          <a:xfrm>
            <a:off x="6601968" y="5175504"/>
            <a:ext cx="2377440" cy="274320"/>
          </a:xfrm>
          <a:prstGeom prst="rect">
            <a:avLst/>
          </a:prstGeom>
          <a:noFill/>
          <a:ln/>
        </p:spPr>
        <p:txBody>
          <a:bodyPr wrap="square" lIns="0" tIns="0" rIns="0" bIns="0" rtlCol="0" anchor="ctr"/>
          <a:lstStyle/>
          <a:p>
            <a:pPr indent="0" marL="0">
              <a:buNone/>
            </a:pPr>
            <a:r>
              <a:rPr lang="en-US" sz="1150" b="1" spc="80" kern="0" dirty="0">
                <a:solidFill>
                  <a:srgbClr val="6E7A6F"/>
                </a:solidFill>
                <a:latin typeface="Calibri" pitchFamily="34" charset="0"/>
                <a:ea typeface="Calibri" pitchFamily="34" charset="-122"/>
                <a:cs typeface="Calibri" pitchFamily="34" charset="-120"/>
              </a:rPr>
              <a:t>Years in coconut processing</a:t>
            </a:r>
            <a:endParaRPr lang="en-US" sz="1150" dirty="0"/>
          </a:p>
        </p:txBody>
      </p:sp>
      <p:sp>
        <p:nvSpPr>
          <p:cNvPr id="17" name="Text 13"/>
          <p:cNvSpPr/>
          <p:nvPr/>
        </p:nvSpPr>
        <p:spPr>
          <a:xfrm>
            <a:off x="8979408" y="5175504"/>
            <a:ext cx="2572207" cy="274320"/>
          </a:xfrm>
          <a:prstGeom prst="rect">
            <a:avLst/>
          </a:prstGeom>
          <a:noFill/>
          <a:ln/>
        </p:spPr>
        <p:txBody>
          <a:bodyPr wrap="square" lIns="0" tIns="0" rIns="0" bIns="0" rtlCol="0" anchor="ctr"/>
          <a:lstStyle/>
          <a:p>
            <a:pPr indent="0" marL="0">
              <a:buNone/>
            </a:pPr>
            <a:r>
              <a:rPr lang="en-US" sz="1100" b="1" i="1" spc="120" kern="0" dirty="0">
                <a:solidFill>
                  <a:srgbClr val="B8860F"/>
                </a:solidFill>
                <a:latin typeface="Calibri" pitchFamily="34" charset="0"/>
                <a:ea typeface="Calibri" pitchFamily="34" charset="-122"/>
                <a:cs typeface="Calibri" pitchFamily="34" charset="-120"/>
              </a:rPr>
              <a:t>TO CONFIRM</a:t>
            </a:r>
            <a:endParaRPr lang="en-US" sz="1100" dirty="0"/>
          </a:p>
        </p:txBody>
      </p:sp>
      <p:sp>
        <p:nvSpPr>
          <p:cNvPr id="18" name="Text 14"/>
          <p:cNvSpPr/>
          <p:nvPr/>
        </p:nvSpPr>
        <p:spPr>
          <a:xfrm>
            <a:off x="6601968" y="6382512"/>
            <a:ext cx="5486400" cy="237744"/>
          </a:xfrm>
          <a:prstGeom prst="rect">
            <a:avLst/>
          </a:prstGeom>
          <a:noFill/>
          <a:ln/>
        </p:spPr>
        <p:txBody>
          <a:bodyPr wrap="square" lIns="0" tIns="0" rIns="0" bIns="0" rtlCol="0" anchor="ctr"/>
          <a:lstStyle/>
          <a:p>
            <a:pPr indent="0" marL="0">
              <a:buNone/>
            </a:pPr>
            <a:r>
              <a:rPr lang="en-US" sz="900" spc="60" kern="0" dirty="0">
                <a:solidFill>
                  <a:srgbClr val="6E7A6F"/>
                </a:solidFill>
                <a:latin typeface="Calibri" pitchFamily="34" charset="0"/>
                <a:ea typeface="Calibri" pitchFamily="34" charset="-122"/>
                <a:cs typeface="Calibri" pitchFamily="34" charset="-120"/>
              </a:rPr>
              <a:t>Coco Palms Skylanes and Allied Products</a:t>
            </a:r>
            <a:endParaRPr lang="en-US" sz="900" dirty="0"/>
          </a:p>
        </p:txBody>
      </p:sp>
      <p:sp>
        <p:nvSpPr>
          <p:cNvPr id="19" name="Text 15"/>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6E7A6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532D"/>
          </a:solidFill>
          <a:ln w="12700">
            <a:solidFill>
              <a:srgbClr val="14532D"/>
            </a:solidFill>
            <a:prstDash val="solid"/>
          </a:ln>
        </p:spPr>
      </p:sp>
      <p:sp>
        <p:nvSpPr>
          <p:cNvPr id="3" name="Text 1"/>
          <p:cNvSpPr/>
          <p:nvPr/>
        </p:nvSpPr>
        <p:spPr>
          <a:xfrm>
            <a:off x="640080" y="1133856"/>
            <a:ext cx="10911535" cy="256032"/>
          </a:xfrm>
          <a:prstGeom prst="rect">
            <a:avLst/>
          </a:prstGeom>
          <a:noFill/>
          <a:ln/>
        </p:spPr>
        <p:txBody>
          <a:bodyPr wrap="square" lIns="0" tIns="0" rIns="0" bIns="0" rtlCol="0" anchor="ctr"/>
          <a:lstStyle/>
          <a:p>
            <a:pPr indent="0" marL="0">
              <a:buNone/>
            </a:pPr>
            <a:r>
              <a:rPr lang="en-US" sz="1150" b="1" spc="240" kern="0" dirty="0">
                <a:solidFill>
                  <a:srgbClr val="E3C171"/>
                </a:solidFill>
                <a:latin typeface="Calibri" pitchFamily="34" charset="0"/>
                <a:ea typeface="Calibri" pitchFamily="34" charset="-122"/>
                <a:cs typeface="Calibri" pitchFamily="34" charset="-120"/>
              </a:rPr>
              <a:t>NEXT STEPS</a:t>
            </a:r>
            <a:endParaRPr lang="en-US" sz="1150" dirty="0"/>
          </a:p>
        </p:txBody>
      </p:sp>
      <p:sp>
        <p:nvSpPr>
          <p:cNvPr id="4" name="Text 2"/>
          <p:cNvSpPr/>
          <p:nvPr/>
        </p:nvSpPr>
        <p:spPr>
          <a:xfrm>
            <a:off x="640080" y="1463040"/>
            <a:ext cx="6766560" cy="78638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Let's talk specification</a:t>
            </a:r>
            <a:endParaRPr lang="en-US" sz="3400" dirty="0"/>
          </a:p>
        </p:txBody>
      </p:sp>
      <p:sp>
        <p:nvSpPr>
          <p:cNvPr id="5" name="Text 3"/>
          <p:cNvSpPr/>
          <p:nvPr/>
        </p:nvSpPr>
        <p:spPr>
          <a:xfrm>
            <a:off x="640080" y="2340864"/>
            <a:ext cx="6400800" cy="877824"/>
          </a:xfrm>
          <a:prstGeom prst="rect">
            <a:avLst/>
          </a:prstGeom>
          <a:noFill/>
          <a:ln/>
        </p:spPr>
        <p:txBody>
          <a:bodyPr wrap="square" lIns="0" tIns="0" rIns="0" bIns="0" rtlCol="0" anchor="t"/>
          <a:lstStyle/>
          <a:p>
            <a:pPr indent="0" marL="0">
              <a:lnSpc>
                <a:spcPct val="128000"/>
              </a:lnSpc>
              <a:buNone/>
            </a:pPr>
            <a:r>
              <a:rPr lang="en-US" sz="1350" dirty="0">
                <a:solidFill>
                  <a:srgbClr val="A9BBAB"/>
                </a:solidFill>
                <a:latin typeface="Calibri" pitchFamily="34" charset="0"/>
                <a:ea typeface="Calibri" pitchFamily="34" charset="-122"/>
                <a:cs typeface="Calibri" pitchFamily="34" charset="-120"/>
              </a:rPr>
              <a:t>Send us your incoming specification and target volume, and we will come back with a costed offer, a sample plan and a certificate pack.</a:t>
            </a:r>
            <a:endParaRPr lang="en-US" sz="1350" dirty="0"/>
          </a:p>
        </p:txBody>
      </p:sp>
      <p:sp>
        <p:nvSpPr>
          <p:cNvPr id="6" name="Shape 4"/>
          <p:cNvSpPr/>
          <p:nvPr/>
        </p:nvSpPr>
        <p:spPr>
          <a:xfrm>
            <a:off x="640080" y="3456432"/>
            <a:ext cx="457200" cy="457200"/>
          </a:xfrm>
          <a:prstGeom prst="ellipse">
            <a:avLst/>
          </a:prstGeom>
          <a:solidFill>
            <a:srgbClr val="B8860F"/>
          </a:solidFill>
          <a:ln w="12700">
            <a:solidFill>
              <a:srgbClr val="B8860F"/>
            </a:solidFill>
            <a:prstDash val="solid"/>
          </a:ln>
        </p:spPr>
      </p:sp>
      <p:sp>
        <p:nvSpPr>
          <p:cNvPr id="7" name="Text 5"/>
          <p:cNvSpPr/>
          <p:nvPr/>
        </p:nvSpPr>
        <p:spPr>
          <a:xfrm>
            <a:off x="640080" y="3456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298448" y="3438144"/>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Share your specification</a:t>
            </a:r>
            <a:endParaRPr lang="en-US" sz="1450" dirty="0"/>
          </a:p>
        </p:txBody>
      </p:sp>
      <p:sp>
        <p:nvSpPr>
          <p:cNvPr id="9" name="Text 7"/>
          <p:cNvSpPr/>
          <p:nvPr/>
        </p:nvSpPr>
        <p:spPr>
          <a:xfrm>
            <a:off x="1298448" y="3712464"/>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Grade, pack format and annual volume</a:t>
            </a:r>
            <a:endParaRPr lang="en-US" sz="1100" dirty="0"/>
          </a:p>
        </p:txBody>
      </p:sp>
      <p:sp>
        <p:nvSpPr>
          <p:cNvPr id="10" name="Shape 8"/>
          <p:cNvSpPr/>
          <p:nvPr/>
        </p:nvSpPr>
        <p:spPr>
          <a:xfrm>
            <a:off x="640080" y="4242816"/>
            <a:ext cx="457200" cy="457200"/>
          </a:xfrm>
          <a:prstGeom prst="ellipse">
            <a:avLst/>
          </a:prstGeom>
          <a:solidFill>
            <a:srgbClr val="B8860F"/>
          </a:solidFill>
          <a:ln w="12700">
            <a:solidFill>
              <a:srgbClr val="B8860F"/>
            </a:solidFill>
            <a:prstDash val="solid"/>
          </a:ln>
        </p:spPr>
      </p:sp>
      <p:sp>
        <p:nvSpPr>
          <p:cNvPr id="11" name="Text 9"/>
          <p:cNvSpPr/>
          <p:nvPr/>
        </p:nvSpPr>
        <p:spPr>
          <a:xfrm>
            <a:off x="64008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1298448" y="4224528"/>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Sample and approval</a:t>
            </a:r>
            <a:endParaRPr lang="en-US" sz="1450" dirty="0"/>
          </a:p>
        </p:txBody>
      </p:sp>
      <p:sp>
        <p:nvSpPr>
          <p:cNvPr id="13" name="Text 11"/>
          <p:cNvSpPr/>
          <p:nvPr/>
        </p:nvSpPr>
        <p:spPr>
          <a:xfrm>
            <a:off x="1298448" y="4498848"/>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We ship samples against your spec</a:t>
            </a:r>
            <a:endParaRPr lang="en-US" sz="1100" dirty="0"/>
          </a:p>
        </p:txBody>
      </p:sp>
      <p:sp>
        <p:nvSpPr>
          <p:cNvPr id="14" name="Shape 12"/>
          <p:cNvSpPr/>
          <p:nvPr/>
        </p:nvSpPr>
        <p:spPr>
          <a:xfrm>
            <a:off x="640080" y="5029200"/>
            <a:ext cx="457200" cy="457200"/>
          </a:xfrm>
          <a:prstGeom prst="ellipse">
            <a:avLst/>
          </a:prstGeom>
          <a:solidFill>
            <a:srgbClr val="B8860F"/>
          </a:solidFill>
          <a:ln w="12700">
            <a:solidFill>
              <a:srgbClr val="B8860F"/>
            </a:solidFill>
            <a:prstDash val="solid"/>
          </a:ln>
        </p:spPr>
      </p:sp>
      <p:sp>
        <p:nvSpPr>
          <p:cNvPr id="15" name="Text 13"/>
          <p:cNvSpPr/>
          <p:nvPr/>
        </p:nvSpPr>
        <p:spPr>
          <a:xfrm>
            <a:off x="640080" y="5029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p:nvPr/>
        </p:nvSpPr>
        <p:spPr>
          <a:xfrm>
            <a:off x="1298448" y="5010912"/>
            <a:ext cx="5669280" cy="29260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Trial order</a:t>
            </a:r>
            <a:endParaRPr lang="en-US" sz="1450" dirty="0"/>
          </a:p>
        </p:txBody>
      </p:sp>
      <p:sp>
        <p:nvSpPr>
          <p:cNvPr id="17" name="Text 15"/>
          <p:cNvSpPr/>
          <p:nvPr/>
        </p:nvSpPr>
        <p:spPr>
          <a:xfrm>
            <a:off x="1298448" y="5285232"/>
            <a:ext cx="5669280" cy="256032"/>
          </a:xfrm>
          <a:prstGeom prst="rect">
            <a:avLst/>
          </a:prstGeom>
          <a:noFill/>
          <a:ln/>
        </p:spPr>
        <p:txBody>
          <a:bodyPr wrap="square" lIns="0" tIns="0" rIns="0" bIns="0" rtlCol="0" anchor="ctr"/>
          <a:lstStyle/>
          <a:p>
            <a:pPr indent="0" marL="0">
              <a:buNone/>
            </a:pPr>
            <a:r>
              <a:rPr lang="en-US" sz="1100" dirty="0">
                <a:solidFill>
                  <a:srgbClr val="A9BBAB"/>
                </a:solidFill>
                <a:latin typeface="Calibri" pitchFamily="34" charset="0"/>
                <a:ea typeface="Calibri" pitchFamily="34" charset="-122"/>
                <a:cs typeface="Calibri" pitchFamily="34" charset="-120"/>
              </a:rPr>
              <a:t>First container on agreed Incoterms</a:t>
            </a:r>
            <a:endParaRPr lang="en-US" sz="1100" dirty="0"/>
          </a:p>
        </p:txBody>
      </p:sp>
      <p:sp>
        <p:nvSpPr>
          <p:cNvPr id="18" name="Shape 16"/>
          <p:cNvSpPr/>
          <p:nvPr/>
        </p:nvSpPr>
        <p:spPr>
          <a:xfrm>
            <a:off x="7772400" y="841248"/>
            <a:ext cx="3779215" cy="5230368"/>
          </a:xfrm>
          <a:prstGeom prst="roundRect">
            <a:avLst>
              <a:gd name="adj" fmla="val 1210"/>
            </a:avLst>
          </a:prstGeom>
          <a:solidFill>
            <a:srgbClr val="FFFFFF"/>
          </a:solidFill>
          <a:ln w="12700">
            <a:solidFill>
              <a:srgbClr val="FFFFFF"/>
            </a:solidFill>
            <a:prstDash val="solid"/>
          </a:ln>
          <a:effectLst>
            <a:outerShdw sx="100000" sy="100000" kx="0" ky="0" algn="bl" rotWithShape="0" blurRad="254000" dist="25400" dir="5400000">
              <a:srgbClr val="000000">
                <a:alpha val="22000"/>
              </a:srgbClr>
            </a:outerShdw>
          </a:effectLst>
        </p:spPr>
      </p:sp>
      <p:pic>
        <p:nvPicPr>
          <p:cNvPr id="19" name="Image 0" descr="/home/user/coco-palms/build/img/logo.jpg">    </p:cNvPr>
          <p:cNvPicPr>
            <a:picLocks noChangeAspect="1"/>
          </p:cNvPicPr>
          <p:nvPr/>
        </p:nvPicPr>
        <p:blipFill>
          <a:blip r:embed="rId1"/>
          <a:srcRect l="0" r="0" t="0" b="0"/>
          <a:stretch/>
        </p:blipFill>
        <p:spPr>
          <a:xfrm>
            <a:off x="8339328" y="1060704"/>
            <a:ext cx="2651760" cy="1847088"/>
          </a:xfrm>
          <a:prstGeom prst="rect">
            <a:avLst/>
          </a:prstGeom>
        </p:spPr>
      </p:pic>
      <p:sp>
        <p:nvSpPr>
          <p:cNvPr id="20" name="Text 17"/>
          <p:cNvSpPr/>
          <p:nvPr/>
        </p:nvSpPr>
        <p:spPr>
          <a:xfrm>
            <a:off x="8083296" y="3127248"/>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Contact</a:t>
            </a:r>
            <a:endParaRPr lang="en-US" sz="850" dirty="0"/>
          </a:p>
        </p:txBody>
      </p:sp>
      <p:sp>
        <p:nvSpPr>
          <p:cNvPr id="21" name="Text 18"/>
          <p:cNvSpPr/>
          <p:nvPr/>
        </p:nvSpPr>
        <p:spPr>
          <a:xfrm>
            <a:off x="8083296" y="3310128"/>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Mr. Barani</a:t>
            </a:r>
            <a:endParaRPr lang="en-US" sz="1050" dirty="0"/>
          </a:p>
        </p:txBody>
      </p:sp>
      <p:sp>
        <p:nvSpPr>
          <p:cNvPr id="22" name="Text 19"/>
          <p:cNvSpPr/>
          <p:nvPr/>
        </p:nvSpPr>
        <p:spPr>
          <a:xfrm>
            <a:off x="8083296" y="3511296"/>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Designation</a:t>
            </a:r>
            <a:endParaRPr lang="en-US" sz="850" dirty="0"/>
          </a:p>
        </p:txBody>
      </p:sp>
      <p:sp>
        <p:nvSpPr>
          <p:cNvPr id="23" name="Text 20"/>
          <p:cNvSpPr/>
          <p:nvPr/>
        </p:nvSpPr>
        <p:spPr>
          <a:xfrm>
            <a:off x="8083296" y="3694176"/>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Operations Head</a:t>
            </a:r>
            <a:endParaRPr lang="en-US" sz="1050" dirty="0"/>
          </a:p>
        </p:txBody>
      </p:sp>
      <p:sp>
        <p:nvSpPr>
          <p:cNvPr id="24" name="Text 21"/>
          <p:cNvSpPr/>
          <p:nvPr/>
        </p:nvSpPr>
        <p:spPr>
          <a:xfrm>
            <a:off x="8083296" y="3895344"/>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Telephone</a:t>
            </a:r>
            <a:endParaRPr lang="en-US" sz="850" dirty="0"/>
          </a:p>
        </p:txBody>
      </p:sp>
      <p:sp>
        <p:nvSpPr>
          <p:cNvPr id="25" name="Text 22"/>
          <p:cNvSpPr/>
          <p:nvPr/>
        </p:nvSpPr>
        <p:spPr>
          <a:xfrm>
            <a:off x="8083296" y="4078224"/>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+91 95661 62825</a:t>
            </a:r>
            <a:endParaRPr lang="en-US" sz="1050" dirty="0"/>
          </a:p>
        </p:txBody>
      </p:sp>
      <p:sp>
        <p:nvSpPr>
          <p:cNvPr id="26" name="Text 23"/>
          <p:cNvSpPr/>
          <p:nvPr/>
        </p:nvSpPr>
        <p:spPr>
          <a:xfrm>
            <a:off x="8083296" y="4279392"/>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Email</a:t>
            </a:r>
            <a:endParaRPr lang="en-US" sz="850" dirty="0"/>
          </a:p>
        </p:txBody>
      </p:sp>
      <p:sp>
        <p:nvSpPr>
          <p:cNvPr id="27" name="Text 24"/>
          <p:cNvSpPr/>
          <p:nvPr/>
        </p:nvSpPr>
        <p:spPr>
          <a:xfrm>
            <a:off x="8083296" y="4462272"/>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info@blackboxtraders.in</a:t>
            </a:r>
            <a:endParaRPr lang="en-US" sz="1050" dirty="0"/>
          </a:p>
        </p:txBody>
      </p:sp>
      <p:sp>
        <p:nvSpPr>
          <p:cNvPr id="28" name="Text 25"/>
          <p:cNvSpPr/>
          <p:nvPr/>
        </p:nvSpPr>
        <p:spPr>
          <a:xfrm>
            <a:off x="8083296" y="4663440"/>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Website</a:t>
            </a:r>
            <a:endParaRPr lang="en-US" sz="850" dirty="0"/>
          </a:p>
        </p:txBody>
      </p:sp>
      <p:sp>
        <p:nvSpPr>
          <p:cNvPr id="29" name="Text 26"/>
          <p:cNvSpPr/>
          <p:nvPr/>
        </p:nvSpPr>
        <p:spPr>
          <a:xfrm>
            <a:off x="8083296" y="4846320"/>
            <a:ext cx="3157423" cy="219456"/>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www.blackboxtraders.in</a:t>
            </a:r>
            <a:endParaRPr lang="en-US" sz="1050" dirty="0"/>
          </a:p>
        </p:txBody>
      </p:sp>
      <p:sp>
        <p:nvSpPr>
          <p:cNvPr id="30" name="Text 27"/>
          <p:cNvSpPr/>
          <p:nvPr/>
        </p:nvSpPr>
        <p:spPr>
          <a:xfrm>
            <a:off x="8083296" y="5047488"/>
            <a:ext cx="3157423" cy="182880"/>
          </a:xfrm>
          <a:prstGeom prst="rect">
            <a:avLst/>
          </a:prstGeom>
          <a:noFill/>
          <a:ln/>
        </p:spPr>
        <p:txBody>
          <a:bodyPr wrap="square" lIns="0" tIns="0" rIns="0" bIns="0" rtlCol="0" anchor="ctr"/>
          <a:lstStyle/>
          <a:p>
            <a:pPr indent="0" marL="0">
              <a:buNone/>
            </a:pPr>
            <a:r>
              <a:rPr lang="en-US" sz="850" b="1" spc="110" kern="0" dirty="0">
                <a:solidFill>
                  <a:srgbClr val="6E7A6F"/>
                </a:solidFill>
                <a:latin typeface="Calibri" pitchFamily="34" charset="0"/>
                <a:ea typeface="Calibri" pitchFamily="34" charset="-122"/>
                <a:cs typeface="Calibri" pitchFamily="34" charset="-120"/>
              </a:rPr>
              <a:t>Plant address</a:t>
            </a:r>
            <a:endParaRPr lang="en-US" sz="850" dirty="0"/>
          </a:p>
        </p:txBody>
      </p:sp>
      <p:sp>
        <p:nvSpPr>
          <p:cNvPr id="31" name="Text 28"/>
          <p:cNvSpPr/>
          <p:nvPr/>
        </p:nvSpPr>
        <p:spPr>
          <a:xfrm>
            <a:off x="8083296" y="5230368"/>
            <a:ext cx="3157423" cy="658368"/>
          </a:xfrm>
          <a:prstGeom prst="rect">
            <a:avLst/>
          </a:prstGeom>
          <a:noFill/>
          <a:ln/>
        </p:spPr>
        <p:txBody>
          <a:bodyPr wrap="square" lIns="0" tIns="0" rIns="0" bIns="0" rtlCol="0" anchor="t"/>
          <a:lstStyle/>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177 Marakanam Road, Maduranthagam,</a:t>
            </a:r>
            <a:endParaRPr lang="en-US" sz="1050" dirty="0"/>
          </a:p>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Nethapakkam, Chengalpattu,</a:t>
            </a:r>
            <a:endParaRPr lang="en-US" sz="1050" dirty="0"/>
          </a:p>
          <a:p>
            <a:pPr indent="0" marL="0">
              <a:lnSpc>
                <a:spcPct val="105000"/>
              </a:lnSpc>
              <a:buNone/>
            </a:pPr>
            <a:r>
              <a:rPr lang="en-US" sz="1050" b="1" dirty="0">
                <a:solidFill>
                  <a:srgbClr val="232C24"/>
                </a:solidFill>
                <a:latin typeface="Calibri" pitchFamily="34" charset="0"/>
                <a:ea typeface="Calibri" pitchFamily="34" charset="-122"/>
                <a:cs typeface="Calibri" pitchFamily="34" charset="-120"/>
              </a:rPr>
              <a:t>Tamil Nadu 603301</a:t>
            </a:r>
            <a:endParaRPr lang="en-US" sz="1050" dirty="0"/>
          </a:p>
        </p:txBody>
      </p:sp>
      <p:sp>
        <p:nvSpPr>
          <p:cNvPr id="32" name="Text 29"/>
          <p:cNvSpPr/>
          <p:nvPr/>
        </p:nvSpPr>
        <p:spPr>
          <a:xfrm>
            <a:off x="640080" y="6382512"/>
            <a:ext cx="5486400" cy="237744"/>
          </a:xfrm>
          <a:prstGeom prst="rect">
            <a:avLst/>
          </a:prstGeom>
          <a:noFill/>
          <a:ln/>
        </p:spPr>
        <p:txBody>
          <a:bodyPr wrap="square" lIns="0" tIns="0" rIns="0" bIns="0" rtlCol="0" anchor="ctr"/>
          <a:lstStyle/>
          <a:p>
            <a:pPr indent="0" marL="0">
              <a:buNone/>
            </a:pPr>
            <a:r>
              <a:rPr lang="en-US" sz="900" spc="60" kern="0" dirty="0">
                <a:solidFill>
                  <a:srgbClr val="A9BBAB"/>
                </a:solidFill>
                <a:latin typeface="Calibri" pitchFamily="34" charset="0"/>
                <a:ea typeface="Calibri" pitchFamily="34" charset="-122"/>
                <a:cs typeface="Calibri" pitchFamily="34" charset="-120"/>
              </a:rPr>
              <a:t>Coco Palms Skylanes and Allied Products</a:t>
            </a:r>
            <a:endParaRPr lang="en-US" sz="900" dirty="0"/>
          </a:p>
        </p:txBody>
      </p:sp>
      <p:sp>
        <p:nvSpPr>
          <p:cNvPr id="33" name="Text 30"/>
          <p:cNvSpPr/>
          <p:nvPr/>
        </p:nvSpPr>
        <p:spPr>
          <a:xfrm>
            <a:off x="10637215" y="6382512"/>
            <a:ext cx="914400" cy="237744"/>
          </a:xfrm>
          <a:prstGeom prst="rect">
            <a:avLst/>
          </a:prstGeom>
          <a:noFill/>
          <a:ln/>
        </p:spPr>
        <p:txBody>
          <a:bodyPr wrap="square" lIns="0" tIns="0" rIns="0" bIns="0" rtlCol="0" anchor="ctr"/>
          <a:lstStyle/>
          <a:p>
            <a:pPr algn="r" indent="0" marL="0">
              <a:buNone/>
            </a:pPr>
            <a:r>
              <a:rPr lang="en-US" sz="900" dirty="0">
                <a:solidFill>
                  <a:srgbClr val="A9BBA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Coco Palms Skylanes and Allied Products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Coco Palms Skylanes - Export Capability Profile</dc:title>
  <dc:subject>PptxGenJS Presentation</dc:subject>
  <dc:creator>Coco Palms Skylanes and Allied Products</dc:creator>
  <cp:lastModifiedBy>Coco Palms Skylanes and Allied Products</cp:lastModifiedBy>
  <cp:revision>1</cp:revision>
  <dcterms:created xsi:type="dcterms:W3CDTF">2026-08-14T05:56:24Z</dcterms:created>
  <dcterms:modified xsi:type="dcterms:W3CDTF">2026-08-14T05:56:24Z</dcterms:modified>
</cp:coreProperties>
</file>