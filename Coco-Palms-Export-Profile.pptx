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IN" sz="1800" spc="-1" strike="noStrike">
                <a:solidFill>
                  <a:srgbClr val="000000"/>
                </a:solidFill>
                <a:latin typeface="Calibri"/>
              </a:rPr>
              <a:t>Click to move the slide</a:t>
            </a:r>
            <a:endParaRPr b="0" lang="en-IN" sz="1800" spc="-1" strike="noStrike">
              <a:solidFill>
                <a:srgbClr val="000000"/>
              </a:solidFill>
              <a:latin typeface="Calibri"/>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en-IN" sz="2000" spc="-1" strike="noStrike">
                <a:solidFill>
                  <a:srgbClr val="000000"/>
                </a:solidFill>
                <a:latin typeface="Arial"/>
              </a:rPr>
              <a:t>Click to edit the notes format</a:t>
            </a:r>
            <a:endParaRPr b="0" lang="en-IN" sz="2000" spc="-1" strike="noStrike">
              <a:solidFill>
                <a:srgbClr val="000000"/>
              </a:solidFill>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IN" sz="1400" spc="-1" strike="noStrike">
                <a:solidFill>
                  <a:srgbClr val="000000"/>
                </a:solidFill>
                <a:latin typeface="Times New Roman"/>
              </a:rPr>
              <a:t>&lt;header&gt;</a:t>
            </a:r>
            <a:endParaRPr b="0" lang="en-IN" sz="1400" spc="-1" strike="noStrike">
              <a:solidFill>
                <a:srgbClr val="000000"/>
              </a:solidFill>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IN" sz="1400" spc="-1" strike="noStrike">
                <a:solidFill>
                  <a:srgbClr val="000000"/>
                </a:solidFill>
                <a:latin typeface="Times New Roman"/>
              </a:defRPr>
            </a:lvl1pPr>
          </a:lstStyle>
          <a:p>
            <a:pPr indent="0" algn="r">
              <a:buNone/>
            </a:pPr>
            <a:r>
              <a:rPr b="0" lang="en-IN" sz="1400" spc="-1" strike="noStrike">
                <a:solidFill>
                  <a:srgbClr val="000000"/>
                </a:solidFill>
                <a:latin typeface="Times New Roman"/>
              </a:rPr>
              <a:t>&lt;date/time&gt;</a:t>
            </a:r>
            <a:endParaRPr b="0" lang="en-IN" sz="1400" spc="-1" strike="noStrike">
              <a:solidFill>
                <a:srgbClr val="000000"/>
              </a:solidFill>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IN" sz="1400" spc="-1" strike="noStrike">
                <a:solidFill>
                  <a:srgbClr val="000000"/>
                </a:solidFill>
                <a:latin typeface="Times New Roman"/>
              </a:defRPr>
            </a:lvl1pPr>
          </a:lstStyle>
          <a:p>
            <a:pPr indent="0">
              <a:buNone/>
            </a:pPr>
            <a:r>
              <a:rPr b="0" lang="en-IN" sz="1400" spc="-1" strike="noStrike">
                <a:solidFill>
                  <a:srgbClr val="000000"/>
                </a:solidFill>
                <a:latin typeface="Times New Roman"/>
              </a:rPr>
              <a:t>&lt;footer&gt;</a:t>
            </a:r>
            <a:endParaRPr b="0" lang="en-IN" sz="1400" spc="-1" strike="noStrike">
              <a:solidFill>
                <a:srgbClr val="000000"/>
              </a:solidFill>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IN" sz="1400" spc="-1" strike="noStrike">
                <a:solidFill>
                  <a:srgbClr val="000000"/>
                </a:solidFill>
                <a:latin typeface="Times New Roman"/>
              </a:defRPr>
            </a:lvl1pPr>
          </a:lstStyle>
          <a:p>
            <a:pPr indent="0" algn="r">
              <a:buNone/>
            </a:pPr>
            <a:fld id="{FAA2BCC2-6E5F-443D-BB6B-94D42A18C45D}" type="slidenum">
              <a:rPr b="0" lang="en-IN" sz="1400" spc="-1" strike="noStrike">
                <a:solidFill>
                  <a:srgbClr val="000000"/>
                </a:solidFill>
                <a:latin typeface="Times New Roman"/>
              </a:rPr>
              <a:t>&lt;number&gt;</a:t>
            </a:fld>
            <a:endParaRPr b="0" lang="en-IN"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 name="PlaceHolder 1"/>
          <p:cNvSpPr>
            <a:spLocks noGrp="1"/>
          </p:cNvSpPr>
          <p:nvPr>
            <p:ph type="sldImg"/>
          </p:nvPr>
        </p:nvSpPr>
        <p:spPr>
          <a:xfrm>
            <a:off x="685800" y="1143000"/>
            <a:ext cx="5486040" cy="3085920"/>
          </a:xfrm>
          <a:prstGeom prst="rect">
            <a:avLst/>
          </a:prstGeom>
          <a:ln w="0">
            <a:noFill/>
          </a:ln>
        </p:spPr>
      </p:sp>
      <p:sp>
        <p:nvSpPr>
          <p:cNvPr id="322"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Cover. Logo art is the clean plate lifted from 4:45 of the company video. Replace the two TO CONFIRM slots with the buyer's name and the issue date before sending.</a:t>
            </a:r>
            <a:endParaRPr b="0" lang="en-IN" sz="2000" spc="-1" strike="noStrike">
              <a:solidFill>
                <a:srgbClr val="000000"/>
              </a:solidFill>
              <a:latin typeface="Arial"/>
            </a:endParaRPr>
          </a:p>
        </p:txBody>
      </p:sp>
      <p:sp>
        <p:nvSpPr>
          <p:cNvPr id="323"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4CD6B027-3321-430E-BD9A-96825C060C9E}"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PlaceHolder 1"/>
          <p:cNvSpPr>
            <a:spLocks noGrp="1"/>
          </p:cNvSpPr>
          <p:nvPr>
            <p:ph type="sldImg"/>
          </p:nvPr>
        </p:nvSpPr>
        <p:spPr>
          <a:xfrm>
            <a:off x="685800" y="1143000"/>
            <a:ext cx="5486040" cy="3085920"/>
          </a:xfrm>
          <a:prstGeom prst="rect">
            <a:avLst/>
          </a:prstGeom>
          <a:ln w="0">
            <a:noFill/>
          </a:ln>
        </p:spPr>
      </p:sp>
      <p:sp>
        <p:nvSpPr>
          <p:cNvPr id="325"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Facts confirmed by the client: trading since 2013, dehydration facility commissioned 2026, Chengalpattu, 4 acres, 100,000 nuts/day, 30+ workforce. The 2013 / 2026 split is deliberate and is a selling point: thirteen years of trade history plus a brand-new plant answers both of a buyer's first two doubts at once. Do not collapse it back to a single date. DEFAULT SUPPLIED BY CLAUDE: the 12-16 MT dried kernel conversion is my calculation at roughly 130-170 g copra per nut. NOTE - the company's own film states 10 tonnes of material per 12-hour batch and about 100,000 litres of oil per month; reconcile these three figures before quoting any of them.</a:t>
            </a:r>
            <a:endParaRPr b="0" lang="en-IN" sz="2000" spc="-1" strike="noStrike">
              <a:solidFill>
                <a:srgbClr val="000000"/>
              </a:solidFill>
              <a:latin typeface="Arial"/>
            </a:endParaRPr>
          </a:p>
        </p:txBody>
      </p:sp>
      <p:sp>
        <p:nvSpPr>
          <p:cNvPr id="326"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46FC8E29-0F6A-4E68-8007-B055E5475EC0}"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sldImg"/>
          </p:nvPr>
        </p:nvSpPr>
        <p:spPr>
          <a:xfrm>
            <a:off x="685800" y="1143000"/>
            <a:ext cx="5486040" cy="3085920"/>
          </a:xfrm>
          <a:prstGeom prst="rect">
            <a:avLst/>
          </a:prstGeom>
          <a:ln w="0">
            <a:noFill/>
          </a:ln>
        </p:spPr>
      </p:sp>
      <p:sp>
        <p:nvSpPr>
          <p:cNvPr id="328"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Coconut oil is the ONLY finished product. The client has confirmed they do not sell desiccated coconut - the earlier third card has been removed, and the pulverised kernel seen in the film is feedstock for the expeller, not a product. Both cards are the same oil off the same line, differing only in pack format. The sulfur-free claim comes from the company's own film narration and is a genuine differentiator: sulfur is routine in copra drying and importers screen for it. DEFAULTS SUPPLIED BY CLAUDE: the FFA and moisture figures and the pack sizes are standard industry values, not your measured specs. Sign them off before sending.</a:t>
            </a:r>
            <a:endParaRPr b="0" lang="en-IN" sz="2000" spc="-1" strike="noStrike">
              <a:solidFill>
                <a:srgbClr val="000000"/>
              </a:solidFill>
              <a:latin typeface="Arial"/>
            </a:endParaRPr>
          </a:p>
        </p:txBody>
      </p:sp>
      <p:sp>
        <p:nvSpPr>
          <p:cNvPr id="329"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448CABD9-BDA6-4067-AD45-F60CFCAEA1FA}"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 name="PlaceHolder 1"/>
          <p:cNvSpPr>
            <a:spLocks noGrp="1"/>
          </p:cNvSpPr>
          <p:nvPr>
            <p:ph type="sldImg"/>
          </p:nvPr>
        </p:nvSpPr>
        <p:spPr>
          <a:xfrm>
            <a:off x="685800" y="1143000"/>
            <a:ext cx="5486040" cy="3085920"/>
          </a:xfrm>
          <a:prstGeom prst="rect">
            <a:avLst/>
          </a:prstGeom>
          <a:ln w="0">
            <a:noFill/>
          </a:ln>
        </p:spPr>
      </p:sp>
      <p:sp>
        <p:nvSpPr>
          <p:cNvPr id="331"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Dark slide, used as the section break into the process detail that follows. This sequence is taken from the company's own film narration and CORRECTS the earlier version of this slide in three places: washing happens BEFORE dehydration (not after paring); the post-drying step is scooping the kernel from the shell (not paring); and no dehusking is narrated - nuts go straight into an automated cutting system that halves them.</a:t>
            </a:r>
            <a:endParaRPr b="0" lang="en-IN" sz="2000" spc="-1" strike="noStrike">
              <a:solidFill>
                <a:srgbClr val="000000"/>
              </a:solidFill>
              <a:latin typeface="Arial"/>
            </a:endParaRPr>
          </a:p>
        </p:txBody>
      </p:sp>
      <p:sp>
        <p:nvSpPr>
          <p:cNvPr id="332"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83E0609C-CDA7-4F8E-8AFC-AE36F3DB486B}"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sldImg"/>
          </p:nvPr>
        </p:nvSpPr>
        <p:spPr>
          <a:xfrm>
            <a:off x="685800" y="1143000"/>
            <a:ext cx="5486040" cy="3085920"/>
          </a:xfrm>
          <a:prstGeom prst="rect">
            <a:avLst/>
          </a:prstGeom>
          <a:ln w="0">
            <a:noFill/>
          </a:ln>
        </p:spPr>
      </p:sp>
      <p:sp>
        <p:nvSpPr>
          <p:cNvPr id="334"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Confirmed by the client: delta region of Tamil Nadu, 100,000 nuts per day. DEFAULT SUPPLIED BY CLAUDE: 'direct from growers and regional mandis' is the conventional procurement description - correct it if you buy through agents or on contract. Nut variety is still open; East Coast Tall is the usual delta variety but I did not want to assert it.</a:t>
            </a:r>
            <a:endParaRPr b="0" lang="en-IN" sz="2000" spc="-1" strike="noStrike">
              <a:solidFill>
                <a:srgbClr val="000000"/>
              </a:solidFill>
              <a:latin typeface="Arial"/>
            </a:endParaRPr>
          </a:p>
        </p:txBody>
      </p:sp>
      <p:sp>
        <p:nvSpPr>
          <p:cNvPr id="335"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791AC837-F4E2-439B-AB6F-B8A1A9B8EE84}"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sldImg"/>
          </p:nvPr>
        </p:nvSpPr>
        <p:spPr>
          <a:xfrm>
            <a:off x="685800" y="1143000"/>
            <a:ext cx="5486040" cy="3085920"/>
          </a:xfrm>
          <a:prstGeom prst="rect">
            <a:avLst/>
          </a:prstGeom>
          <a:ln w="0">
            <a:noFill/>
          </a:ln>
        </p:spPr>
      </p:sp>
      <p:sp>
        <p:nvSpPr>
          <p:cNvPr id="337"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This is the strongest slide in the deck and every figure on it comes from the company's own film narration - European catalytic IR dehydrator, platinum-plated chamber surfaces, IR-radiating infusors, compressor plus dehumidification, 10 tonnes per 12 hours to below 10% moisture, five days by sun to reach only 20%, ~3,300 sq ft. The earlier version of this slide called it merely 'controlled hot-air drying', which badly undersold it. TWO CLAIMS TO CONFIRM BEFORE SENDING: the film also states the plant is 'among India's largest' coconut dehydration facilities and that output is ~100,000 litres per month. I have left both off the slide - a superlative and a volume figure are exactly what a buyer will test, so use them only if you can substantiate them.</a:t>
            </a:r>
            <a:endParaRPr b="0" lang="en-IN" sz="2000" spc="-1" strike="noStrike">
              <a:solidFill>
                <a:srgbClr val="000000"/>
              </a:solidFill>
              <a:latin typeface="Arial"/>
            </a:endParaRPr>
          </a:p>
        </p:txBody>
      </p:sp>
      <p:sp>
        <p:nvSpPr>
          <p:cNvPr id="338"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F2FAF386-8C70-41F9-802F-E8FF67A389FE}"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sldImg"/>
          </p:nvPr>
        </p:nvSpPr>
        <p:spPr>
          <a:xfrm>
            <a:off x="685800" y="1143000"/>
            <a:ext cx="5486040" cy="3085920"/>
          </a:xfrm>
          <a:prstGeom prst="rect">
            <a:avLst/>
          </a:prstGeom>
          <a:ln w="0">
            <a:noFill/>
          </a:ln>
        </p:spPr>
      </p:sp>
      <p:sp>
        <p:nvSpPr>
          <p:cNvPr id="340"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Everything on this slide is directly observable in the footage. The client has confirmed they hold NO HACCP and NO GMP/GHP certification, so the earlier scheme-status form has been removed entirely rather than left implying certification. Both cards now describe practice and plant only - no scheme is claimed anywhere. If HACCP is obtained later this is the slide to update.</a:t>
            </a:r>
            <a:endParaRPr b="0" lang="en-IN" sz="2000" spc="-1" strike="noStrike">
              <a:solidFill>
                <a:srgbClr val="000000"/>
              </a:solidFill>
              <a:latin typeface="Arial"/>
            </a:endParaRPr>
          </a:p>
        </p:txBody>
      </p:sp>
      <p:sp>
        <p:nvSpPr>
          <p:cNvPr id="341"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2BCC727B-8BF0-4F53-B405-FAF3ED5A2805}"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sldImg"/>
          </p:nvPr>
        </p:nvSpPr>
        <p:spPr>
          <a:xfrm>
            <a:off x="685800" y="1143000"/>
            <a:ext cx="5486040" cy="3085920"/>
          </a:xfrm>
          <a:prstGeom prst="rect">
            <a:avLst/>
          </a:prstGeom>
          <a:ln w="0">
            <a:noFill/>
          </a:ln>
        </p:spPr>
      </p:sp>
      <p:sp>
        <p:nvSpPr>
          <p:cNvPr id="343"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Rewritten from the film narration. The earlier version of this slide presented desiccated coconut as a second finished stream - the client has confirmed they do not sell it, and the narration is explicit that the pulverised kernel is prepared 'for oil extraction'. So this is now one linear finishing line, not two streams. DEFAULT SUPPLIED BY CLAUDE: the FFA below 0.5% figure is a standard trade value.</a:t>
            </a:r>
            <a:endParaRPr b="0" lang="en-IN" sz="2000" spc="-1" strike="noStrike">
              <a:solidFill>
                <a:srgbClr val="000000"/>
              </a:solidFill>
              <a:latin typeface="Arial"/>
            </a:endParaRPr>
          </a:p>
        </p:txBody>
      </p:sp>
      <p:sp>
        <p:nvSpPr>
          <p:cNvPr id="344"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FEE9380C-189A-4FEA-8531-10A05BE22A03}"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PlaceHolder 1"/>
          <p:cNvSpPr>
            <a:spLocks noGrp="1"/>
          </p:cNvSpPr>
          <p:nvPr>
            <p:ph type="sldImg"/>
          </p:nvPr>
        </p:nvSpPr>
        <p:spPr>
          <a:xfrm>
            <a:off x="685800" y="1143000"/>
            <a:ext cx="5486040" cy="3085920"/>
          </a:xfrm>
          <a:prstGeom prst="rect">
            <a:avLst/>
          </a:prstGeom>
          <a:ln w="0">
            <a:noFill/>
          </a:ln>
        </p:spPr>
      </p:sp>
      <p:sp>
        <p:nvSpPr>
          <p:cNvPr id="346"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ISO 9001, FSSAI and NABL are confirmed from the video's closing card. DEFAULTS SUPPLIED BY CLAUDE: every method and limit in this table is a standard industry value for edible coconut oil (IS 548, AOCS, ISO methods are real and correctly cited). They are NOT your measured results. Replace them with the figures off your own NABL COA before this table goes to a buyer - an importer will hold you to whatever is printed here.</a:t>
            </a:r>
            <a:endParaRPr b="0" lang="en-IN" sz="2000" spc="-1" strike="noStrike">
              <a:solidFill>
                <a:srgbClr val="000000"/>
              </a:solidFill>
              <a:latin typeface="Arial"/>
            </a:endParaRPr>
          </a:p>
        </p:txBody>
      </p:sp>
      <p:sp>
        <p:nvSpPr>
          <p:cNvPr id="347"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AE25148F-4EAE-4205-8DAD-42DE1D2AE7DA}"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685800" y="1143000"/>
            <a:ext cx="5486040" cy="3085920"/>
          </a:xfrm>
          <a:prstGeom prst="rect">
            <a:avLst/>
          </a:prstGeom>
          <a:ln w="0">
            <a:noFill/>
          </a:ln>
        </p:spPr>
      </p:sp>
      <p:sp>
        <p:nvSpPr>
          <p:cNvPr id="349"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ISO 9001, FSSAI and NABL are from the closing card. BRIT QUALIS and National Test House are read off the framed certificates behind the founder - wall text was only partly legible, so verify both names before printing.</a:t>
            </a:r>
            <a:endParaRPr b="0" lang="en-IN" sz="2000" spc="-1" strike="noStrike">
              <a:solidFill>
                <a:srgbClr val="000000"/>
              </a:solidFill>
              <a:latin typeface="Arial"/>
            </a:endParaRPr>
          </a:p>
        </p:txBody>
      </p:sp>
      <p:sp>
        <p:nvSpPr>
          <p:cNvPr id="350"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43A7C5D6-DCB0-499D-84A6-B7BC9ADBBC35}"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685800" y="1143000"/>
            <a:ext cx="5486040" cy="3085920"/>
          </a:xfrm>
          <a:prstGeom prst="rect">
            <a:avLst/>
          </a:prstGeom>
          <a:ln w="0">
            <a:noFill/>
          </a:ln>
        </p:spPr>
      </p:sp>
      <p:sp>
        <p:nvSpPr>
          <p:cNvPr id="352"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DEFAULTS SUPPLIED BY CLAUDE - every row on this page. These are conventional Indian coconut-export terms, not terms you have agreed to. The commercially sensitive ones are MOQ (one 20ft FCL), payment terms (30% advance / L/C at sight) and container fill (16-18 MT per 20ft). A buyer may treat these as an offer, so review each line with whoever owns pricing before sending. Port of loading assumes Chennai/Ennore as nearest to Chengalpattu.</a:t>
            </a:r>
            <a:endParaRPr b="0" lang="en-IN" sz="2000" spc="-1" strike="noStrike">
              <a:solidFill>
                <a:srgbClr val="000000"/>
              </a:solidFill>
              <a:latin typeface="Arial"/>
            </a:endParaRPr>
          </a:p>
        </p:txBody>
      </p:sp>
      <p:sp>
        <p:nvSpPr>
          <p:cNvPr id="353" name="PlaceHolder 3"/>
          <p:cNvSpPr>
            <a:spLocks noGrp="1"/>
          </p:cNvSpPr>
          <p:nvPr>
            <p:ph type="sldNum" idx="14"/>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A3ACABE4-F5A4-4272-A2F4-BE5350A87C3C}"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685800" y="1143000"/>
            <a:ext cx="5486040" cy="3085920"/>
          </a:xfrm>
          <a:prstGeom prst="rect">
            <a:avLst/>
          </a:prstGeom>
          <a:ln w="0">
            <a:noFill/>
          </a:ln>
        </p:spPr>
      </p:sp>
      <p:sp>
        <p:nvSpPr>
          <p:cNvPr id="355"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The founder speaks to camera from 3:36 to 4:36 in the video. If you transcribe that segment, his own words are the best possible fill for the quote slot here.</a:t>
            </a:r>
            <a:endParaRPr b="0" lang="en-IN" sz="2000" spc="-1" strike="noStrike">
              <a:solidFill>
                <a:srgbClr val="000000"/>
              </a:solidFill>
              <a:latin typeface="Arial"/>
            </a:endParaRPr>
          </a:p>
        </p:txBody>
      </p:sp>
      <p:sp>
        <p:nvSpPr>
          <p:cNvPr id="356" name="PlaceHolder 3"/>
          <p:cNvSpPr>
            <a:spLocks noGrp="1"/>
          </p:cNvSpPr>
          <p:nvPr>
            <p:ph type="sldNum" idx="15"/>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894E55E7-9CF7-4EF5-BED3-CF77FED0EBDD}"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685800" y="1143000"/>
            <a:ext cx="5486040" cy="3085920"/>
          </a:xfrm>
          <a:prstGeom prst="rect">
            <a:avLst/>
          </a:prstGeom>
          <a:ln w="0">
            <a:noFill/>
          </a:ln>
        </p:spPr>
      </p:sp>
      <p:sp>
        <p:nvSpPr>
          <p:cNvPr id="358"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0">
              <a:lnSpc>
                <a:spcPct val="100000"/>
              </a:lnSpc>
              <a:buNone/>
            </a:pPr>
            <a:r>
              <a:rPr b="0" lang="en-US" sz="2000" spc="-1" strike="noStrike">
                <a:solidFill>
                  <a:srgbClr val="000000"/>
                </a:solidFill>
                <a:latin typeface="Arial"/>
              </a:rPr>
              <a:t>Confirmed by the client: Mr. Barani, Operations Head, +91 95661 62825, and the Nethapakkam plant address. Email and website are the only two contact fields still outstanding - a buyer will want an email address, so this is worth closing before the first send.</a:t>
            </a:r>
            <a:endParaRPr b="0" lang="en-IN" sz="2000" spc="-1" strike="noStrike">
              <a:solidFill>
                <a:srgbClr val="000000"/>
              </a:solidFill>
              <a:latin typeface="Arial"/>
            </a:endParaRPr>
          </a:p>
        </p:txBody>
      </p:sp>
      <p:sp>
        <p:nvSpPr>
          <p:cNvPr id="359" name="PlaceHolder 3"/>
          <p:cNvSpPr>
            <a:spLocks noGrp="1"/>
          </p:cNvSpPr>
          <p:nvPr>
            <p:ph type="sldNum" idx="16"/>
          </p:nvPr>
        </p:nvSpPr>
        <p:spPr>
          <a:xfrm>
            <a:off x="3884760" y="8685360"/>
            <a:ext cx="2971440" cy="458280"/>
          </a:xfrm>
          <a:prstGeom prst="rect">
            <a:avLst/>
          </a:prstGeom>
          <a:noFill/>
          <a:ln w="0">
            <a:noFill/>
          </a:ln>
        </p:spPr>
        <p:txBody>
          <a:bodyPr anchor="b">
            <a:noAutofit/>
          </a:bodyPr>
          <a:lstStyle>
            <a:lvl1pPr indent="0" algn="r">
              <a:lnSpc>
                <a:spcPct val="100000"/>
              </a:lnSpc>
              <a:buNone/>
              <a:defRPr b="0" lang="en-US" sz="1200" spc="-1" strike="noStrike">
                <a:solidFill>
                  <a:srgbClr val="000000"/>
                </a:solidFill>
                <a:latin typeface="+mn-lt"/>
                <a:ea typeface="+mn-ea"/>
              </a:defRPr>
            </a:lvl1pPr>
          </a:lstStyle>
          <a:p>
            <a:pPr indent="0" algn="r">
              <a:lnSpc>
                <a:spcPct val="100000"/>
              </a:lnSpc>
              <a:buNone/>
            </a:pPr>
            <a:fld id="{366293DE-CFD1-42B5-8964-5581030B2C49}" type="slidenum">
              <a:rPr b="0" lang="en-US" sz="1200" spc="-1" strike="noStrike">
                <a:solidFill>
                  <a:srgbClr val="000000"/>
                </a:solidFill>
                <a:latin typeface="+mn-lt"/>
                <a:ea typeface="+mn-ea"/>
              </a:rPr>
              <a:t>&lt;number&gt;</a:t>
            </a:fld>
            <a:endParaRPr b="0" lang="en-IN" sz="1200" spc="-1" strike="noStrike">
              <a:solidFill>
                <a:srgbClr val="000000"/>
              </a:solidFill>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IN"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IN"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IN" sz="1800" spc="-1" strike="noStrike">
              <a:solidFill>
                <a:srgbClr val="000000"/>
              </a:solidFill>
              <a:latin typeface="Calibri"/>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IN" sz="3200" spc="-1" strike="noStrike">
              <a:solidFill>
                <a:srgbClr val="000000"/>
              </a:solidFill>
              <a:latin typeface="Calibri"/>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IN" sz="1800" spc="-1" strike="noStrike">
                <a:solidFill>
                  <a:srgbClr val="000000"/>
                </a:solidFill>
                <a:latin typeface="Calibri"/>
              </a:rPr>
              <a:t>Click to edit the title text format</a:t>
            </a:r>
            <a:endParaRPr b="0" lang="en-IN" sz="1800" spc="-1" strike="noStrike">
              <a:solidFill>
                <a:srgbClr val="000000"/>
              </a:solidFill>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IN" sz="3200" spc="-1" strike="noStrike">
                <a:solidFill>
                  <a:srgbClr val="000000"/>
                </a:solidFill>
                <a:latin typeface="Calibri"/>
              </a:rPr>
              <a:t>Click to edit the outline text format</a:t>
            </a:r>
            <a:endParaRPr b="0" lang="en-IN"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IN" sz="2400" spc="-1" strike="noStrike">
                <a:solidFill>
                  <a:srgbClr val="000000"/>
                </a:solidFill>
                <a:latin typeface="Calibri"/>
              </a:rPr>
              <a:t>Second Outline Level</a:t>
            </a:r>
            <a:endParaRPr b="0" lang="en-IN"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IN" sz="2000" spc="-1" strike="noStrike">
                <a:solidFill>
                  <a:srgbClr val="000000"/>
                </a:solidFill>
                <a:latin typeface="Calibri"/>
              </a:rPr>
              <a:t>Third Outline Level</a:t>
            </a:r>
            <a:endParaRPr b="0" lang="en-IN"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IN" sz="2000" spc="-1" strike="noStrike">
                <a:solidFill>
                  <a:srgbClr val="000000"/>
                </a:solidFill>
                <a:latin typeface="Calibri"/>
              </a:rPr>
              <a:t>Fourth Outline Level</a:t>
            </a:r>
            <a:endParaRPr b="0" lang="en-IN"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IN" sz="2000" spc="-1" strike="noStrike">
                <a:solidFill>
                  <a:srgbClr val="000000"/>
                </a:solidFill>
                <a:latin typeface="Calibri"/>
              </a:rPr>
              <a:t>Fifth Outline Level</a:t>
            </a:r>
            <a:endParaRPr b="0" lang="en-IN"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IN" sz="2000" spc="-1" strike="noStrike">
                <a:solidFill>
                  <a:srgbClr val="000000"/>
                </a:solidFill>
                <a:latin typeface="Calibri"/>
              </a:rPr>
              <a:t>Sixth Outline Level</a:t>
            </a:r>
            <a:endParaRPr b="0" lang="en-IN"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IN" sz="2000" spc="-1" strike="noStrike">
                <a:solidFill>
                  <a:srgbClr val="000000"/>
                </a:solidFill>
                <a:latin typeface="Calibri"/>
              </a:rPr>
              <a:t>Seventh Outline Level</a:t>
            </a:r>
            <a:endParaRPr b="0" lang="en-IN"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jpe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jpeg"/><Relationship Id="rId2" Type="http://schemas.openxmlformats.org/officeDocument/2006/relationships/image" Target="../media/image7.jpe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8.jpeg"/><Relationship Id="rId2" Type="http://schemas.openxmlformats.org/officeDocument/2006/relationships/image" Target="../media/image9.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jpeg"/><Relationship Id="rId2" Type="http://schemas.openxmlformats.org/officeDocument/2006/relationships/image" Target="../media/image3.jpe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2.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3.jpeg"/><Relationship Id="rId2" Type="http://schemas.openxmlformats.org/officeDocument/2006/relationships/image" Target="../media/image14.jpe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Shape 0"/>
          <p:cNvSpPr/>
          <p:nvPr/>
        </p:nvSpPr>
        <p:spPr>
          <a:xfrm>
            <a:off x="0" y="0"/>
            <a:ext cx="12191400" cy="6857640"/>
          </a:xfrm>
          <a:prstGeom prst="rect">
            <a:avLst/>
          </a:prstGeom>
          <a:solidFill>
            <a:srgbClr val="14532d"/>
          </a:solidFill>
          <a:ln w="12700">
            <a:solidFill>
              <a:srgbClr val="14532d"/>
            </a:solidFill>
            <a:round/>
          </a:ln>
        </p:spPr>
        <p:style>
          <a:lnRef idx="0"/>
          <a:fillRef idx="0"/>
          <a:effectRef idx="0"/>
          <a:fontRef idx="minor"/>
        </p:style>
        <p:txBody>
          <a:bodyPr lIns="90000" rIns="90000" tIns="45000" bIns="45000" anchor="t">
            <a:noAutofit/>
          </a:bodyPr>
          <a:p>
            <a:endParaRPr b="0" lang="en-IN" sz="1800" spc="-1" strike="noStrike">
              <a:solidFill>
                <a:srgbClr val="ffffff"/>
              </a:solidFill>
              <a:latin typeface="Arial"/>
            </a:endParaRPr>
          </a:p>
        </p:txBody>
      </p:sp>
      <p:sp>
        <p:nvSpPr>
          <p:cNvPr id="45" name="Shape 1"/>
          <p:cNvSpPr/>
          <p:nvPr/>
        </p:nvSpPr>
        <p:spPr>
          <a:xfrm>
            <a:off x="640080" y="1572840"/>
            <a:ext cx="3794400" cy="3794400"/>
          </a:xfrm>
          <a:prstGeom prst="roundRect">
            <a:avLst>
              <a:gd name="adj" fmla="val 1205"/>
            </a:avLst>
          </a:prstGeom>
          <a:solidFill>
            <a:srgbClr val="ffffff"/>
          </a:solidFill>
          <a:ln w="12700">
            <a:solidFill>
              <a:srgbClr val="ffffff"/>
            </a:solidFill>
            <a:round/>
          </a:ln>
          <a:effectLst>
            <a:outerShdw algn="bl" blurRad="254160" dir="5400000" dist="25560" kx="0" ky="0" rotWithShape="0" sx="100000" sy="100000">
              <a:srgbClr val="000000">
                <a:alpha val="22000"/>
              </a:srgbClr>
            </a:outerShdw>
          </a:effectLst>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pic>
        <p:nvPicPr>
          <p:cNvPr id="46" name="Image 0" descr="C:\Users\affla\OneDrive\Documents\Saas\Claude projects\COCOPALM\build\img\logo.jpg"/>
          <p:cNvPicPr/>
          <p:nvPr/>
        </p:nvPicPr>
        <p:blipFill>
          <a:blip r:embed="rId1"/>
          <a:stretch/>
        </p:blipFill>
        <p:spPr>
          <a:xfrm>
            <a:off x="841320" y="1774080"/>
            <a:ext cx="3391920" cy="3391920"/>
          </a:xfrm>
          <a:prstGeom prst="rect">
            <a:avLst/>
          </a:prstGeom>
          <a:ln w="0">
            <a:noFill/>
          </a:ln>
        </p:spPr>
      </p:pic>
      <p:sp>
        <p:nvSpPr>
          <p:cNvPr id="47" name="Text 2"/>
          <p:cNvSpPr/>
          <p:nvPr/>
        </p:nvSpPr>
        <p:spPr>
          <a:xfrm>
            <a:off x="5093280" y="1609200"/>
            <a:ext cx="64580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200" spc="299" strike="noStrike">
                <a:solidFill>
                  <a:srgbClr val="e3c171"/>
                </a:solidFill>
                <a:latin typeface="Calibri"/>
                <a:ea typeface="Calibri"/>
              </a:rPr>
              <a:t>EXPORT CAPABILITY PROFILE</a:t>
            </a:r>
            <a:endParaRPr b="0" lang="en-IN" sz="1200" spc="-1" strike="noStrike">
              <a:solidFill>
                <a:srgbClr val="000000"/>
              </a:solidFill>
              <a:latin typeface="Arial"/>
            </a:endParaRPr>
          </a:p>
        </p:txBody>
      </p:sp>
      <p:sp>
        <p:nvSpPr>
          <p:cNvPr id="48" name="Text 3"/>
          <p:cNvSpPr/>
          <p:nvPr/>
        </p:nvSpPr>
        <p:spPr>
          <a:xfrm>
            <a:off x="5093280" y="1974960"/>
            <a:ext cx="6458040" cy="7128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4400" spc="-1" strike="noStrike">
                <a:solidFill>
                  <a:srgbClr val="ffffff"/>
                </a:solidFill>
                <a:latin typeface="Cambria"/>
                <a:ea typeface="Cambria"/>
              </a:rPr>
              <a:t>Coco Palms</a:t>
            </a:r>
            <a:endParaRPr b="0" lang="en-IN" sz="4400" spc="-1" strike="noStrike">
              <a:solidFill>
                <a:srgbClr val="000000"/>
              </a:solidFill>
              <a:latin typeface="Arial"/>
            </a:endParaRPr>
          </a:p>
        </p:txBody>
      </p:sp>
      <p:sp>
        <p:nvSpPr>
          <p:cNvPr id="49" name="Text 4"/>
          <p:cNvSpPr/>
          <p:nvPr/>
        </p:nvSpPr>
        <p:spPr>
          <a:xfrm>
            <a:off x="5093280" y="2651760"/>
            <a:ext cx="6458040" cy="7128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4400" spc="-1" strike="noStrike">
                <a:solidFill>
                  <a:srgbClr val="6fb04a"/>
                </a:solidFill>
                <a:latin typeface="Cambria"/>
                <a:ea typeface="Cambria"/>
              </a:rPr>
              <a:t>Skylanes</a:t>
            </a:r>
            <a:endParaRPr b="0" lang="en-IN" sz="4400" spc="-1" strike="noStrike">
              <a:solidFill>
                <a:srgbClr val="000000"/>
              </a:solidFill>
              <a:latin typeface="Arial"/>
            </a:endParaRPr>
          </a:p>
        </p:txBody>
      </p:sp>
      <p:sp>
        <p:nvSpPr>
          <p:cNvPr id="50" name="Text 5"/>
          <p:cNvSpPr/>
          <p:nvPr/>
        </p:nvSpPr>
        <p:spPr>
          <a:xfrm>
            <a:off x="5093280" y="3401640"/>
            <a:ext cx="6458040" cy="328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700" spc="157" strike="noStrike">
                <a:solidFill>
                  <a:srgbClr val="a9bbab"/>
                </a:solidFill>
                <a:latin typeface="Calibri"/>
                <a:ea typeface="Calibri"/>
              </a:rPr>
              <a:t>and Allied Products</a:t>
            </a:r>
            <a:endParaRPr b="0" lang="en-IN" sz="1700" spc="-1" strike="noStrike">
              <a:solidFill>
                <a:srgbClr val="000000"/>
              </a:solidFill>
              <a:latin typeface="Arial"/>
            </a:endParaRPr>
          </a:p>
        </p:txBody>
      </p:sp>
      <p:sp>
        <p:nvSpPr>
          <p:cNvPr id="51" name="Text 6"/>
          <p:cNvSpPr/>
          <p:nvPr/>
        </p:nvSpPr>
        <p:spPr>
          <a:xfrm>
            <a:off x="5093280" y="3931920"/>
            <a:ext cx="6458040" cy="548280"/>
          </a:xfrm>
          <a:prstGeom prst="rect">
            <a:avLst/>
          </a:prstGeom>
          <a:noFill/>
          <a:ln w="0">
            <a:noFill/>
          </a:ln>
        </p:spPr>
        <p:style>
          <a:lnRef idx="0"/>
          <a:fillRef idx="0"/>
          <a:effectRef idx="0"/>
          <a:fontRef idx="minor"/>
        </p:style>
        <p:txBody>
          <a:bodyPr lIns="0" rIns="0" tIns="0" bIns="0" anchor="ctr">
            <a:noAutofit/>
          </a:bodyPr>
          <a:p>
            <a:pPr>
              <a:lnSpc>
                <a:spcPct val="120000"/>
              </a:lnSpc>
              <a:tabLst>
                <a:tab algn="l" pos="0"/>
              </a:tabLst>
            </a:pPr>
            <a:r>
              <a:rPr b="0" lang="en-US" sz="1350" spc="-1" strike="noStrike">
                <a:solidFill>
                  <a:srgbClr val="e3c171"/>
                </a:solidFill>
                <a:latin typeface="Calibri"/>
                <a:ea typeface="Calibri"/>
              </a:rPr>
              <a:t>100% organic, sulfur-free coconut oil  ·  edible and bulk grades</a:t>
            </a:r>
            <a:endParaRPr b="0" lang="en-IN" sz="1350" spc="-1" strike="noStrike">
              <a:solidFill>
                <a:srgbClr val="000000"/>
              </a:solidFill>
              <a:latin typeface="Arial"/>
            </a:endParaRPr>
          </a:p>
        </p:txBody>
      </p:sp>
      <p:sp>
        <p:nvSpPr>
          <p:cNvPr id="52" name="Text 7"/>
          <p:cNvSpPr/>
          <p:nvPr/>
        </p:nvSpPr>
        <p:spPr>
          <a:xfrm>
            <a:off x="5093280" y="4517280"/>
            <a:ext cx="6458040" cy="3470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1700" spc="-1" strike="noStrike">
                <a:solidFill>
                  <a:srgbClr val="ffffff"/>
                </a:solidFill>
                <a:latin typeface="Cambria"/>
                <a:ea typeface="Cambria"/>
              </a:rPr>
              <a:t>Pure in every drop.</a:t>
            </a:r>
            <a:endParaRPr b="0" lang="en-IN" sz="1700" spc="-1" strike="noStrike">
              <a:solidFill>
                <a:srgbClr val="000000"/>
              </a:solidFill>
              <a:latin typeface="Arial"/>
            </a:endParaRPr>
          </a:p>
        </p:txBody>
      </p:sp>
      <p:sp>
        <p:nvSpPr>
          <p:cNvPr id="53" name="Text 8"/>
          <p:cNvSpPr/>
          <p:nvPr/>
        </p:nvSpPr>
        <p:spPr>
          <a:xfrm>
            <a:off x="5093280" y="5065920"/>
            <a:ext cx="64580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180" strike="noStrike">
                <a:solidFill>
                  <a:srgbClr val="ffffff"/>
                </a:solidFill>
                <a:latin typeface="Calibri"/>
                <a:ea typeface="Calibri"/>
              </a:rPr>
              <a:t>ISO 9001    ·    FSSAI    ·    NABL</a:t>
            </a:r>
            <a:endParaRPr b="0" lang="en-IN" sz="1150" spc="-1" strike="noStrike">
              <a:solidFill>
                <a:srgbClr val="000000"/>
              </a:solidFill>
              <a:latin typeface="Arial"/>
            </a:endParaRPr>
          </a:p>
        </p:txBody>
      </p:sp>
      <p:sp>
        <p:nvSpPr>
          <p:cNvPr id="54" name="Text 9"/>
          <p:cNvSpPr/>
          <p:nvPr/>
        </p:nvSpPr>
        <p:spPr>
          <a:xfrm>
            <a:off x="640080" y="5779080"/>
            <a:ext cx="10911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a9bbab"/>
                </a:solidFill>
                <a:latin typeface="Calibri"/>
                <a:ea typeface="Calibri"/>
              </a:rPr>
              <a:t> </a:t>
            </a:r>
            <a:r>
              <a:rPr b="0" lang="en-US" sz="1050" spc="-1" strike="noStrike">
                <a:solidFill>
                  <a:srgbClr val="a9bbab"/>
                </a:solidFill>
                <a:latin typeface="Calibri"/>
                <a:ea typeface="Calibri"/>
              </a:rPr>
              <a:t>Issue date  </a:t>
            </a:r>
            <a:r>
              <a:rPr b="0" lang="en-US" sz="1050" spc="-1" strike="noStrike">
                <a:solidFill>
                  <a:srgbClr val="ffffff"/>
                </a:solidFill>
                <a:latin typeface="Calibri"/>
                <a:ea typeface="Calibri"/>
              </a:rPr>
              <a:t>August 2026</a:t>
            </a:r>
            <a:endParaRPr b="0" lang="en-IN"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56"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WHO WE ARE</a:t>
            </a:r>
            <a:endParaRPr b="0" lang="en-IN" sz="1150" spc="-1" strike="noStrike">
              <a:solidFill>
                <a:srgbClr val="000000"/>
              </a:solidFill>
              <a:latin typeface="Arial"/>
            </a:endParaRPr>
          </a:p>
        </p:txBody>
      </p:sp>
      <p:sp>
        <p:nvSpPr>
          <p:cNvPr id="57"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Company at a glance</a:t>
            </a:r>
            <a:endParaRPr b="0" lang="en-IN" sz="3400" spc="-1" strike="noStrike">
              <a:solidFill>
                <a:srgbClr val="000000"/>
              </a:solidFill>
              <a:latin typeface="Arial"/>
            </a:endParaRPr>
          </a:p>
        </p:txBody>
      </p:sp>
      <p:sp>
        <p:nvSpPr>
          <p:cNvPr id="58" name="Text 3"/>
          <p:cNvSpPr/>
          <p:nvPr/>
        </p:nvSpPr>
        <p:spPr>
          <a:xfrm>
            <a:off x="640080" y="1847160"/>
            <a:ext cx="5806080" cy="1572480"/>
          </a:xfrm>
          <a:prstGeom prst="rect">
            <a:avLst/>
          </a:prstGeom>
          <a:noFill/>
          <a:ln w="0">
            <a:noFill/>
          </a:ln>
        </p:spPr>
        <p:style>
          <a:lnRef idx="0"/>
          <a:fillRef idx="0"/>
          <a:effectRef idx="0"/>
          <a:fontRef idx="minor"/>
        </p:style>
        <p:txBody>
          <a:bodyPr lIns="0" rIns="0" tIns="0" bIns="0" anchor="t">
            <a:noAutofit/>
          </a:bodyPr>
          <a:p>
            <a:pPr>
              <a:lnSpc>
                <a:spcPct val="126000"/>
              </a:lnSpc>
              <a:tabLst>
                <a:tab algn="l" pos="0"/>
              </a:tabLst>
            </a:pPr>
            <a:r>
              <a:rPr b="0" lang="en-US" sz="1300" spc="-1" strike="noStrike">
                <a:solidFill>
                  <a:srgbClr val="232c24"/>
                </a:solidFill>
                <a:latin typeface="Calibri"/>
                <a:ea typeface="Calibri"/>
              </a:rPr>
              <a:t>Coco Palms By  Skylanes and Allied Products has been trading in coconut and allied products since 2013. In 2026 we commissioned a purpose-built dehydration facility on our four-acre site in Chengalpattu district, Tamil Nadu. Whole nuts are received at our own intake yard, cut and washed on site, dried in a catalytic infrared dehydrator, then pressed and filtered into finished oil. Thirteen years of trade experience now sits behind a drying plant specified to current food-safety standards rather than retrofitted to them.</a:t>
            </a:r>
            <a:endParaRPr b="0" lang="en-IN" sz="1300" spc="-1" strike="noStrike">
              <a:solidFill>
                <a:srgbClr val="000000"/>
              </a:solidFill>
              <a:latin typeface="Arial"/>
            </a:endParaRPr>
          </a:p>
        </p:txBody>
      </p:sp>
      <p:sp>
        <p:nvSpPr>
          <p:cNvPr id="59" name="Text 4"/>
          <p:cNvSpPr/>
          <p:nvPr/>
        </p:nvSpPr>
        <p:spPr>
          <a:xfrm>
            <a:off x="640080" y="3547800"/>
            <a:ext cx="21484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Trading since</a:t>
            </a:r>
            <a:endParaRPr b="0" lang="en-IN" sz="1150" spc="-1" strike="noStrike">
              <a:solidFill>
                <a:srgbClr val="000000"/>
              </a:solidFill>
              <a:latin typeface="Arial"/>
            </a:endParaRPr>
          </a:p>
        </p:txBody>
      </p:sp>
      <p:sp>
        <p:nvSpPr>
          <p:cNvPr id="60" name="Text 5"/>
          <p:cNvSpPr/>
          <p:nvPr/>
        </p:nvSpPr>
        <p:spPr>
          <a:xfrm>
            <a:off x="2788920" y="3547800"/>
            <a:ext cx="3657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2013</a:t>
            </a:r>
            <a:endParaRPr b="0" lang="en-IN" sz="1250" spc="-1" strike="noStrike">
              <a:solidFill>
                <a:srgbClr val="000000"/>
              </a:solidFill>
              <a:latin typeface="Arial"/>
            </a:endParaRPr>
          </a:p>
        </p:txBody>
      </p:sp>
      <p:sp>
        <p:nvSpPr>
          <p:cNvPr id="61" name="Text 6"/>
          <p:cNvSpPr/>
          <p:nvPr/>
        </p:nvSpPr>
        <p:spPr>
          <a:xfrm>
            <a:off x="640080" y="3913560"/>
            <a:ext cx="21484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Dehydration facility</a:t>
            </a:r>
            <a:endParaRPr b="0" lang="en-IN" sz="1150" spc="-1" strike="noStrike">
              <a:solidFill>
                <a:srgbClr val="000000"/>
              </a:solidFill>
              <a:latin typeface="Arial"/>
            </a:endParaRPr>
          </a:p>
        </p:txBody>
      </p:sp>
      <p:sp>
        <p:nvSpPr>
          <p:cNvPr id="62" name="Text 7"/>
          <p:cNvSpPr/>
          <p:nvPr/>
        </p:nvSpPr>
        <p:spPr>
          <a:xfrm>
            <a:off x="2788920" y="3913560"/>
            <a:ext cx="3657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Commissioned 2025</a:t>
            </a:r>
            <a:endParaRPr b="0" lang="en-IN" sz="1250" spc="-1" strike="noStrike">
              <a:solidFill>
                <a:srgbClr val="000000"/>
              </a:solidFill>
              <a:latin typeface="Arial"/>
            </a:endParaRPr>
          </a:p>
        </p:txBody>
      </p:sp>
      <p:sp>
        <p:nvSpPr>
          <p:cNvPr id="63" name="Text 8"/>
          <p:cNvSpPr/>
          <p:nvPr/>
        </p:nvSpPr>
        <p:spPr>
          <a:xfrm>
            <a:off x="640080" y="4279320"/>
            <a:ext cx="21484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Plant location</a:t>
            </a:r>
            <a:endParaRPr b="0" lang="en-IN" sz="1150" spc="-1" strike="noStrike">
              <a:solidFill>
                <a:srgbClr val="000000"/>
              </a:solidFill>
              <a:latin typeface="Arial"/>
            </a:endParaRPr>
          </a:p>
        </p:txBody>
      </p:sp>
      <p:sp>
        <p:nvSpPr>
          <p:cNvPr id="64" name="Text 9"/>
          <p:cNvSpPr/>
          <p:nvPr/>
        </p:nvSpPr>
        <p:spPr>
          <a:xfrm>
            <a:off x="2788920" y="4279320"/>
            <a:ext cx="3657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Chengalpattu, Tamil Nadu</a:t>
            </a:r>
            <a:endParaRPr b="0" lang="en-IN" sz="1250" spc="-1" strike="noStrike">
              <a:solidFill>
                <a:srgbClr val="000000"/>
              </a:solidFill>
              <a:latin typeface="Arial"/>
            </a:endParaRPr>
          </a:p>
        </p:txBody>
      </p:sp>
      <p:sp>
        <p:nvSpPr>
          <p:cNvPr id="65" name="Text 10"/>
          <p:cNvSpPr/>
          <p:nvPr/>
        </p:nvSpPr>
        <p:spPr>
          <a:xfrm>
            <a:off x="640080" y="4645080"/>
            <a:ext cx="21484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Site area</a:t>
            </a:r>
            <a:endParaRPr b="0" lang="en-IN" sz="1150" spc="-1" strike="noStrike">
              <a:solidFill>
                <a:srgbClr val="000000"/>
              </a:solidFill>
              <a:latin typeface="Arial"/>
            </a:endParaRPr>
          </a:p>
        </p:txBody>
      </p:sp>
      <p:sp>
        <p:nvSpPr>
          <p:cNvPr id="66" name="Text 11"/>
          <p:cNvSpPr/>
          <p:nvPr/>
        </p:nvSpPr>
        <p:spPr>
          <a:xfrm>
            <a:off x="2788920" y="4645080"/>
            <a:ext cx="3657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4 acres</a:t>
            </a:r>
            <a:endParaRPr b="0" lang="en-IN" sz="1250" spc="-1" strike="noStrike">
              <a:solidFill>
                <a:srgbClr val="000000"/>
              </a:solidFill>
              <a:latin typeface="Arial"/>
            </a:endParaRPr>
          </a:p>
        </p:txBody>
      </p:sp>
      <p:sp>
        <p:nvSpPr>
          <p:cNvPr id="67" name="Text 12"/>
          <p:cNvSpPr/>
          <p:nvPr/>
        </p:nvSpPr>
        <p:spPr>
          <a:xfrm>
            <a:off x="640080" y="5010840"/>
            <a:ext cx="21484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Daily nut intake</a:t>
            </a:r>
            <a:endParaRPr b="0" lang="en-IN" sz="1150" spc="-1" strike="noStrike">
              <a:solidFill>
                <a:srgbClr val="000000"/>
              </a:solidFill>
              <a:latin typeface="Arial"/>
            </a:endParaRPr>
          </a:p>
        </p:txBody>
      </p:sp>
      <p:sp>
        <p:nvSpPr>
          <p:cNvPr id="68" name="Text 13"/>
          <p:cNvSpPr/>
          <p:nvPr/>
        </p:nvSpPr>
        <p:spPr>
          <a:xfrm>
            <a:off x="2788920" y="5010840"/>
            <a:ext cx="3657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100,000 nuts</a:t>
            </a:r>
            <a:endParaRPr b="0" lang="en-IN" sz="1250" spc="-1" strike="noStrike">
              <a:solidFill>
                <a:srgbClr val="000000"/>
              </a:solidFill>
              <a:latin typeface="Arial"/>
            </a:endParaRPr>
          </a:p>
        </p:txBody>
      </p:sp>
      <p:sp>
        <p:nvSpPr>
          <p:cNvPr id="69" name="Text 14"/>
          <p:cNvSpPr/>
          <p:nvPr/>
        </p:nvSpPr>
        <p:spPr>
          <a:xfrm>
            <a:off x="640080" y="5376600"/>
            <a:ext cx="21484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Workforce</a:t>
            </a:r>
            <a:endParaRPr b="0" lang="en-IN" sz="1150" spc="-1" strike="noStrike">
              <a:solidFill>
                <a:srgbClr val="000000"/>
              </a:solidFill>
              <a:latin typeface="Arial"/>
            </a:endParaRPr>
          </a:p>
        </p:txBody>
      </p:sp>
      <p:sp>
        <p:nvSpPr>
          <p:cNvPr id="70" name="Text 15"/>
          <p:cNvSpPr/>
          <p:nvPr/>
        </p:nvSpPr>
        <p:spPr>
          <a:xfrm>
            <a:off x="2788920" y="5376600"/>
            <a:ext cx="3657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30+</a:t>
            </a:r>
            <a:endParaRPr b="0" lang="en-IN" sz="1250" spc="-1" strike="noStrike">
              <a:solidFill>
                <a:srgbClr val="000000"/>
              </a:solidFill>
              <a:latin typeface="Arial"/>
            </a:endParaRPr>
          </a:p>
        </p:txBody>
      </p:sp>
      <p:sp>
        <p:nvSpPr>
          <p:cNvPr id="71" name="Text 16"/>
          <p:cNvSpPr/>
          <p:nvPr/>
        </p:nvSpPr>
        <p:spPr>
          <a:xfrm>
            <a:off x="640080" y="5742360"/>
            <a:ext cx="21484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Quality accreditations</a:t>
            </a:r>
            <a:endParaRPr b="0" lang="en-IN" sz="1150" spc="-1" strike="noStrike">
              <a:solidFill>
                <a:srgbClr val="000000"/>
              </a:solidFill>
              <a:latin typeface="Arial"/>
            </a:endParaRPr>
          </a:p>
        </p:txBody>
      </p:sp>
      <p:sp>
        <p:nvSpPr>
          <p:cNvPr id="72" name="Text 17"/>
          <p:cNvSpPr/>
          <p:nvPr/>
        </p:nvSpPr>
        <p:spPr>
          <a:xfrm>
            <a:off x="2788920" y="5742360"/>
            <a:ext cx="3657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ISO 9001, FSSAI, NABL</a:t>
            </a:r>
            <a:endParaRPr b="0" lang="en-IN" sz="1250" spc="-1" strike="noStrike">
              <a:solidFill>
                <a:srgbClr val="000000"/>
              </a:solidFill>
              <a:latin typeface="Arial"/>
            </a:endParaRPr>
          </a:p>
        </p:txBody>
      </p:sp>
      <p:pic>
        <p:nvPicPr>
          <p:cNvPr id="73" name="Image 0" descr="C:\Users\affla\OneDrive\Documents\Saas\Claude projects\COCOPALM\build\img\aerial2.jpg"/>
          <p:cNvPicPr/>
          <p:nvPr/>
        </p:nvPicPr>
        <p:blipFill>
          <a:blip r:embed="rId1"/>
          <a:stretch/>
        </p:blipFill>
        <p:spPr>
          <a:xfrm>
            <a:off x="6949440" y="1847160"/>
            <a:ext cx="4004640" cy="3035520"/>
          </a:xfrm>
          <a:prstGeom prst="rect">
            <a:avLst/>
          </a:prstGeom>
          <a:ln w="0">
            <a:noFill/>
          </a:ln>
        </p:spPr>
      </p:pic>
      <p:sp>
        <p:nvSpPr>
          <p:cNvPr id="74" name="Text 18"/>
          <p:cNvSpPr/>
          <p:nvPr/>
        </p:nvSpPr>
        <p:spPr>
          <a:xfrm>
            <a:off x="6949440" y="4956120"/>
            <a:ext cx="40046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Drying halls from above - the plant's insulated chamber block</a:t>
            </a:r>
            <a:endParaRPr b="0" lang="en-IN" sz="950" spc="-1" strike="noStrike">
              <a:solidFill>
                <a:srgbClr val="000000"/>
              </a:solidFill>
              <a:latin typeface="Arial"/>
            </a:endParaRPr>
          </a:p>
        </p:txBody>
      </p:sp>
      <p:sp>
        <p:nvSpPr>
          <p:cNvPr id="75" name="Shape 19"/>
          <p:cNvSpPr/>
          <p:nvPr/>
        </p:nvSpPr>
        <p:spPr>
          <a:xfrm>
            <a:off x="6949440" y="5303520"/>
            <a:ext cx="4004640" cy="767880"/>
          </a:xfrm>
          <a:prstGeom prst="roundRect">
            <a:avLst>
              <a:gd name="adj" fmla="val 7143"/>
            </a:avLst>
          </a:prstGeom>
          <a:solidFill>
            <a:srgbClr val="14532d"/>
          </a:solidFill>
          <a:ln w="12700">
            <a:solidFill>
              <a:srgbClr val="14532d"/>
            </a:solidFill>
            <a:round/>
          </a:ln>
        </p:spPr>
        <p:style>
          <a:lnRef idx="0"/>
          <a:fillRef idx="0"/>
          <a:effectRef idx="0"/>
          <a:fontRef idx="minor"/>
        </p:style>
        <p:txBody>
          <a:bodyPr lIns="90000" rIns="90000" tIns="45000" bIns="45000" anchor="t">
            <a:noAutofit/>
          </a:bodyPr>
          <a:p>
            <a:endParaRPr b="0" lang="en-IN" sz="1800" spc="-1" strike="noStrike">
              <a:solidFill>
                <a:srgbClr val="ffffff"/>
              </a:solidFill>
              <a:latin typeface="Arial"/>
            </a:endParaRPr>
          </a:p>
        </p:txBody>
      </p:sp>
      <p:sp>
        <p:nvSpPr>
          <p:cNvPr id="76" name="Text 20"/>
          <p:cNvSpPr/>
          <p:nvPr/>
        </p:nvSpPr>
        <p:spPr>
          <a:xfrm>
            <a:off x="7178040" y="5303520"/>
            <a:ext cx="3638880" cy="767880"/>
          </a:xfrm>
          <a:prstGeom prst="rect">
            <a:avLst/>
          </a:prstGeom>
          <a:noFill/>
          <a:ln w="0">
            <a:noFill/>
          </a:ln>
        </p:spPr>
        <p:style>
          <a:lnRef idx="0"/>
          <a:fillRef idx="0"/>
          <a:effectRef idx="0"/>
          <a:fontRef idx="minor"/>
        </p:style>
        <p:txBody>
          <a:bodyPr lIns="0" rIns="0" tIns="0" bIns="0" anchor="ctr">
            <a:noAutofit/>
          </a:bodyPr>
          <a:p>
            <a:pPr>
              <a:lnSpc>
                <a:spcPct val="114000"/>
              </a:lnSpc>
              <a:tabLst>
                <a:tab algn="l" pos="0"/>
              </a:tabLst>
            </a:pPr>
            <a:r>
              <a:rPr b="1" lang="en-US" sz="1400" spc="-1" strike="noStrike">
                <a:solidFill>
                  <a:srgbClr val="ffffff"/>
                </a:solidFill>
                <a:latin typeface="Cambria"/>
                <a:ea typeface="Cambria"/>
              </a:rPr>
              <a:t>100,000 nuts per day</a:t>
            </a:r>
            <a:endParaRPr b="0" lang="en-IN" sz="1400" spc="-1" strike="noStrike">
              <a:solidFill>
                <a:srgbClr val="000000"/>
              </a:solidFill>
              <a:latin typeface="Arial"/>
            </a:endParaRPr>
          </a:p>
          <a:p>
            <a:pPr>
              <a:lnSpc>
                <a:spcPct val="114000"/>
              </a:lnSpc>
              <a:tabLst>
                <a:tab algn="l" pos="0"/>
              </a:tabLst>
            </a:pPr>
            <a:r>
              <a:rPr b="0" lang="en-US" sz="1050" spc="-1" strike="noStrike">
                <a:solidFill>
                  <a:srgbClr val="e3c171"/>
                </a:solidFill>
                <a:latin typeface="Calibri"/>
                <a:ea typeface="Calibri"/>
              </a:rPr>
              <a:t>10 tonnes of material dried per 12-hour batch</a:t>
            </a:r>
            <a:endParaRPr b="0" lang="en-IN" sz="1050" spc="-1" strike="noStrike">
              <a:solidFill>
                <a:srgbClr val="000000"/>
              </a:solidFill>
              <a:latin typeface="Arial"/>
            </a:endParaRPr>
          </a:p>
        </p:txBody>
      </p:sp>
      <p:sp>
        <p:nvSpPr>
          <p:cNvPr id="77" name="Text 21"/>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78" name="Text 22"/>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2</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80"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PRODUCT RANGE</a:t>
            </a:r>
            <a:endParaRPr b="0" lang="en-IN" sz="1150" spc="-1" strike="noStrike">
              <a:solidFill>
                <a:srgbClr val="000000"/>
              </a:solidFill>
              <a:latin typeface="Arial"/>
            </a:endParaRPr>
          </a:p>
        </p:txBody>
      </p:sp>
      <p:sp>
        <p:nvSpPr>
          <p:cNvPr id="81"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What we supply</a:t>
            </a:r>
            <a:endParaRPr b="0" lang="en-IN" sz="3400" spc="-1" strike="noStrike">
              <a:solidFill>
                <a:srgbClr val="000000"/>
              </a:solidFill>
              <a:latin typeface="Arial"/>
            </a:endParaRPr>
          </a:p>
        </p:txBody>
      </p:sp>
      <p:sp>
        <p:nvSpPr>
          <p:cNvPr id="82" name="Shape 3"/>
          <p:cNvSpPr/>
          <p:nvPr/>
        </p:nvSpPr>
        <p:spPr>
          <a:xfrm>
            <a:off x="640080" y="1810440"/>
            <a:ext cx="5263560" cy="3711960"/>
          </a:xfrm>
          <a:prstGeom prst="roundRect">
            <a:avLst>
              <a:gd name="adj" fmla="val 1478"/>
            </a:avLst>
          </a:prstGeom>
          <a:solidFill>
            <a:srgbClr val="f1f5ef"/>
          </a:solidFill>
          <a:ln w="12700">
            <a:solidFill>
              <a:srgbClr val="f1f5ef"/>
            </a:solidFill>
            <a:round/>
          </a:ln>
          <a:effectLst>
            <a:outerShdw algn="bl" blurRad="152280" dir="5400000" dist="25560" kx="0" ky="0" rotWithShape="0" sx="100000" sy="100000">
              <a:srgbClr val="000000">
                <a:alpha val="8000"/>
              </a:srgbClr>
            </a:outerShdw>
          </a:effectLst>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83" name="Shape 4"/>
          <p:cNvSpPr/>
          <p:nvPr/>
        </p:nvSpPr>
        <p:spPr>
          <a:xfrm>
            <a:off x="914400" y="3877200"/>
            <a:ext cx="493560" cy="49356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84" name="Text 5"/>
          <p:cNvSpPr/>
          <p:nvPr/>
        </p:nvSpPr>
        <p:spPr>
          <a:xfrm>
            <a:off x="914400" y="3877200"/>
            <a:ext cx="493560" cy="49356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mbria"/>
                <a:ea typeface="Cambria"/>
              </a:rPr>
              <a:t>01</a:t>
            </a:r>
            <a:endParaRPr b="0" lang="en-IN" sz="1200" spc="-1" strike="noStrike">
              <a:solidFill>
                <a:srgbClr val="000000"/>
              </a:solidFill>
              <a:latin typeface="Arial"/>
            </a:endParaRPr>
          </a:p>
        </p:txBody>
      </p:sp>
      <p:sp>
        <p:nvSpPr>
          <p:cNvPr id="85" name="Text 6"/>
          <p:cNvSpPr/>
          <p:nvPr/>
        </p:nvSpPr>
        <p:spPr>
          <a:xfrm>
            <a:off x="1536120" y="3877200"/>
            <a:ext cx="4092840" cy="4935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14532d"/>
                </a:solidFill>
                <a:latin typeface="Cambria"/>
                <a:ea typeface="Cambria"/>
              </a:rPr>
              <a:t>Coconut Oil, Edible Grade</a:t>
            </a:r>
            <a:endParaRPr b="0" lang="en-IN" sz="1700" spc="-1" strike="noStrike">
              <a:solidFill>
                <a:srgbClr val="000000"/>
              </a:solidFill>
              <a:latin typeface="Arial"/>
            </a:endParaRPr>
          </a:p>
        </p:txBody>
      </p:sp>
      <p:sp>
        <p:nvSpPr>
          <p:cNvPr id="86" name="Text 7"/>
          <p:cNvSpPr/>
          <p:nvPr/>
        </p:nvSpPr>
        <p:spPr>
          <a:xfrm>
            <a:off x="914400" y="4553640"/>
            <a:ext cx="4714920" cy="914040"/>
          </a:xfrm>
          <a:prstGeom prst="rect">
            <a:avLst/>
          </a:prstGeom>
          <a:noFill/>
          <a:ln w="0">
            <a:noFill/>
          </a:ln>
        </p:spPr>
        <p:style>
          <a:lnRef idx="0"/>
          <a:fillRef idx="0"/>
          <a:effectRef idx="0"/>
          <a:fontRef idx="minor"/>
        </p:style>
        <p:txBody>
          <a:bodyPr lIns="0" rIns="0" tIns="0" bIns="0" anchor="t">
            <a:noAutofit/>
          </a:bodyPr>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Expeller-pressed from infrared-dried kernel</a:t>
            </a:r>
            <a:endParaRPr b="0" lang="en-IN" sz="1150" spc="-1" strike="noStrike">
              <a:solidFill>
                <a:srgbClr val="000000"/>
              </a:solidFill>
              <a:latin typeface="Arial"/>
            </a:endParaRPr>
          </a:p>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Sulfur-free - no chemical used at any stage</a:t>
            </a:r>
            <a:endParaRPr b="0" lang="en-IN" sz="1150" spc="-1" strike="noStrike">
              <a:solidFill>
                <a:srgbClr val="000000"/>
              </a:solidFill>
              <a:latin typeface="Arial"/>
            </a:endParaRPr>
          </a:p>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FFA below 0.5% · moisture below 0.1%</a:t>
            </a:r>
            <a:endParaRPr b="0" lang="en-IN" sz="1150" spc="-1" strike="noStrike">
              <a:solidFill>
                <a:srgbClr val="000000"/>
              </a:solidFill>
              <a:latin typeface="Arial"/>
            </a:endParaRPr>
          </a:p>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200 ml / 500 ml / 1 L PET · 5 L jerrycan</a:t>
            </a:r>
            <a:endParaRPr b="0" lang="en-IN" sz="1150" spc="-1" strike="noStrike">
              <a:solidFill>
                <a:srgbClr val="000000"/>
              </a:solidFill>
              <a:latin typeface="Arial"/>
            </a:endParaRPr>
          </a:p>
        </p:txBody>
      </p:sp>
      <p:sp>
        <p:nvSpPr>
          <p:cNvPr id="87" name="Shape 8"/>
          <p:cNvSpPr/>
          <p:nvPr/>
        </p:nvSpPr>
        <p:spPr>
          <a:xfrm>
            <a:off x="6287760" y="1810440"/>
            <a:ext cx="5263560" cy="3711960"/>
          </a:xfrm>
          <a:prstGeom prst="roundRect">
            <a:avLst>
              <a:gd name="adj" fmla="val 1478"/>
            </a:avLst>
          </a:prstGeom>
          <a:solidFill>
            <a:srgbClr val="f1f5ef"/>
          </a:solidFill>
          <a:ln w="12700">
            <a:solidFill>
              <a:srgbClr val="f1f5ef"/>
            </a:solidFill>
            <a:round/>
          </a:ln>
          <a:effectLst>
            <a:outerShdw algn="bl" blurRad="152280" dir="5400000" dist="25560" kx="0" ky="0" rotWithShape="0" sx="100000" sy="100000">
              <a:srgbClr val="000000">
                <a:alpha val="8000"/>
              </a:srgbClr>
            </a:outerShdw>
          </a:effectLst>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pic>
        <p:nvPicPr>
          <p:cNvPr id="88" name="Image 1" descr="C:\Users\affla\OneDrive\Documents\Saas\Claude projects\COCOPALM\build\img\oil.jpg"/>
          <p:cNvPicPr/>
          <p:nvPr/>
        </p:nvPicPr>
        <p:blipFill>
          <a:blip r:embed="rId1"/>
          <a:stretch/>
        </p:blipFill>
        <p:spPr>
          <a:xfrm>
            <a:off x="6287760" y="1810440"/>
            <a:ext cx="5263560" cy="1919880"/>
          </a:xfrm>
          <a:prstGeom prst="rect">
            <a:avLst/>
          </a:prstGeom>
          <a:ln w="0">
            <a:noFill/>
          </a:ln>
        </p:spPr>
      </p:pic>
      <p:sp>
        <p:nvSpPr>
          <p:cNvPr id="89" name="Shape 9"/>
          <p:cNvSpPr/>
          <p:nvPr/>
        </p:nvSpPr>
        <p:spPr>
          <a:xfrm>
            <a:off x="6562080" y="3877200"/>
            <a:ext cx="493560" cy="49356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90" name="Text 10"/>
          <p:cNvSpPr/>
          <p:nvPr/>
        </p:nvSpPr>
        <p:spPr>
          <a:xfrm>
            <a:off x="6562080" y="3877200"/>
            <a:ext cx="493560" cy="49356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mbria"/>
                <a:ea typeface="Cambria"/>
              </a:rPr>
              <a:t>02</a:t>
            </a:r>
            <a:endParaRPr b="0" lang="en-IN" sz="1200" spc="-1" strike="noStrike">
              <a:solidFill>
                <a:srgbClr val="000000"/>
              </a:solidFill>
              <a:latin typeface="Arial"/>
            </a:endParaRPr>
          </a:p>
        </p:txBody>
      </p:sp>
      <p:sp>
        <p:nvSpPr>
          <p:cNvPr id="91" name="Text 11"/>
          <p:cNvSpPr/>
          <p:nvPr/>
        </p:nvSpPr>
        <p:spPr>
          <a:xfrm>
            <a:off x="7184160" y="3877200"/>
            <a:ext cx="4092840" cy="4935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14532d"/>
                </a:solidFill>
                <a:latin typeface="Cambria"/>
                <a:ea typeface="Cambria"/>
              </a:rPr>
              <a:t>Coconut Oil, Bulk</a:t>
            </a:r>
            <a:endParaRPr b="0" lang="en-IN" sz="1700" spc="-1" strike="noStrike">
              <a:solidFill>
                <a:srgbClr val="000000"/>
              </a:solidFill>
              <a:latin typeface="Arial"/>
            </a:endParaRPr>
          </a:p>
        </p:txBody>
      </p:sp>
      <p:sp>
        <p:nvSpPr>
          <p:cNvPr id="92" name="Text 12"/>
          <p:cNvSpPr/>
          <p:nvPr/>
        </p:nvSpPr>
        <p:spPr>
          <a:xfrm>
            <a:off x="6562080" y="4553640"/>
            <a:ext cx="4714920" cy="914040"/>
          </a:xfrm>
          <a:prstGeom prst="rect">
            <a:avLst/>
          </a:prstGeom>
          <a:noFill/>
          <a:ln w="0">
            <a:noFill/>
          </a:ln>
        </p:spPr>
        <p:style>
          <a:lnRef idx="0"/>
          <a:fillRef idx="0"/>
          <a:effectRef idx="0"/>
          <a:fontRef idx="minor"/>
        </p:style>
        <p:txBody>
          <a:bodyPr lIns="0" rIns="0" tIns="0" bIns="0" anchor="t">
            <a:noAutofit/>
          </a:bodyPr>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Same line and same specification, bulk packed</a:t>
            </a:r>
            <a:endParaRPr b="0" lang="en-IN" sz="1150" spc="-1" strike="noStrike">
              <a:solidFill>
                <a:srgbClr val="000000"/>
              </a:solidFill>
              <a:latin typeface="Arial"/>
            </a:endParaRPr>
          </a:p>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Filtered grade; RBD available on request</a:t>
            </a:r>
            <a:endParaRPr b="0" lang="en-IN" sz="1150" spc="-1" strike="noStrike">
              <a:solidFill>
                <a:srgbClr val="000000"/>
              </a:solidFill>
              <a:latin typeface="Arial"/>
            </a:endParaRPr>
          </a:p>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For industrial and repacking buyers</a:t>
            </a:r>
            <a:endParaRPr b="0" lang="en-IN" sz="1150" spc="-1" strike="noStrike">
              <a:solidFill>
                <a:srgbClr val="000000"/>
              </a:solidFill>
              <a:latin typeface="Arial"/>
            </a:endParaRPr>
          </a:p>
          <a:p>
            <a:pPr marL="343080" indent="-343080">
              <a:lnSpc>
                <a:spcPct val="108000"/>
              </a:lnSpc>
              <a:spcAft>
                <a:spcPts val="499"/>
              </a:spcAft>
              <a:buClr>
                <a:srgbClr val="232c24"/>
              </a:buClr>
              <a:buFont typeface="Symbol" charset="2"/>
              <a:buChar char=""/>
            </a:pPr>
            <a:r>
              <a:rPr b="0" lang="en-US" sz="1150" spc="-1" strike="noStrike">
                <a:solidFill>
                  <a:srgbClr val="232c24"/>
                </a:solidFill>
                <a:latin typeface="Calibri"/>
                <a:ea typeface="Calibri"/>
              </a:rPr>
              <a:t>15 kg tin · 200 kg HDPE drum · flexitank</a:t>
            </a:r>
            <a:endParaRPr b="0" lang="en-IN" sz="1150" spc="-1" strike="noStrike">
              <a:solidFill>
                <a:srgbClr val="000000"/>
              </a:solidFill>
              <a:latin typeface="Arial"/>
            </a:endParaRPr>
          </a:p>
        </p:txBody>
      </p:sp>
      <p:sp>
        <p:nvSpPr>
          <p:cNvPr id="93" name="Shape 13"/>
          <p:cNvSpPr/>
          <p:nvPr/>
        </p:nvSpPr>
        <p:spPr>
          <a:xfrm>
            <a:off x="640080" y="5687640"/>
            <a:ext cx="10911240" cy="566640"/>
          </a:xfrm>
          <a:prstGeom prst="roundRect">
            <a:avLst>
              <a:gd name="adj" fmla="val 9677"/>
            </a:avLst>
          </a:prstGeom>
          <a:solidFill>
            <a:srgbClr val="14532d"/>
          </a:solidFill>
          <a:ln w="12700">
            <a:solidFill>
              <a:srgbClr val="14532d"/>
            </a:solidFill>
            <a:round/>
          </a:ln>
        </p:spPr>
        <p:style>
          <a:lnRef idx="0"/>
          <a:fillRef idx="0"/>
          <a:effectRef idx="0"/>
          <a:fontRef idx="minor"/>
        </p:style>
        <p:txBody>
          <a:bodyPr lIns="90000" rIns="90000" tIns="45000" bIns="45000" anchor="t">
            <a:noAutofit/>
          </a:bodyPr>
          <a:p>
            <a:endParaRPr b="0" lang="en-IN" sz="1800" spc="-1" strike="noStrike">
              <a:solidFill>
                <a:srgbClr val="ffffff"/>
              </a:solidFill>
              <a:latin typeface="Arial"/>
            </a:endParaRPr>
          </a:p>
        </p:txBody>
      </p:sp>
      <p:sp>
        <p:nvSpPr>
          <p:cNvPr id="94" name="Text 14"/>
          <p:cNvSpPr/>
          <p:nvPr/>
        </p:nvSpPr>
        <p:spPr>
          <a:xfrm>
            <a:off x="914400" y="5687640"/>
            <a:ext cx="10362600" cy="5666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200" spc="117" strike="noStrike">
                <a:solidFill>
                  <a:srgbClr val="ffffff"/>
                </a:solidFill>
                <a:latin typeface="Calibri"/>
                <a:ea typeface="Calibri"/>
              </a:rPr>
              <a:t>Allied products   </a:t>
            </a:r>
            <a:r>
              <a:rPr b="0" lang="en-US" sz="1200" spc="-1" strike="noStrike">
                <a:solidFill>
                  <a:srgbClr val="a9bbab"/>
                </a:solidFill>
                <a:latin typeface="Calibri"/>
                <a:ea typeface="Calibri"/>
              </a:rPr>
              <a:t>copra cake / de-oiled cake, a direct by-product of oil extraction. </a:t>
            </a:r>
            <a:endParaRPr b="0" lang="en-IN" sz="1200" spc="-1" strike="noStrike">
              <a:solidFill>
                <a:srgbClr val="000000"/>
              </a:solidFill>
              <a:latin typeface="Arial"/>
            </a:endParaRPr>
          </a:p>
        </p:txBody>
      </p:sp>
      <p:sp>
        <p:nvSpPr>
          <p:cNvPr id="95" name="Text 15"/>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96" name="Text 16"/>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3</a:t>
            </a:r>
            <a:endParaRPr b="0" lang="en-IN" sz="900" spc="-1" strike="noStrike">
              <a:solidFill>
                <a:srgbClr val="000000"/>
              </a:solidFill>
              <a:latin typeface="Arial"/>
            </a:endParaRPr>
          </a:p>
        </p:txBody>
      </p:sp>
      <p:pic>
        <p:nvPicPr>
          <p:cNvPr id="97" name="" descr=""/>
          <p:cNvPicPr/>
          <p:nvPr/>
        </p:nvPicPr>
        <p:blipFill>
          <a:blip r:embed="rId2"/>
          <a:stretch/>
        </p:blipFill>
        <p:spPr>
          <a:xfrm>
            <a:off x="1782360" y="1715760"/>
            <a:ext cx="3257640" cy="216144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Shape 0"/>
          <p:cNvSpPr/>
          <p:nvPr/>
        </p:nvSpPr>
        <p:spPr>
          <a:xfrm>
            <a:off x="0" y="0"/>
            <a:ext cx="12191400" cy="6857640"/>
          </a:xfrm>
          <a:prstGeom prst="rect">
            <a:avLst/>
          </a:prstGeom>
          <a:solidFill>
            <a:srgbClr val="14532d"/>
          </a:solidFill>
          <a:ln w="12700">
            <a:solidFill>
              <a:srgbClr val="14532d"/>
            </a:solidFill>
            <a:round/>
          </a:ln>
        </p:spPr>
        <p:style>
          <a:lnRef idx="0"/>
          <a:fillRef idx="0"/>
          <a:effectRef idx="0"/>
          <a:fontRef idx="minor"/>
        </p:style>
        <p:txBody>
          <a:bodyPr lIns="90000" rIns="90000" tIns="45000" bIns="45000" anchor="t">
            <a:noAutofit/>
          </a:bodyPr>
          <a:p>
            <a:endParaRPr b="0" lang="en-IN" sz="1800" spc="-1" strike="noStrike">
              <a:solidFill>
                <a:srgbClr val="ffffff"/>
              </a:solidFill>
              <a:latin typeface="Arial"/>
            </a:endParaRPr>
          </a:p>
        </p:txBody>
      </p:sp>
      <p:sp>
        <p:nvSpPr>
          <p:cNvPr id="99"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e3c171"/>
                </a:solidFill>
                <a:latin typeface="Calibri"/>
                <a:ea typeface="Calibri"/>
              </a:rPr>
              <a:t>HOW IT IS MADE</a:t>
            </a:r>
            <a:endParaRPr b="0" lang="en-IN" sz="1150" spc="-1" strike="noStrike">
              <a:solidFill>
                <a:srgbClr val="000000"/>
              </a:solidFill>
              <a:latin typeface="Arial"/>
            </a:endParaRPr>
          </a:p>
        </p:txBody>
      </p:sp>
      <p:sp>
        <p:nvSpPr>
          <p:cNvPr id="100"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ffffff"/>
                </a:solidFill>
                <a:latin typeface="Cambria"/>
                <a:ea typeface="Cambria"/>
              </a:rPr>
              <a:t>From whole nut to filtered oil</a:t>
            </a:r>
            <a:endParaRPr b="0" lang="en-IN" sz="3400" spc="-1" strike="noStrike">
              <a:solidFill>
                <a:srgbClr val="000000"/>
              </a:solidFill>
              <a:latin typeface="Arial"/>
            </a:endParaRPr>
          </a:p>
        </p:txBody>
      </p:sp>
      <p:sp>
        <p:nvSpPr>
          <p:cNvPr id="101" name="Shape 3"/>
          <p:cNvSpPr/>
          <p:nvPr/>
        </p:nvSpPr>
        <p:spPr>
          <a:xfrm>
            <a:off x="640080" y="188352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02" name="Shape 4"/>
          <p:cNvSpPr/>
          <p:nvPr/>
        </p:nvSpPr>
        <p:spPr>
          <a:xfrm>
            <a:off x="877680" y="210312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03" name="Text 5"/>
          <p:cNvSpPr/>
          <p:nvPr/>
        </p:nvSpPr>
        <p:spPr>
          <a:xfrm>
            <a:off x="877680" y="210312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1</a:t>
            </a:r>
            <a:endParaRPr b="0" lang="en-IN" sz="1300" spc="-1" strike="noStrike">
              <a:solidFill>
                <a:srgbClr val="000000"/>
              </a:solidFill>
              <a:latin typeface="Arial"/>
            </a:endParaRPr>
          </a:p>
        </p:txBody>
      </p:sp>
      <p:sp>
        <p:nvSpPr>
          <p:cNvPr id="104" name="Text 6"/>
          <p:cNvSpPr/>
          <p:nvPr/>
        </p:nvSpPr>
        <p:spPr>
          <a:xfrm>
            <a:off x="877680" y="267012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Intake</a:t>
            </a:r>
            <a:endParaRPr b="0" lang="en-IN" sz="1300" spc="-1" strike="noStrike">
              <a:solidFill>
                <a:srgbClr val="000000"/>
              </a:solidFill>
              <a:latin typeface="Arial"/>
            </a:endParaRPr>
          </a:p>
        </p:txBody>
      </p:sp>
      <p:sp>
        <p:nvSpPr>
          <p:cNvPr id="105" name="Text 7"/>
          <p:cNvSpPr/>
          <p:nvPr/>
        </p:nvSpPr>
        <p:spPr>
          <a:xfrm>
            <a:off x="877680" y="318204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Nuts received and unloaded in our raw material yard</a:t>
            </a:r>
            <a:endParaRPr b="0" lang="en-IN" sz="1050" spc="-1" strike="noStrike">
              <a:solidFill>
                <a:srgbClr val="000000"/>
              </a:solidFill>
              <a:latin typeface="Arial"/>
            </a:endParaRPr>
          </a:p>
        </p:txBody>
      </p:sp>
      <p:sp>
        <p:nvSpPr>
          <p:cNvPr id="106" name="Shape 8"/>
          <p:cNvSpPr/>
          <p:nvPr/>
        </p:nvSpPr>
        <p:spPr>
          <a:xfrm>
            <a:off x="3436560" y="188352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07" name="Shape 9"/>
          <p:cNvSpPr/>
          <p:nvPr/>
        </p:nvSpPr>
        <p:spPr>
          <a:xfrm>
            <a:off x="3674160" y="210312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08" name="Text 10"/>
          <p:cNvSpPr/>
          <p:nvPr/>
        </p:nvSpPr>
        <p:spPr>
          <a:xfrm>
            <a:off x="3674160" y="210312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2</a:t>
            </a:r>
            <a:endParaRPr b="0" lang="en-IN" sz="1300" spc="-1" strike="noStrike">
              <a:solidFill>
                <a:srgbClr val="000000"/>
              </a:solidFill>
              <a:latin typeface="Arial"/>
            </a:endParaRPr>
          </a:p>
        </p:txBody>
      </p:sp>
      <p:sp>
        <p:nvSpPr>
          <p:cNvPr id="109" name="Text 11"/>
          <p:cNvSpPr/>
          <p:nvPr/>
        </p:nvSpPr>
        <p:spPr>
          <a:xfrm>
            <a:off x="3674160" y="267012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Automated cutting</a:t>
            </a:r>
            <a:endParaRPr b="0" lang="en-IN" sz="1300" spc="-1" strike="noStrike">
              <a:solidFill>
                <a:srgbClr val="000000"/>
              </a:solidFill>
              <a:latin typeface="Arial"/>
            </a:endParaRPr>
          </a:p>
        </p:txBody>
      </p:sp>
      <p:sp>
        <p:nvSpPr>
          <p:cNvPr id="110" name="Text 12"/>
          <p:cNvSpPr/>
          <p:nvPr/>
        </p:nvSpPr>
        <p:spPr>
          <a:xfrm>
            <a:off x="3674160" y="318204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Conveyor cutting system halves every nut evenly</a:t>
            </a:r>
            <a:endParaRPr b="0" lang="en-IN" sz="1050" spc="-1" strike="noStrike">
              <a:solidFill>
                <a:srgbClr val="000000"/>
              </a:solidFill>
              <a:latin typeface="Arial"/>
            </a:endParaRPr>
          </a:p>
        </p:txBody>
      </p:sp>
      <p:sp>
        <p:nvSpPr>
          <p:cNvPr id="111" name="Shape 13"/>
          <p:cNvSpPr/>
          <p:nvPr/>
        </p:nvSpPr>
        <p:spPr>
          <a:xfrm>
            <a:off x="6233040" y="188352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12" name="Shape 14"/>
          <p:cNvSpPr/>
          <p:nvPr/>
        </p:nvSpPr>
        <p:spPr>
          <a:xfrm>
            <a:off x="6470640" y="210312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13" name="Text 15"/>
          <p:cNvSpPr/>
          <p:nvPr/>
        </p:nvSpPr>
        <p:spPr>
          <a:xfrm>
            <a:off x="6470640" y="210312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3</a:t>
            </a:r>
            <a:endParaRPr b="0" lang="en-IN" sz="1300" spc="-1" strike="noStrike">
              <a:solidFill>
                <a:srgbClr val="000000"/>
              </a:solidFill>
              <a:latin typeface="Arial"/>
            </a:endParaRPr>
          </a:p>
        </p:txBody>
      </p:sp>
      <p:sp>
        <p:nvSpPr>
          <p:cNvPr id="114" name="Text 16"/>
          <p:cNvSpPr/>
          <p:nvPr/>
        </p:nvSpPr>
        <p:spPr>
          <a:xfrm>
            <a:off x="6470640" y="267012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Trays and trolleys</a:t>
            </a:r>
            <a:endParaRPr b="0" lang="en-IN" sz="1300" spc="-1" strike="noStrike">
              <a:solidFill>
                <a:srgbClr val="000000"/>
              </a:solidFill>
              <a:latin typeface="Arial"/>
            </a:endParaRPr>
          </a:p>
        </p:txBody>
      </p:sp>
      <p:sp>
        <p:nvSpPr>
          <p:cNvPr id="115" name="Text 17"/>
          <p:cNvSpPr/>
          <p:nvPr/>
        </p:nvSpPr>
        <p:spPr>
          <a:xfrm>
            <a:off x="6470640" y="318204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Halves arranged on drying trays and loaded</a:t>
            </a:r>
            <a:endParaRPr b="0" lang="en-IN" sz="1050" spc="-1" strike="noStrike">
              <a:solidFill>
                <a:srgbClr val="000000"/>
              </a:solidFill>
              <a:latin typeface="Arial"/>
            </a:endParaRPr>
          </a:p>
        </p:txBody>
      </p:sp>
      <p:sp>
        <p:nvSpPr>
          <p:cNvPr id="116" name="Shape 18"/>
          <p:cNvSpPr/>
          <p:nvPr/>
        </p:nvSpPr>
        <p:spPr>
          <a:xfrm>
            <a:off x="9029520" y="188352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17" name="Shape 19"/>
          <p:cNvSpPr/>
          <p:nvPr/>
        </p:nvSpPr>
        <p:spPr>
          <a:xfrm>
            <a:off x="9267120" y="210312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18" name="Text 20"/>
          <p:cNvSpPr/>
          <p:nvPr/>
        </p:nvSpPr>
        <p:spPr>
          <a:xfrm>
            <a:off x="9267120" y="210312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4</a:t>
            </a:r>
            <a:endParaRPr b="0" lang="en-IN" sz="1300" spc="-1" strike="noStrike">
              <a:solidFill>
                <a:srgbClr val="000000"/>
              </a:solidFill>
              <a:latin typeface="Arial"/>
            </a:endParaRPr>
          </a:p>
        </p:txBody>
      </p:sp>
      <p:sp>
        <p:nvSpPr>
          <p:cNvPr id="119" name="Text 21"/>
          <p:cNvSpPr/>
          <p:nvPr/>
        </p:nvSpPr>
        <p:spPr>
          <a:xfrm>
            <a:off x="9267120" y="267012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High-pressure wash</a:t>
            </a:r>
            <a:endParaRPr b="0" lang="en-IN" sz="1300" spc="-1" strike="noStrike">
              <a:solidFill>
                <a:srgbClr val="000000"/>
              </a:solidFill>
              <a:latin typeface="Arial"/>
            </a:endParaRPr>
          </a:p>
        </p:txBody>
      </p:sp>
      <p:sp>
        <p:nvSpPr>
          <p:cNvPr id="120" name="Text 22"/>
          <p:cNvSpPr/>
          <p:nvPr/>
        </p:nvSpPr>
        <p:spPr>
          <a:xfrm>
            <a:off x="9267120" y="318204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Water spray removes dust and impurities</a:t>
            </a:r>
            <a:endParaRPr b="0" lang="en-IN" sz="1050" spc="-1" strike="noStrike">
              <a:solidFill>
                <a:srgbClr val="000000"/>
              </a:solidFill>
              <a:latin typeface="Arial"/>
            </a:endParaRPr>
          </a:p>
        </p:txBody>
      </p:sp>
      <p:sp>
        <p:nvSpPr>
          <p:cNvPr id="121" name="Shape 23"/>
          <p:cNvSpPr/>
          <p:nvPr/>
        </p:nvSpPr>
        <p:spPr>
          <a:xfrm>
            <a:off x="640080" y="396864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22" name="Shape 24"/>
          <p:cNvSpPr/>
          <p:nvPr/>
        </p:nvSpPr>
        <p:spPr>
          <a:xfrm>
            <a:off x="877680" y="418788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23" name="Text 25"/>
          <p:cNvSpPr/>
          <p:nvPr/>
        </p:nvSpPr>
        <p:spPr>
          <a:xfrm>
            <a:off x="877680" y="418788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5</a:t>
            </a:r>
            <a:endParaRPr b="0" lang="en-IN" sz="1300" spc="-1" strike="noStrike">
              <a:solidFill>
                <a:srgbClr val="000000"/>
              </a:solidFill>
              <a:latin typeface="Arial"/>
            </a:endParaRPr>
          </a:p>
        </p:txBody>
      </p:sp>
      <p:sp>
        <p:nvSpPr>
          <p:cNvPr id="124" name="Text 26"/>
          <p:cNvSpPr/>
          <p:nvPr/>
        </p:nvSpPr>
        <p:spPr>
          <a:xfrm>
            <a:off x="877680" y="475488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Infrared dehydration</a:t>
            </a:r>
            <a:endParaRPr b="0" lang="en-IN" sz="1300" spc="-1" strike="noStrike">
              <a:solidFill>
                <a:srgbClr val="000000"/>
              </a:solidFill>
              <a:latin typeface="Arial"/>
            </a:endParaRPr>
          </a:p>
        </p:txBody>
      </p:sp>
      <p:sp>
        <p:nvSpPr>
          <p:cNvPr id="125" name="Text 27"/>
          <p:cNvSpPr/>
          <p:nvPr/>
        </p:nvSpPr>
        <p:spPr>
          <a:xfrm>
            <a:off x="877680" y="526680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10 tonnes per 12 hours, moisture below 10%</a:t>
            </a:r>
            <a:endParaRPr b="0" lang="en-IN" sz="1050" spc="-1" strike="noStrike">
              <a:solidFill>
                <a:srgbClr val="000000"/>
              </a:solidFill>
              <a:latin typeface="Arial"/>
            </a:endParaRPr>
          </a:p>
        </p:txBody>
      </p:sp>
      <p:sp>
        <p:nvSpPr>
          <p:cNvPr id="126" name="Shape 28"/>
          <p:cNvSpPr/>
          <p:nvPr/>
        </p:nvSpPr>
        <p:spPr>
          <a:xfrm>
            <a:off x="3436560" y="396864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27" name="Shape 29"/>
          <p:cNvSpPr/>
          <p:nvPr/>
        </p:nvSpPr>
        <p:spPr>
          <a:xfrm>
            <a:off x="3674160" y="418788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28" name="Text 30"/>
          <p:cNvSpPr/>
          <p:nvPr/>
        </p:nvSpPr>
        <p:spPr>
          <a:xfrm>
            <a:off x="3674160" y="418788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6</a:t>
            </a:r>
            <a:endParaRPr b="0" lang="en-IN" sz="1300" spc="-1" strike="noStrike">
              <a:solidFill>
                <a:srgbClr val="000000"/>
              </a:solidFill>
              <a:latin typeface="Arial"/>
            </a:endParaRPr>
          </a:p>
        </p:txBody>
      </p:sp>
      <p:sp>
        <p:nvSpPr>
          <p:cNvPr id="129" name="Text 31"/>
          <p:cNvSpPr/>
          <p:nvPr/>
        </p:nvSpPr>
        <p:spPr>
          <a:xfrm>
            <a:off x="3674160" y="475488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Tray inspection</a:t>
            </a:r>
            <a:endParaRPr b="0" lang="en-IN" sz="1300" spc="-1" strike="noStrike">
              <a:solidFill>
                <a:srgbClr val="000000"/>
              </a:solidFill>
              <a:latin typeface="Arial"/>
            </a:endParaRPr>
          </a:p>
        </p:txBody>
      </p:sp>
      <p:sp>
        <p:nvSpPr>
          <p:cNvPr id="130" name="Text 32"/>
          <p:cNvSpPr/>
          <p:nvPr/>
        </p:nvSpPr>
        <p:spPr>
          <a:xfrm>
            <a:off x="3674160" y="526680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Every tray checked by trained staff and supervisors</a:t>
            </a:r>
            <a:endParaRPr b="0" lang="en-IN" sz="1050" spc="-1" strike="noStrike">
              <a:solidFill>
                <a:srgbClr val="000000"/>
              </a:solidFill>
              <a:latin typeface="Arial"/>
            </a:endParaRPr>
          </a:p>
        </p:txBody>
      </p:sp>
      <p:sp>
        <p:nvSpPr>
          <p:cNvPr id="131" name="Shape 33"/>
          <p:cNvSpPr/>
          <p:nvPr/>
        </p:nvSpPr>
        <p:spPr>
          <a:xfrm>
            <a:off x="6233040" y="396864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32" name="Shape 34"/>
          <p:cNvSpPr/>
          <p:nvPr/>
        </p:nvSpPr>
        <p:spPr>
          <a:xfrm>
            <a:off x="6470640" y="418788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33" name="Text 35"/>
          <p:cNvSpPr/>
          <p:nvPr/>
        </p:nvSpPr>
        <p:spPr>
          <a:xfrm>
            <a:off x="6470640" y="418788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7</a:t>
            </a:r>
            <a:endParaRPr b="0" lang="en-IN" sz="1300" spc="-1" strike="noStrike">
              <a:solidFill>
                <a:srgbClr val="000000"/>
              </a:solidFill>
              <a:latin typeface="Arial"/>
            </a:endParaRPr>
          </a:p>
        </p:txBody>
      </p:sp>
      <p:sp>
        <p:nvSpPr>
          <p:cNvPr id="134" name="Text 36"/>
          <p:cNvSpPr/>
          <p:nvPr/>
        </p:nvSpPr>
        <p:spPr>
          <a:xfrm>
            <a:off x="6470640" y="475488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Scooping and pulverising</a:t>
            </a:r>
            <a:endParaRPr b="0" lang="en-IN" sz="1300" spc="-1" strike="noStrike">
              <a:solidFill>
                <a:srgbClr val="000000"/>
              </a:solidFill>
              <a:latin typeface="Arial"/>
            </a:endParaRPr>
          </a:p>
        </p:txBody>
      </p:sp>
      <p:sp>
        <p:nvSpPr>
          <p:cNvPr id="135" name="Text 37"/>
          <p:cNvSpPr/>
          <p:nvPr/>
        </p:nvSpPr>
        <p:spPr>
          <a:xfrm>
            <a:off x="6470640" y="526680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Kernel lifted from shell, then reduced for pressing</a:t>
            </a:r>
            <a:endParaRPr b="0" lang="en-IN" sz="1050" spc="-1" strike="noStrike">
              <a:solidFill>
                <a:srgbClr val="000000"/>
              </a:solidFill>
              <a:latin typeface="Arial"/>
            </a:endParaRPr>
          </a:p>
        </p:txBody>
      </p:sp>
      <p:sp>
        <p:nvSpPr>
          <p:cNvPr id="136" name="Shape 38"/>
          <p:cNvSpPr/>
          <p:nvPr/>
        </p:nvSpPr>
        <p:spPr>
          <a:xfrm>
            <a:off x="9029520" y="3968640"/>
            <a:ext cx="2521800" cy="1791720"/>
          </a:xfrm>
          <a:prstGeom prst="roundRect">
            <a:avLst>
              <a:gd name="adj" fmla="val 2551"/>
            </a:avLst>
          </a:prstGeom>
          <a:solidFill>
            <a:srgbClr val="1b6034"/>
          </a:solidFill>
          <a:ln w="12700">
            <a:solidFill>
              <a:srgbClr val="1b6034"/>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37" name="Shape 39"/>
          <p:cNvSpPr/>
          <p:nvPr/>
        </p:nvSpPr>
        <p:spPr>
          <a:xfrm>
            <a:off x="9267120" y="418788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38" name="Text 40"/>
          <p:cNvSpPr/>
          <p:nvPr/>
        </p:nvSpPr>
        <p:spPr>
          <a:xfrm>
            <a:off x="9267120" y="418788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8</a:t>
            </a:r>
            <a:endParaRPr b="0" lang="en-IN" sz="1300" spc="-1" strike="noStrike">
              <a:solidFill>
                <a:srgbClr val="000000"/>
              </a:solidFill>
              <a:latin typeface="Arial"/>
            </a:endParaRPr>
          </a:p>
        </p:txBody>
      </p:sp>
      <p:sp>
        <p:nvSpPr>
          <p:cNvPr id="139" name="Text 41"/>
          <p:cNvSpPr/>
          <p:nvPr/>
        </p:nvSpPr>
        <p:spPr>
          <a:xfrm>
            <a:off x="9267120" y="4754880"/>
            <a:ext cx="2046240" cy="511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1300" spc="-1" strike="noStrike">
                <a:solidFill>
                  <a:srgbClr val="ffffff"/>
                </a:solidFill>
                <a:latin typeface="Cambria"/>
                <a:ea typeface="Cambria"/>
              </a:rPr>
              <a:t>Expelling and filtration</a:t>
            </a:r>
            <a:endParaRPr b="0" lang="en-IN" sz="1300" spc="-1" strike="noStrike">
              <a:solidFill>
                <a:srgbClr val="000000"/>
              </a:solidFill>
              <a:latin typeface="Arial"/>
            </a:endParaRPr>
          </a:p>
        </p:txBody>
      </p:sp>
      <p:sp>
        <p:nvSpPr>
          <p:cNvPr id="140" name="Text 42"/>
          <p:cNvSpPr/>
          <p:nvPr/>
        </p:nvSpPr>
        <p:spPr>
          <a:xfrm>
            <a:off x="9267120" y="5266800"/>
            <a:ext cx="2046240" cy="511560"/>
          </a:xfrm>
          <a:prstGeom prst="rect">
            <a:avLst/>
          </a:prstGeom>
          <a:noFill/>
          <a:ln w="0">
            <a:noFill/>
          </a:ln>
        </p:spPr>
        <p:style>
          <a:lnRef idx="0"/>
          <a:fillRef idx="0"/>
          <a:effectRef idx="0"/>
          <a:fontRef idx="minor"/>
        </p:style>
        <p:txBody>
          <a:bodyPr lIns="0" rIns="0" tIns="0" bIns="0" anchor="t">
            <a:noAutofit/>
          </a:bodyPr>
          <a:p>
            <a:pPr>
              <a:lnSpc>
                <a:spcPct val="114000"/>
              </a:lnSpc>
              <a:tabLst>
                <a:tab algn="l" pos="0"/>
              </a:tabLst>
            </a:pPr>
            <a:r>
              <a:rPr b="0" lang="en-US" sz="1050" spc="-1" strike="noStrike">
                <a:solidFill>
                  <a:srgbClr val="a9bbab"/>
                </a:solidFill>
                <a:latin typeface="Calibri"/>
                <a:ea typeface="Calibri"/>
              </a:rPr>
              <a:t>Mechanical press, then advanced filtration</a:t>
            </a:r>
            <a:endParaRPr b="0" lang="en-IN" sz="1050" spc="-1" strike="noStrike">
              <a:solidFill>
                <a:srgbClr val="000000"/>
              </a:solidFill>
              <a:latin typeface="Arial"/>
            </a:endParaRPr>
          </a:p>
        </p:txBody>
      </p:sp>
      <p:sp>
        <p:nvSpPr>
          <p:cNvPr id="141" name="Text 43"/>
          <p:cNvSpPr/>
          <p:nvPr/>
        </p:nvSpPr>
        <p:spPr>
          <a:xfrm>
            <a:off x="640080" y="5888880"/>
            <a:ext cx="10911240" cy="310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1100" spc="-1" strike="noStrike">
                <a:solidFill>
                  <a:srgbClr val="e3c171"/>
                </a:solidFill>
                <a:latin typeface="Calibri"/>
                <a:ea typeface="Calibri"/>
              </a:rPr>
              <a:t>No sulfur or any other chemical is used at any stage. The dehydration method itself is what makes chemical-free processing possible.</a:t>
            </a:r>
            <a:endParaRPr b="0" lang="en-IN" sz="1100" spc="-1" strike="noStrike">
              <a:solidFill>
                <a:srgbClr val="000000"/>
              </a:solidFill>
              <a:latin typeface="Arial"/>
            </a:endParaRPr>
          </a:p>
        </p:txBody>
      </p:sp>
      <p:sp>
        <p:nvSpPr>
          <p:cNvPr id="142" name="Text 44"/>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a9bbab"/>
                </a:solidFill>
                <a:latin typeface="Calibri"/>
                <a:ea typeface="Calibri"/>
              </a:rPr>
              <a:t>Coco Palms Skylanes and Allied Products</a:t>
            </a:r>
            <a:endParaRPr b="0" lang="en-IN" sz="900" spc="-1" strike="noStrike">
              <a:solidFill>
                <a:srgbClr val="000000"/>
              </a:solidFill>
              <a:latin typeface="Arial"/>
            </a:endParaRPr>
          </a:p>
        </p:txBody>
      </p:sp>
      <p:sp>
        <p:nvSpPr>
          <p:cNvPr id="143" name="Text 45"/>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a9bbab"/>
                </a:solidFill>
                <a:latin typeface="Calibri"/>
                <a:ea typeface="Calibri"/>
              </a:rPr>
              <a:t>4</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pic>
        <p:nvPicPr>
          <p:cNvPr id="145" name="Image 0" descr="C:\Users\affla\OneDrive\Documents\Saas\Claude projects\COCOPALM\build\img\intake.jpg"/>
          <p:cNvPicPr/>
          <p:nvPr/>
        </p:nvPicPr>
        <p:blipFill>
          <a:blip r:embed="rId1"/>
          <a:stretch/>
        </p:blipFill>
        <p:spPr>
          <a:xfrm>
            <a:off x="0" y="0"/>
            <a:ext cx="5540760" cy="6857640"/>
          </a:xfrm>
          <a:prstGeom prst="rect">
            <a:avLst/>
          </a:prstGeom>
          <a:ln w="0">
            <a:noFill/>
          </a:ln>
        </p:spPr>
      </p:pic>
      <p:sp>
        <p:nvSpPr>
          <p:cNvPr id="146" name="Text 1"/>
          <p:cNvSpPr/>
          <p:nvPr/>
        </p:nvSpPr>
        <p:spPr>
          <a:xfrm>
            <a:off x="6108120" y="1024200"/>
            <a:ext cx="544320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STEP 01</a:t>
            </a:r>
            <a:endParaRPr b="0" lang="en-IN" sz="1150" spc="-1" strike="noStrike">
              <a:solidFill>
                <a:srgbClr val="000000"/>
              </a:solidFill>
              <a:latin typeface="Arial"/>
            </a:endParaRPr>
          </a:p>
        </p:txBody>
      </p:sp>
      <p:sp>
        <p:nvSpPr>
          <p:cNvPr id="147" name="Text 2"/>
          <p:cNvSpPr/>
          <p:nvPr/>
        </p:nvSpPr>
        <p:spPr>
          <a:xfrm>
            <a:off x="6108120" y="1334880"/>
            <a:ext cx="544320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000" spc="-1" strike="noStrike">
                <a:solidFill>
                  <a:srgbClr val="14532d"/>
                </a:solidFill>
                <a:latin typeface="Cambria"/>
                <a:ea typeface="Cambria"/>
              </a:rPr>
              <a:t>Sourcing and intake</a:t>
            </a:r>
            <a:endParaRPr b="0" lang="en-IN" sz="3000" spc="-1" strike="noStrike">
              <a:solidFill>
                <a:srgbClr val="000000"/>
              </a:solidFill>
              <a:latin typeface="Arial"/>
            </a:endParaRPr>
          </a:p>
        </p:txBody>
      </p:sp>
      <p:sp>
        <p:nvSpPr>
          <p:cNvPr id="148" name="Text 3"/>
          <p:cNvSpPr/>
          <p:nvPr/>
        </p:nvSpPr>
        <p:spPr>
          <a:xfrm>
            <a:off x="6108120" y="2231280"/>
            <a:ext cx="5443200" cy="1371240"/>
          </a:xfrm>
          <a:prstGeom prst="rect">
            <a:avLst/>
          </a:prstGeom>
          <a:noFill/>
          <a:ln w="0">
            <a:noFill/>
          </a:ln>
        </p:spPr>
        <p:style>
          <a:lnRef idx="0"/>
          <a:fillRef idx="0"/>
          <a:effectRef idx="0"/>
          <a:fontRef idx="minor"/>
        </p:style>
        <p:txBody>
          <a:bodyPr lIns="0" rIns="0" tIns="0" bIns="0" anchor="t">
            <a:noAutofit/>
          </a:bodyPr>
          <a:p>
            <a:pPr>
              <a:lnSpc>
                <a:spcPct val="128000"/>
              </a:lnSpc>
              <a:tabLst>
                <a:tab algn="l" pos="0"/>
              </a:tabLst>
            </a:pPr>
            <a:r>
              <a:rPr b="0" lang="en-US" sz="1300" spc="-1" strike="noStrike">
                <a:solidFill>
                  <a:srgbClr val="232c24"/>
                </a:solidFill>
                <a:latin typeface="Calibri"/>
                <a:ea typeface="Calibri"/>
              </a:rPr>
              <a:t>Nuts arrive at the plant by tipper and are offloaded directly onto our spacious raw material yard by our own uniformed crew. From there they are fed into an automated conveyor cutting system that halves every nut evenly, so the nut is opened within the same site it was received on.</a:t>
            </a:r>
            <a:endParaRPr b="0" lang="en-IN" sz="1300" spc="-1" strike="noStrike">
              <a:solidFill>
                <a:srgbClr val="000000"/>
              </a:solidFill>
              <a:latin typeface="Arial"/>
            </a:endParaRPr>
          </a:p>
        </p:txBody>
      </p:sp>
      <p:sp>
        <p:nvSpPr>
          <p:cNvPr id="149" name="Text 4"/>
          <p:cNvSpPr/>
          <p:nvPr/>
        </p:nvSpPr>
        <p:spPr>
          <a:xfrm>
            <a:off x="6108120" y="3767400"/>
            <a:ext cx="20113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Sourcing region</a:t>
            </a:r>
            <a:endParaRPr b="0" lang="en-IN" sz="1150" spc="-1" strike="noStrike">
              <a:solidFill>
                <a:srgbClr val="000000"/>
              </a:solidFill>
              <a:latin typeface="Arial"/>
            </a:endParaRPr>
          </a:p>
        </p:txBody>
      </p:sp>
      <p:sp>
        <p:nvSpPr>
          <p:cNvPr id="150" name="Text 5"/>
          <p:cNvSpPr/>
          <p:nvPr/>
        </p:nvSpPr>
        <p:spPr>
          <a:xfrm>
            <a:off x="8119800" y="3767400"/>
            <a:ext cx="34315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Delta region, Tamil Nadu</a:t>
            </a:r>
            <a:endParaRPr b="0" lang="en-IN" sz="1250" spc="-1" strike="noStrike">
              <a:solidFill>
                <a:srgbClr val="000000"/>
              </a:solidFill>
              <a:latin typeface="Arial"/>
            </a:endParaRPr>
          </a:p>
        </p:txBody>
      </p:sp>
      <p:sp>
        <p:nvSpPr>
          <p:cNvPr id="151" name="Text 6"/>
          <p:cNvSpPr/>
          <p:nvPr/>
        </p:nvSpPr>
        <p:spPr>
          <a:xfrm>
            <a:off x="6108120" y="4187880"/>
            <a:ext cx="20113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Procurement</a:t>
            </a:r>
            <a:endParaRPr b="0" lang="en-IN" sz="1150" spc="-1" strike="noStrike">
              <a:solidFill>
                <a:srgbClr val="000000"/>
              </a:solidFill>
              <a:latin typeface="Arial"/>
            </a:endParaRPr>
          </a:p>
        </p:txBody>
      </p:sp>
      <p:sp>
        <p:nvSpPr>
          <p:cNvPr id="152" name="Text 7"/>
          <p:cNvSpPr/>
          <p:nvPr/>
        </p:nvSpPr>
        <p:spPr>
          <a:xfrm>
            <a:off x="8119800" y="4187880"/>
            <a:ext cx="34315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Direct from growers and regional mandis</a:t>
            </a:r>
            <a:endParaRPr b="0" lang="en-IN" sz="1250" spc="-1" strike="noStrike">
              <a:solidFill>
                <a:srgbClr val="000000"/>
              </a:solidFill>
              <a:latin typeface="Arial"/>
            </a:endParaRPr>
          </a:p>
        </p:txBody>
      </p:sp>
      <p:sp>
        <p:nvSpPr>
          <p:cNvPr id="153" name="Text 8"/>
          <p:cNvSpPr/>
          <p:nvPr/>
        </p:nvSpPr>
        <p:spPr>
          <a:xfrm>
            <a:off x="6108120" y="4608720"/>
            <a:ext cx="20113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Intake per day</a:t>
            </a:r>
            <a:endParaRPr b="0" lang="en-IN" sz="1150" spc="-1" strike="noStrike">
              <a:solidFill>
                <a:srgbClr val="000000"/>
              </a:solidFill>
              <a:latin typeface="Arial"/>
            </a:endParaRPr>
          </a:p>
        </p:txBody>
      </p:sp>
      <p:sp>
        <p:nvSpPr>
          <p:cNvPr id="154" name="Text 9"/>
          <p:cNvSpPr/>
          <p:nvPr/>
        </p:nvSpPr>
        <p:spPr>
          <a:xfrm>
            <a:off x="8119800" y="4608720"/>
            <a:ext cx="34315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100,000 nuts</a:t>
            </a:r>
            <a:endParaRPr b="0" lang="en-IN" sz="1250" spc="-1" strike="noStrike">
              <a:solidFill>
                <a:srgbClr val="000000"/>
              </a:solidFill>
              <a:latin typeface="Arial"/>
            </a:endParaRPr>
          </a:p>
        </p:txBody>
      </p:sp>
      <p:sp>
        <p:nvSpPr>
          <p:cNvPr id="155" name="Text 10"/>
          <p:cNvSpPr/>
          <p:nvPr/>
        </p:nvSpPr>
        <p:spPr>
          <a:xfrm>
            <a:off x="6108120" y="5029200"/>
            <a:ext cx="20113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Nut variety</a:t>
            </a:r>
            <a:endParaRPr b="0" lang="en-IN" sz="1150" spc="-1" strike="noStrike">
              <a:solidFill>
                <a:srgbClr val="000000"/>
              </a:solidFill>
              <a:latin typeface="Arial"/>
            </a:endParaRPr>
          </a:p>
        </p:txBody>
      </p:sp>
      <p:sp>
        <p:nvSpPr>
          <p:cNvPr id="156" name="Text 11"/>
          <p:cNvSpPr/>
          <p:nvPr/>
        </p:nvSpPr>
        <p:spPr>
          <a:xfrm>
            <a:off x="8119800" y="5029200"/>
            <a:ext cx="34315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i="1" lang="en-US" sz="1100" spc="117" strike="noStrike">
                <a:solidFill>
                  <a:srgbClr val="b8860f"/>
                </a:solidFill>
                <a:latin typeface="Calibri"/>
                <a:ea typeface="Calibri"/>
              </a:rPr>
              <a:t>Brown – Black coconut</a:t>
            </a:r>
            <a:endParaRPr b="0" lang="en-IN" sz="1100" spc="-1" strike="noStrike">
              <a:solidFill>
                <a:srgbClr val="000000"/>
              </a:solidFill>
              <a:latin typeface="Arial"/>
            </a:endParaRPr>
          </a:p>
        </p:txBody>
      </p:sp>
      <p:sp>
        <p:nvSpPr>
          <p:cNvPr id="157" name="Text 12"/>
          <p:cNvSpPr/>
          <p:nvPr/>
        </p:nvSpPr>
        <p:spPr>
          <a:xfrm>
            <a:off x="610812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158" name="Text 13"/>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5</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60"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STEP 05  ·  OUR TECHNICAL DIFFERENTIATOR</a:t>
            </a:r>
            <a:endParaRPr b="0" lang="en-IN" sz="1150" spc="-1" strike="noStrike">
              <a:solidFill>
                <a:srgbClr val="000000"/>
              </a:solidFill>
              <a:latin typeface="Arial"/>
            </a:endParaRPr>
          </a:p>
        </p:txBody>
      </p:sp>
      <p:sp>
        <p:nvSpPr>
          <p:cNvPr id="161"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Catalytic infrared dehydration</a:t>
            </a:r>
            <a:endParaRPr b="0" lang="en-IN" sz="3400" spc="-1" strike="noStrike">
              <a:solidFill>
                <a:srgbClr val="000000"/>
              </a:solidFill>
              <a:latin typeface="Arial"/>
            </a:endParaRPr>
          </a:p>
        </p:txBody>
      </p:sp>
      <p:pic>
        <p:nvPicPr>
          <p:cNvPr id="162" name="Image 0" descr="C:\Users\affla\OneDrive\Documents\Saas\Claude projects\COCOPALM\build\img\hall.jpg"/>
          <p:cNvPicPr/>
          <p:nvPr/>
        </p:nvPicPr>
        <p:blipFill>
          <a:blip r:embed="rId1"/>
          <a:stretch/>
        </p:blipFill>
        <p:spPr>
          <a:xfrm>
            <a:off x="640080" y="1810440"/>
            <a:ext cx="5230080" cy="2175840"/>
          </a:xfrm>
          <a:prstGeom prst="rect">
            <a:avLst/>
          </a:prstGeom>
          <a:ln w="0">
            <a:noFill/>
          </a:ln>
        </p:spPr>
      </p:pic>
      <p:sp>
        <p:nvSpPr>
          <p:cNvPr id="163" name="Text 3"/>
          <p:cNvSpPr/>
          <p:nvPr/>
        </p:nvSpPr>
        <p:spPr>
          <a:xfrm>
            <a:off x="640080" y="4041720"/>
            <a:ext cx="52300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The dehydration chamber block inside the main hall</a:t>
            </a:r>
            <a:endParaRPr b="0" lang="en-IN" sz="950" spc="-1" strike="noStrike">
              <a:solidFill>
                <a:srgbClr val="000000"/>
              </a:solidFill>
              <a:latin typeface="Arial"/>
            </a:endParaRPr>
          </a:p>
        </p:txBody>
      </p:sp>
      <p:pic>
        <p:nvPicPr>
          <p:cNvPr id="164" name="Image 1" descr="C:\Users\affla\OneDrive\Documents\Saas\Claude projects\COCOPALM\build\img\hmi.jpg"/>
          <p:cNvPicPr/>
          <p:nvPr/>
        </p:nvPicPr>
        <p:blipFill>
          <a:blip r:embed="rId2"/>
          <a:stretch/>
        </p:blipFill>
        <p:spPr>
          <a:xfrm>
            <a:off x="640080" y="4443840"/>
            <a:ext cx="5230080" cy="1371240"/>
          </a:xfrm>
          <a:prstGeom prst="rect">
            <a:avLst/>
          </a:prstGeom>
          <a:ln w="0">
            <a:noFill/>
          </a:ln>
        </p:spPr>
      </p:pic>
      <p:sp>
        <p:nvSpPr>
          <p:cNvPr id="165" name="Text 4"/>
          <p:cNvSpPr/>
          <p:nvPr/>
        </p:nvSpPr>
        <p:spPr>
          <a:xfrm>
            <a:off x="640080" y="5870520"/>
            <a:ext cx="52300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PLC touchscreen holding chamber temperature in any climate</a:t>
            </a:r>
            <a:endParaRPr b="0" lang="en-IN" sz="950" spc="-1" strike="noStrike">
              <a:solidFill>
                <a:srgbClr val="000000"/>
              </a:solidFill>
              <a:latin typeface="Arial"/>
            </a:endParaRPr>
          </a:p>
        </p:txBody>
      </p:sp>
      <p:sp>
        <p:nvSpPr>
          <p:cNvPr id="166" name="Text 5"/>
          <p:cNvSpPr/>
          <p:nvPr/>
        </p:nvSpPr>
        <p:spPr>
          <a:xfrm>
            <a:off x="6419160" y="1828800"/>
            <a:ext cx="5132160" cy="1243080"/>
          </a:xfrm>
          <a:prstGeom prst="rect">
            <a:avLst/>
          </a:prstGeom>
          <a:noFill/>
          <a:ln w="0">
            <a:noFill/>
          </a:ln>
        </p:spPr>
        <p:style>
          <a:lnRef idx="0"/>
          <a:fillRef idx="0"/>
          <a:effectRef idx="0"/>
          <a:fontRef idx="minor"/>
        </p:style>
        <p:txBody>
          <a:bodyPr lIns="0" rIns="0" tIns="0" bIns="0" anchor="t">
            <a:noAutofit/>
          </a:bodyPr>
          <a:p>
            <a:pPr>
              <a:lnSpc>
                <a:spcPct val="126000"/>
              </a:lnSpc>
              <a:tabLst>
                <a:tab algn="l" pos="0"/>
              </a:tabLst>
            </a:pPr>
            <a:r>
              <a:rPr b="0" lang="en-US" sz="1250" spc="-1" strike="noStrike">
                <a:solidFill>
                  <a:srgbClr val="232c24"/>
                </a:solidFill>
                <a:latin typeface="Calibri"/>
                <a:ea typeface="Calibri"/>
              </a:rPr>
              <a:t>Drying decides the quality of the finished oil, so it is the step we have engineered hardest. Instead of sun drying we use a European catalytic infrared dehydrator - one of the fastest and most efficient methods of coconut dehydration available.</a:t>
            </a:r>
            <a:endParaRPr b="0" lang="en-IN" sz="1250" spc="-1" strike="noStrike">
              <a:solidFill>
                <a:srgbClr val="000000"/>
              </a:solidFill>
              <a:latin typeface="Arial"/>
            </a:endParaRPr>
          </a:p>
        </p:txBody>
      </p:sp>
      <p:sp>
        <p:nvSpPr>
          <p:cNvPr id="167" name="Shape 6"/>
          <p:cNvSpPr/>
          <p:nvPr/>
        </p:nvSpPr>
        <p:spPr>
          <a:xfrm>
            <a:off x="6419160" y="3163680"/>
            <a:ext cx="5132160" cy="2048040"/>
          </a:xfrm>
          <a:prstGeom prst="roundRect">
            <a:avLst>
              <a:gd name="adj" fmla="val 2679"/>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68" name="Text 7"/>
          <p:cNvSpPr/>
          <p:nvPr/>
        </p:nvSpPr>
        <p:spPr>
          <a:xfrm>
            <a:off x="6675120" y="3328560"/>
            <a:ext cx="46202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00" spc="137" strike="noStrike">
                <a:solidFill>
                  <a:srgbClr val="14532d"/>
                </a:solidFill>
                <a:latin typeface="Calibri"/>
                <a:ea typeface="Calibri"/>
              </a:rPr>
              <a:t>How the chamber works</a:t>
            </a:r>
            <a:endParaRPr b="0" lang="en-IN" sz="1100" spc="-1" strike="noStrike">
              <a:solidFill>
                <a:srgbClr val="000000"/>
              </a:solidFill>
              <a:latin typeface="Arial"/>
            </a:endParaRPr>
          </a:p>
        </p:txBody>
      </p:sp>
      <p:sp>
        <p:nvSpPr>
          <p:cNvPr id="169" name="Text 8"/>
          <p:cNvSpPr/>
          <p:nvPr/>
        </p:nvSpPr>
        <p:spPr>
          <a:xfrm>
            <a:off x="6675120" y="3657600"/>
            <a:ext cx="4620240" cy="1481040"/>
          </a:xfrm>
          <a:prstGeom prst="rect">
            <a:avLst/>
          </a:prstGeom>
          <a:noFill/>
          <a:ln w="0">
            <a:noFill/>
          </a:ln>
        </p:spPr>
        <p:style>
          <a:lnRef idx="0"/>
          <a:fillRef idx="0"/>
          <a:effectRef idx="0"/>
          <a:fontRef idx="minor"/>
        </p:style>
        <p:txBody>
          <a:bodyPr lIns="0" rIns="0" tIns="0" bIns="0" anchor="t">
            <a:noAutofit/>
          </a:bodyPr>
          <a:p>
            <a:pPr marL="343080" indent="-343080">
              <a:lnSpc>
                <a:spcPct val="108000"/>
              </a:lnSpc>
              <a:spcAft>
                <a:spcPts val="400"/>
              </a:spcAft>
              <a:buClr>
                <a:srgbClr val="232c24"/>
              </a:buClr>
              <a:buFont typeface="Symbol" charset="2"/>
              <a:buChar char=""/>
            </a:pPr>
            <a:r>
              <a:rPr b="0" lang="en-US" sz="1100" spc="-1" strike="noStrike">
                <a:solidFill>
                  <a:srgbClr val="232c24"/>
                </a:solidFill>
                <a:latin typeface="Calibri"/>
                <a:ea typeface="Calibri"/>
              </a:rPr>
              <a:t>Infrared-radiating metal infusors generate controlled heat waves</a:t>
            </a:r>
            <a:endParaRPr b="0" lang="en-IN" sz="1100" spc="-1" strike="noStrike">
              <a:solidFill>
                <a:srgbClr val="000000"/>
              </a:solidFill>
              <a:latin typeface="Arial"/>
            </a:endParaRPr>
          </a:p>
          <a:p>
            <a:pPr marL="343080" indent="-343080">
              <a:lnSpc>
                <a:spcPct val="108000"/>
              </a:lnSpc>
              <a:spcAft>
                <a:spcPts val="400"/>
              </a:spcAft>
              <a:buClr>
                <a:srgbClr val="232c24"/>
              </a:buClr>
              <a:buFont typeface="Symbol" charset="2"/>
              <a:buChar char=""/>
            </a:pPr>
            <a:r>
              <a:rPr b="0" lang="en-US" sz="1100" spc="-1" strike="noStrike">
                <a:solidFill>
                  <a:srgbClr val="232c24"/>
                </a:solidFill>
                <a:latin typeface="Calibri"/>
                <a:ea typeface="Calibri"/>
              </a:rPr>
              <a:t>Platinum metal-plated walls, ceiling and doors reflect heat from every direction</a:t>
            </a:r>
            <a:endParaRPr b="0" lang="en-IN" sz="1100" spc="-1" strike="noStrike">
              <a:solidFill>
                <a:srgbClr val="000000"/>
              </a:solidFill>
              <a:latin typeface="Arial"/>
            </a:endParaRPr>
          </a:p>
          <a:p>
            <a:pPr marL="343080" indent="-343080">
              <a:lnSpc>
                <a:spcPct val="108000"/>
              </a:lnSpc>
              <a:spcAft>
                <a:spcPts val="400"/>
              </a:spcAft>
              <a:buClr>
                <a:srgbClr val="232c24"/>
              </a:buClr>
              <a:buFont typeface="Symbol" charset="2"/>
              <a:buChar char=""/>
            </a:pPr>
            <a:r>
              <a:rPr b="0" lang="en-US" sz="1100" spc="-1" strike="noStrike">
                <a:solidFill>
                  <a:srgbClr val="232c24"/>
                </a:solidFill>
                <a:latin typeface="Calibri"/>
                <a:ea typeface="Calibri"/>
              </a:rPr>
              <a:t>A compressor draws atmospheric air through a dehumidification system</a:t>
            </a:r>
            <a:endParaRPr b="0" lang="en-IN" sz="1100" spc="-1" strike="noStrike">
              <a:solidFill>
                <a:srgbClr val="000000"/>
              </a:solidFill>
              <a:latin typeface="Arial"/>
            </a:endParaRPr>
          </a:p>
          <a:p>
            <a:pPr marL="343080" indent="-343080">
              <a:lnSpc>
                <a:spcPct val="108000"/>
              </a:lnSpc>
              <a:spcAft>
                <a:spcPts val="400"/>
              </a:spcAft>
              <a:buClr>
                <a:srgbClr val="232c24"/>
              </a:buClr>
              <a:buFont typeface="Symbol" charset="2"/>
              <a:buChar char=""/>
            </a:pPr>
            <a:r>
              <a:rPr b="0" lang="en-US" sz="1100" spc="-1" strike="noStrike">
                <a:solidFill>
                  <a:srgbClr val="232c24"/>
                </a:solidFill>
                <a:latin typeface="Calibri"/>
                <a:ea typeface="Calibri"/>
              </a:rPr>
              <a:t>Roughly 3,300 sq ft of drying area</a:t>
            </a:r>
            <a:endParaRPr b="0" lang="en-IN" sz="1100" spc="-1" strike="noStrike">
              <a:solidFill>
                <a:srgbClr val="000000"/>
              </a:solidFill>
              <a:latin typeface="Arial"/>
            </a:endParaRPr>
          </a:p>
        </p:txBody>
      </p:sp>
      <p:sp>
        <p:nvSpPr>
          <p:cNvPr id="170" name="Shape 9"/>
          <p:cNvSpPr/>
          <p:nvPr/>
        </p:nvSpPr>
        <p:spPr>
          <a:xfrm>
            <a:off x="6419160" y="5358240"/>
            <a:ext cx="5132160" cy="749520"/>
          </a:xfrm>
          <a:prstGeom prst="roundRect">
            <a:avLst>
              <a:gd name="adj" fmla="val 7317"/>
            </a:avLst>
          </a:prstGeom>
          <a:solidFill>
            <a:srgbClr val="14532d"/>
          </a:solidFill>
          <a:ln w="12700">
            <a:solidFill>
              <a:srgbClr val="14532d"/>
            </a:solidFill>
            <a:round/>
          </a:ln>
        </p:spPr>
        <p:style>
          <a:lnRef idx="0"/>
          <a:fillRef idx="0"/>
          <a:effectRef idx="0"/>
          <a:fontRef idx="minor"/>
        </p:style>
        <p:txBody>
          <a:bodyPr lIns="90000" rIns="90000" tIns="45000" bIns="45000" anchor="t">
            <a:noAutofit/>
          </a:bodyPr>
          <a:p>
            <a:endParaRPr b="0" lang="en-IN" sz="1800" spc="-1" strike="noStrike">
              <a:solidFill>
                <a:srgbClr val="ffffff"/>
              </a:solidFill>
              <a:latin typeface="Arial"/>
            </a:endParaRPr>
          </a:p>
        </p:txBody>
      </p:sp>
      <p:sp>
        <p:nvSpPr>
          <p:cNvPr id="171" name="Text 10"/>
          <p:cNvSpPr/>
          <p:nvPr/>
        </p:nvSpPr>
        <p:spPr>
          <a:xfrm>
            <a:off x="6675120" y="5358240"/>
            <a:ext cx="4620240" cy="749520"/>
          </a:xfrm>
          <a:prstGeom prst="rect">
            <a:avLst/>
          </a:prstGeom>
          <a:noFill/>
          <a:ln w="0">
            <a:noFill/>
          </a:ln>
        </p:spPr>
        <p:style>
          <a:lnRef idx="0"/>
          <a:fillRef idx="0"/>
          <a:effectRef idx="0"/>
          <a:fontRef idx="minor"/>
        </p:style>
        <p:txBody>
          <a:bodyPr lIns="0" rIns="0" tIns="0" bIns="0" anchor="ctr">
            <a:noAutofit/>
          </a:bodyPr>
          <a:p>
            <a:pPr>
              <a:lnSpc>
                <a:spcPct val="114000"/>
              </a:lnSpc>
              <a:tabLst>
                <a:tab algn="l" pos="0"/>
              </a:tabLst>
            </a:pPr>
            <a:r>
              <a:rPr b="1" lang="en-US" sz="1300" spc="-1" strike="noStrike">
                <a:solidFill>
                  <a:srgbClr val="ffffff"/>
                </a:solidFill>
                <a:latin typeface="Cambria"/>
                <a:ea typeface="Cambria"/>
              </a:rPr>
              <a:t>10 tonnes in 12 hours, to below 10% moisture</a:t>
            </a:r>
            <a:endParaRPr b="0" lang="en-IN" sz="1300" spc="-1" strike="noStrike">
              <a:solidFill>
                <a:srgbClr val="000000"/>
              </a:solidFill>
              <a:latin typeface="Arial"/>
            </a:endParaRPr>
          </a:p>
          <a:p>
            <a:pPr>
              <a:lnSpc>
                <a:spcPct val="114000"/>
              </a:lnSpc>
              <a:tabLst>
                <a:tab algn="l" pos="0"/>
              </a:tabLst>
            </a:pPr>
            <a:r>
              <a:rPr b="0" lang="en-US" sz="1050" spc="-1" strike="noStrike">
                <a:solidFill>
                  <a:srgbClr val="e3c171"/>
                </a:solidFill>
                <a:latin typeface="Calibri"/>
                <a:ea typeface="Calibri"/>
              </a:rPr>
              <a:t>Sun drying needs five days to reach only 20%</a:t>
            </a:r>
            <a:endParaRPr b="0" lang="en-IN" sz="1050" spc="-1" strike="noStrike">
              <a:solidFill>
                <a:srgbClr val="000000"/>
              </a:solidFill>
              <a:latin typeface="Arial"/>
            </a:endParaRPr>
          </a:p>
        </p:txBody>
      </p:sp>
      <p:sp>
        <p:nvSpPr>
          <p:cNvPr id="172" name="Text 11"/>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173" name="Text 12"/>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6</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75"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STEPS 04 AND 06</a:t>
            </a:r>
            <a:endParaRPr b="0" lang="en-IN" sz="1150" spc="-1" strike="noStrike">
              <a:solidFill>
                <a:srgbClr val="000000"/>
              </a:solidFill>
              <a:latin typeface="Arial"/>
            </a:endParaRPr>
          </a:p>
        </p:txBody>
      </p:sp>
      <p:sp>
        <p:nvSpPr>
          <p:cNvPr id="176"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Washing and inspection</a:t>
            </a:r>
            <a:endParaRPr b="0" lang="en-IN" sz="3400" spc="-1" strike="noStrike">
              <a:solidFill>
                <a:srgbClr val="000000"/>
              </a:solidFill>
              <a:latin typeface="Arial"/>
            </a:endParaRPr>
          </a:p>
        </p:txBody>
      </p:sp>
      <p:pic>
        <p:nvPicPr>
          <p:cNvPr id="177" name="Image 0" descr="C:\Users\affla\OneDrive\Documents\Saas\Claude projects\COCOPALM\build\img\wash.jpg"/>
          <p:cNvPicPr/>
          <p:nvPr/>
        </p:nvPicPr>
        <p:blipFill>
          <a:blip r:embed="rId1"/>
          <a:stretch/>
        </p:blipFill>
        <p:spPr>
          <a:xfrm>
            <a:off x="640080" y="1810440"/>
            <a:ext cx="5263560" cy="2285640"/>
          </a:xfrm>
          <a:prstGeom prst="rect">
            <a:avLst/>
          </a:prstGeom>
          <a:ln w="0">
            <a:noFill/>
          </a:ln>
        </p:spPr>
      </p:pic>
      <p:sp>
        <p:nvSpPr>
          <p:cNvPr id="178" name="Text 3"/>
          <p:cNvSpPr/>
          <p:nvPr/>
        </p:nvSpPr>
        <p:spPr>
          <a:xfrm>
            <a:off x="640080" y="4169520"/>
            <a:ext cx="526356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High-pressure water spray wash, before dehydration</a:t>
            </a:r>
            <a:endParaRPr b="0" lang="en-IN" sz="950" spc="-1" strike="noStrike">
              <a:solidFill>
                <a:srgbClr val="000000"/>
              </a:solidFill>
              <a:latin typeface="Arial"/>
            </a:endParaRPr>
          </a:p>
        </p:txBody>
      </p:sp>
      <p:pic>
        <p:nvPicPr>
          <p:cNvPr id="179" name="Image 1" descr="C:\Users\affla\OneDrive\Documents\Saas\Claude projects\COCOPALM\build\img\qc.jpg"/>
          <p:cNvPicPr/>
          <p:nvPr/>
        </p:nvPicPr>
        <p:blipFill>
          <a:blip r:embed="rId2"/>
          <a:stretch/>
        </p:blipFill>
        <p:spPr>
          <a:xfrm>
            <a:off x="6287760" y="1810440"/>
            <a:ext cx="5263560" cy="2285640"/>
          </a:xfrm>
          <a:prstGeom prst="rect">
            <a:avLst/>
          </a:prstGeom>
          <a:ln w="0">
            <a:noFill/>
          </a:ln>
        </p:spPr>
      </p:pic>
      <p:sp>
        <p:nvSpPr>
          <p:cNvPr id="180" name="Text 4"/>
          <p:cNvSpPr/>
          <p:nvPr/>
        </p:nvSpPr>
        <p:spPr>
          <a:xfrm>
            <a:off x="6287760" y="4169520"/>
            <a:ext cx="526356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Every tray inspected by trained staff and supervisors</a:t>
            </a:r>
            <a:endParaRPr b="0" lang="en-IN" sz="950" spc="-1" strike="noStrike">
              <a:solidFill>
                <a:srgbClr val="000000"/>
              </a:solidFill>
              <a:latin typeface="Arial"/>
            </a:endParaRPr>
          </a:p>
        </p:txBody>
      </p:sp>
      <p:sp>
        <p:nvSpPr>
          <p:cNvPr id="181" name="Shape 5"/>
          <p:cNvSpPr/>
          <p:nvPr/>
        </p:nvSpPr>
        <p:spPr>
          <a:xfrm>
            <a:off x="640080" y="4608720"/>
            <a:ext cx="5263560" cy="1572480"/>
          </a:xfrm>
          <a:prstGeom prst="roundRect">
            <a:avLst>
              <a:gd name="adj" fmla="val 3488"/>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82" name="Text 6"/>
          <p:cNvSpPr/>
          <p:nvPr/>
        </p:nvSpPr>
        <p:spPr>
          <a:xfrm>
            <a:off x="896040" y="4754880"/>
            <a:ext cx="47512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00" spc="137" strike="noStrike">
                <a:solidFill>
                  <a:srgbClr val="14532d"/>
                </a:solidFill>
                <a:latin typeface="Calibri"/>
                <a:ea typeface="Calibri"/>
              </a:rPr>
              <a:t>Personnel hygiene</a:t>
            </a:r>
            <a:endParaRPr b="0" lang="en-IN" sz="1100" spc="-1" strike="noStrike">
              <a:solidFill>
                <a:srgbClr val="000000"/>
              </a:solidFill>
              <a:latin typeface="Arial"/>
            </a:endParaRPr>
          </a:p>
        </p:txBody>
      </p:sp>
      <p:sp>
        <p:nvSpPr>
          <p:cNvPr id="183" name="Text 7"/>
          <p:cNvSpPr/>
          <p:nvPr/>
        </p:nvSpPr>
        <p:spPr>
          <a:xfrm>
            <a:off x="896040" y="5083920"/>
            <a:ext cx="4751280" cy="1005480"/>
          </a:xfrm>
          <a:prstGeom prst="rect">
            <a:avLst/>
          </a:prstGeom>
          <a:noFill/>
          <a:ln w="0">
            <a:noFill/>
          </a:ln>
        </p:spPr>
        <p:style>
          <a:lnRef idx="0"/>
          <a:fillRef idx="0"/>
          <a:effectRef idx="0"/>
          <a:fontRef idx="minor"/>
        </p:style>
        <p:txBody>
          <a:bodyPr lIns="0" rIns="0" tIns="0" bIns="0" anchor="t">
            <a:noAutofit/>
          </a:bodyPr>
          <a:p>
            <a:pPr marL="343080" indent="-343080">
              <a:lnSpc>
                <a:spcPct val="108000"/>
              </a:lnSpc>
              <a:spcAft>
                <a:spcPts val="400"/>
              </a:spcAft>
              <a:buClr>
                <a:srgbClr val="232c24"/>
              </a:buClr>
              <a:buFont typeface="Symbol" charset="2"/>
              <a:buChar char=""/>
            </a:pPr>
            <a:r>
              <a:rPr b="0" lang="en-US" sz="1150" spc="-1" strike="noStrike">
                <a:solidFill>
                  <a:srgbClr val="232c24"/>
                </a:solidFill>
                <a:latin typeface="Calibri"/>
                <a:ea typeface="Calibri"/>
              </a:rPr>
              <a:t>Hairnets, face masks and gloves on the line</a:t>
            </a:r>
            <a:endParaRPr b="0" lang="en-IN" sz="1150" spc="-1" strike="noStrike">
              <a:solidFill>
                <a:srgbClr val="000000"/>
              </a:solidFill>
              <a:latin typeface="Arial"/>
            </a:endParaRPr>
          </a:p>
          <a:p>
            <a:pPr marL="343080" indent="-343080">
              <a:lnSpc>
                <a:spcPct val="108000"/>
              </a:lnSpc>
              <a:spcAft>
                <a:spcPts val="400"/>
              </a:spcAft>
              <a:buClr>
                <a:srgbClr val="232c24"/>
              </a:buClr>
              <a:buFont typeface="Symbol" charset="2"/>
              <a:buChar char=""/>
            </a:pPr>
            <a:r>
              <a:rPr b="0" lang="en-US" sz="1150" spc="-1" strike="noStrike">
                <a:solidFill>
                  <a:srgbClr val="232c24"/>
                </a:solidFill>
                <a:latin typeface="Calibri"/>
                <a:ea typeface="Calibri"/>
              </a:rPr>
              <a:t>Company-issued uniforms throughout</a:t>
            </a:r>
            <a:endParaRPr b="0" lang="en-IN" sz="1150" spc="-1" strike="noStrike">
              <a:solidFill>
                <a:srgbClr val="000000"/>
              </a:solidFill>
              <a:latin typeface="Arial"/>
            </a:endParaRPr>
          </a:p>
          <a:p>
            <a:pPr marL="343080" indent="-343080">
              <a:lnSpc>
                <a:spcPct val="108000"/>
              </a:lnSpc>
              <a:spcAft>
                <a:spcPts val="400"/>
              </a:spcAft>
              <a:buClr>
                <a:srgbClr val="232c24"/>
              </a:buClr>
              <a:buFont typeface="Symbol" charset="2"/>
              <a:buChar char=""/>
            </a:pPr>
            <a:r>
              <a:rPr b="0" lang="en-US" sz="1150" spc="-1" strike="noStrike">
                <a:solidFill>
                  <a:srgbClr val="232c24"/>
                </a:solidFill>
                <a:latin typeface="Calibri"/>
                <a:ea typeface="Calibri"/>
              </a:rPr>
              <a:t>Food-contact surfaces in stainless steel</a:t>
            </a:r>
            <a:endParaRPr b="0" lang="en-IN" sz="1150" spc="-1" strike="noStrike">
              <a:solidFill>
                <a:srgbClr val="000000"/>
              </a:solidFill>
              <a:latin typeface="Arial"/>
            </a:endParaRPr>
          </a:p>
        </p:txBody>
      </p:sp>
      <p:sp>
        <p:nvSpPr>
          <p:cNvPr id="184" name="Shape 8"/>
          <p:cNvSpPr/>
          <p:nvPr/>
        </p:nvSpPr>
        <p:spPr>
          <a:xfrm>
            <a:off x="6287760" y="4608720"/>
            <a:ext cx="5263560" cy="1572480"/>
          </a:xfrm>
          <a:prstGeom prst="roundRect">
            <a:avLst>
              <a:gd name="adj" fmla="val 3488"/>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85" name="Text 9"/>
          <p:cNvSpPr/>
          <p:nvPr/>
        </p:nvSpPr>
        <p:spPr>
          <a:xfrm>
            <a:off x="6544080" y="4754880"/>
            <a:ext cx="47512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00" spc="137" strike="noStrike">
                <a:solidFill>
                  <a:srgbClr val="14532d"/>
                </a:solidFill>
                <a:latin typeface="Calibri"/>
                <a:ea typeface="Calibri"/>
              </a:rPr>
              <a:t>Plant and surfaces</a:t>
            </a:r>
            <a:endParaRPr b="0" lang="en-IN" sz="1100" spc="-1" strike="noStrike">
              <a:solidFill>
                <a:srgbClr val="000000"/>
              </a:solidFill>
              <a:latin typeface="Arial"/>
            </a:endParaRPr>
          </a:p>
        </p:txBody>
      </p:sp>
      <p:sp>
        <p:nvSpPr>
          <p:cNvPr id="186" name="Text 10"/>
          <p:cNvSpPr/>
          <p:nvPr/>
        </p:nvSpPr>
        <p:spPr>
          <a:xfrm>
            <a:off x="6544080" y="5083920"/>
            <a:ext cx="4751280" cy="1005480"/>
          </a:xfrm>
          <a:prstGeom prst="rect">
            <a:avLst/>
          </a:prstGeom>
          <a:noFill/>
          <a:ln w="0">
            <a:noFill/>
          </a:ln>
        </p:spPr>
        <p:style>
          <a:lnRef idx="0"/>
          <a:fillRef idx="0"/>
          <a:effectRef idx="0"/>
          <a:fontRef idx="minor"/>
        </p:style>
        <p:txBody>
          <a:bodyPr lIns="0" rIns="0" tIns="0" bIns="0" anchor="t">
            <a:noAutofit/>
          </a:bodyPr>
          <a:p>
            <a:pPr marL="343080" indent="-343080">
              <a:lnSpc>
                <a:spcPct val="108000"/>
              </a:lnSpc>
              <a:spcAft>
                <a:spcPts val="400"/>
              </a:spcAft>
              <a:buClr>
                <a:srgbClr val="232c24"/>
              </a:buClr>
              <a:buFont typeface="Symbol" charset="2"/>
              <a:buChar char=""/>
            </a:pPr>
            <a:r>
              <a:rPr b="0" lang="en-US" sz="1150" spc="-1" strike="noStrike">
                <a:solidFill>
                  <a:srgbClr val="232c24"/>
                </a:solidFill>
                <a:latin typeface="Calibri"/>
                <a:ea typeface="Calibri"/>
              </a:rPr>
              <a:t>Enclosed drying rooms, not open-air yards</a:t>
            </a:r>
            <a:endParaRPr b="0" lang="en-IN" sz="1150" spc="-1" strike="noStrike">
              <a:solidFill>
                <a:srgbClr val="000000"/>
              </a:solidFill>
              <a:latin typeface="Arial"/>
            </a:endParaRPr>
          </a:p>
          <a:p>
            <a:pPr marL="343080" indent="-343080">
              <a:lnSpc>
                <a:spcPct val="108000"/>
              </a:lnSpc>
              <a:spcAft>
                <a:spcPts val="400"/>
              </a:spcAft>
              <a:buClr>
                <a:srgbClr val="232c24"/>
              </a:buClr>
              <a:buFont typeface="Symbol" charset="2"/>
              <a:buChar char=""/>
            </a:pPr>
            <a:r>
              <a:rPr b="0" lang="en-US" sz="1150" spc="-1" strike="noStrike">
                <a:solidFill>
                  <a:srgbClr val="232c24"/>
                </a:solidFill>
                <a:latin typeface="Calibri"/>
                <a:ea typeface="Calibri"/>
              </a:rPr>
              <a:t>Stainless trays and troughs at every wet stage</a:t>
            </a:r>
            <a:endParaRPr b="0" lang="en-IN" sz="1150" spc="-1" strike="noStrike">
              <a:solidFill>
                <a:srgbClr val="000000"/>
              </a:solidFill>
              <a:latin typeface="Arial"/>
            </a:endParaRPr>
          </a:p>
          <a:p>
            <a:pPr marL="343080" indent="-343080">
              <a:lnSpc>
                <a:spcPct val="108000"/>
              </a:lnSpc>
              <a:spcAft>
                <a:spcPts val="400"/>
              </a:spcAft>
              <a:buClr>
                <a:srgbClr val="232c24"/>
              </a:buClr>
              <a:buFont typeface="Symbol" charset="2"/>
              <a:buChar char=""/>
            </a:pPr>
            <a:r>
              <a:rPr b="0" lang="en-US" sz="1150" spc="-1" strike="noStrike">
                <a:solidFill>
                  <a:srgbClr val="232c24"/>
                </a:solidFill>
                <a:latin typeface="Calibri"/>
                <a:ea typeface="Calibri"/>
              </a:rPr>
              <a:t>Sealed washable floors and strip-curtain barriers</a:t>
            </a:r>
            <a:endParaRPr b="0" lang="en-IN" sz="1150" spc="-1" strike="noStrike">
              <a:solidFill>
                <a:srgbClr val="000000"/>
              </a:solidFill>
              <a:latin typeface="Arial"/>
            </a:endParaRPr>
          </a:p>
        </p:txBody>
      </p:sp>
      <p:sp>
        <p:nvSpPr>
          <p:cNvPr id="187" name="Text 11"/>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188" name="Text 12"/>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7</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90"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STEPS 07 AND 08</a:t>
            </a:r>
            <a:endParaRPr b="0" lang="en-IN" sz="1150" spc="-1" strike="noStrike">
              <a:solidFill>
                <a:srgbClr val="000000"/>
              </a:solidFill>
              <a:latin typeface="Arial"/>
            </a:endParaRPr>
          </a:p>
        </p:txBody>
      </p:sp>
      <p:sp>
        <p:nvSpPr>
          <p:cNvPr id="191"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From dried kernel to filtered oil</a:t>
            </a:r>
            <a:endParaRPr b="0" lang="en-IN" sz="3400" spc="-1" strike="noStrike">
              <a:solidFill>
                <a:srgbClr val="000000"/>
              </a:solidFill>
              <a:latin typeface="Arial"/>
            </a:endParaRPr>
          </a:p>
        </p:txBody>
      </p:sp>
      <p:sp>
        <p:nvSpPr>
          <p:cNvPr id="192" name="Shape 3"/>
          <p:cNvSpPr/>
          <p:nvPr/>
        </p:nvSpPr>
        <p:spPr>
          <a:xfrm>
            <a:off x="640080" y="1810440"/>
            <a:ext cx="5263560" cy="4224240"/>
          </a:xfrm>
          <a:prstGeom prst="roundRect">
            <a:avLst>
              <a:gd name="adj" fmla="val 1299"/>
            </a:avLst>
          </a:prstGeom>
          <a:solidFill>
            <a:srgbClr val="f1f5ef"/>
          </a:solidFill>
          <a:ln w="12700">
            <a:solidFill>
              <a:srgbClr val="f1f5ef"/>
            </a:solidFill>
            <a:round/>
          </a:ln>
          <a:effectLst>
            <a:outerShdw algn="bl" blurRad="152280" dir="5400000" dist="25560" kx="0" ky="0" rotWithShape="0" sx="100000" sy="100000">
              <a:srgbClr val="000000">
                <a:alpha val="8000"/>
              </a:srgbClr>
            </a:outerShdw>
          </a:effectLst>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pic>
        <p:nvPicPr>
          <p:cNvPr id="193" name="Image 0" descr="C:\Users\affla\OneDrive\Documents\Saas\Claude projects\COCOPALM\build\img\shred.jpg"/>
          <p:cNvPicPr/>
          <p:nvPr/>
        </p:nvPicPr>
        <p:blipFill>
          <a:blip r:embed="rId1"/>
          <a:stretch/>
        </p:blipFill>
        <p:spPr>
          <a:xfrm>
            <a:off x="640080" y="1810440"/>
            <a:ext cx="5263560" cy="1846800"/>
          </a:xfrm>
          <a:prstGeom prst="rect">
            <a:avLst/>
          </a:prstGeom>
          <a:ln w="0">
            <a:noFill/>
          </a:ln>
        </p:spPr>
      </p:pic>
      <p:sp>
        <p:nvSpPr>
          <p:cNvPr id="194" name="Shape 4"/>
          <p:cNvSpPr/>
          <p:nvPr/>
        </p:nvSpPr>
        <p:spPr>
          <a:xfrm>
            <a:off x="914400" y="3803760"/>
            <a:ext cx="493560" cy="49356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195" name="Text 5"/>
          <p:cNvSpPr/>
          <p:nvPr/>
        </p:nvSpPr>
        <p:spPr>
          <a:xfrm>
            <a:off x="914400" y="3803760"/>
            <a:ext cx="493560" cy="49356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mbria"/>
                <a:ea typeface="Cambria"/>
              </a:rPr>
              <a:t>07</a:t>
            </a:r>
            <a:endParaRPr b="0" lang="en-IN" sz="1200" spc="-1" strike="noStrike">
              <a:solidFill>
                <a:srgbClr val="000000"/>
              </a:solidFill>
              <a:latin typeface="Arial"/>
            </a:endParaRPr>
          </a:p>
        </p:txBody>
      </p:sp>
      <p:sp>
        <p:nvSpPr>
          <p:cNvPr id="196" name="Text 6"/>
          <p:cNvSpPr/>
          <p:nvPr/>
        </p:nvSpPr>
        <p:spPr>
          <a:xfrm>
            <a:off x="1536120" y="3803760"/>
            <a:ext cx="4092840" cy="4935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14532d"/>
                </a:solidFill>
                <a:latin typeface="Cambria"/>
                <a:ea typeface="Cambria"/>
              </a:rPr>
              <a:t>Scooping and pulverising</a:t>
            </a:r>
            <a:endParaRPr b="0" lang="en-IN" sz="1700" spc="-1" strike="noStrike">
              <a:solidFill>
                <a:srgbClr val="000000"/>
              </a:solidFill>
              <a:latin typeface="Arial"/>
            </a:endParaRPr>
          </a:p>
        </p:txBody>
      </p:sp>
      <p:sp>
        <p:nvSpPr>
          <p:cNvPr id="197" name="Text 7"/>
          <p:cNvSpPr/>
          <p:nvPr/>
        </p:nvSpPr>
        <p:spPr>
          <a:xfrm>
            <a:off x="914400" y="4443840"/>
            <a:ext cx="4714920" cy="914040"/>
          </a:xfrm>
          <a:prstGeom prst="rect">
            <a:avLst/>
          </a:prstGeom>
          <a:noFill/>
          <a:ln w="0">
            <a:noFill/>
          </a:ln>
        </p:spPr>
        <p:style>
          <a:lnRef idx="0"/>
          <a:fillRef idx="0"/>
          <a:effectRef idx="0"/>
          <a:fontRef idx="minor"/>
        </p:style>
        <p:txBody>
          <a:bodyPr lIns="0" rIns="0" tIns="0" bIns="0" anchor="t">
            <a:noAutofit/>
          </a:bodyPr>
          <a:p>
            <a:pPr>
              <a:lnSpc>
                <a:spcPct val="124000"/>
              </a:lnSpc>
              <a:tabLst>
                <a:tab algn="l" pos="0"/>
              </a:tabLst>
            </a:pPr>
            <a:r>
              <a:rPr b="0" lang="en-US" sz="1200" spc="-1" strike="noStrike">
                <a:solidFill>
                  <a:srgbClr val="232c24"/>
                </a:solidFill>
                <a:latin typeface="Calibri"/>
                <a:ea typeface="Calibri"/>
              </a:rPr>
              <a:t>Once dehydration is complete the kernel lifts cleanly away from the shell and is scooped out, then pulverised into smaller pieces ready for pressing.</a:t>
            </a:r>
            <a:endParaRPr b="0" lang="en-IN" sz="1200" spc="-1" strike="noStrike">
              <a:solidFill>
                <a:srgbClr val="000000"/>
              </a:solidFill>
              <a:latin typeface="Arial"/>
            </a:endParaRPr>
          </a:p>
        </p:txBody>
      </p:sp>
      <p:sp>
        <p:nvSpPr>
          <p:cNvPr id="198" name="Text 8"/>
          <p:cNvSpPr/>
          <p:nvPr/>
        </p:nvSpPr>
        <p:spPr>
          <a:xfrm>
            <a:off x="914400" y="5413320"/>
            <a:ext cx="19198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Moisture at scooping</a:t>
            </a:r>
            <a:endParaRPr b="0" lang="en-IN" sz="1150" spc="-1" strike="noStrike">
              <a:solidFill>
                <a:srgbClr val="000000"/>
              </a:solidFill>
              <a:latin typeface="Arial"/>
            </a:endParaRPr>
          </a:p>
        </p:txBody>
      </p:sp>
      <p:sp>
        <p:nvSpPr>
          <p:cNvPr id="199" name="Text 9"/>
          <p:cNvSpPr/>
          <p:nvPr/>
        </p:nvSpPr>
        <p:spPr>
          <a:xfrm>
            <a:off x="2834640" y="5413320"/>
            <a:ext cx="27946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below 10%</a:t>
            </a:r>
            <a:endParaRPr b="0" lang="en-IN" sz="1250" spc="-1" strike="noStrike">
              <a:solidFill>
                <a:srgbClr val="000000"/>
              </a:solidFill>
              <a:latin typeface="Arial"/>
            </a:endParaRPr>
          </a:p>
        </p:txBody>
      </p:sp>
      <p:sp>
        <p:nvSpPr>
          <p:cNvPr id="200" name="Text 10"/>
          <p:cNvSpPr/>
          <p:nvPr/>
        </p:nvSpPr>
        <p:spPr>
          <a:xfrm>
            <a:off x="914400" y="5742360"/>
            <a:ext cx="19198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Batch size</a:t>
            </a:r>
            <a:endParaRPr b="0" lang="en-IN" sz="1150" spc="-1" strike="noStrike">
              <a:solidFill>
                <a:srgbClr val="000000"/>
              </a:solidFill>
              <a:latin typeface="Arial"/>
            </a:endParaRPr>
          </a:p>
        </p:txBody>
      </p:sp>
      <p:sp>
        <p:nvSpPr>
          <p:cNvPr id="201" name="Text 11"/>
          <p:cNvSpPr/>
          <p:nvPr/>
        </p:nvSpPr>
        <p:spPr>
          <a:xfrm>
            <a:off x="2834640" y="5742360"/>
            <a:ext cx="27946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10 tonnes per 12 h</a:t>
            </a:r>
            <a:endParaRPr b="0" lang="en-IN" sz="1250" spc="-1" strike="noStrike">
              <a:solidFill>
                <a:srgbClr val="000000"/>
              </a:solidFill>
              <a:latin typeface="Arial"/>
            </a:endParaRPr>
          </a:p>
        </p:txBody>
      </p:sp>
      <p:sp>
        <p:nvSpPr>
          <p:cNvPr id="202" name="Shape 12"/>
          <p:cNvSpPr/>
          <p:nvPr/>
        </p:nvSpPr>
        <p:spPr>
          <a:xfrm>
            <a:off x="6287760" y="1810440"/>
            <a:ext cx="5263560" cy="4224240"/>
          </a:xfrm>
          <a:prstGeom prst="roundRect">
            <a:avLst>
              <a:gd name="adj" fmla="val 1299"/>
            </a:avLst>
          </a:prstGeom>
          <a:solidFill>
            <a:srgbClr val="f1f5ef"/>
          </a:solidFill>
          <a:ln w="12700">
            <a:solidFill>
              <a:srgbClr val="f1f5ef"/>
            </a:solidFill>
            <a:round/>
          </a:ln>
          <a:effectLst>
            <a:outerShdw algn="bl" blurRad="152280" dir="5400000" dist="25560" kx="0" ky="0" rotWithShape="0" sx="100000" sy="100000">
              <a:srgbClr val="000000">
                <a:alpha val="8000"/>
              </a:srgbClr>
            </a:outerShdw>
          </a:effectLst>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pic>
        <p:nvPicPr>
          <p:cNvPr id="203" name="Image 1" descr="C:\Users\affla\OneDrive\Documents\Saas\Claude projects\COCOPALM\build\img\oil.jpg"/>
          <p:cNvPicPr/>
          <p:nvPr/>
        </p:nvPicPr>
        <p:blipFill>
          <a:blip r:embed="rId2"/>
          <a:stretch/>
        </p:blipFill>
        <p:spPr>
          <a:xfrm>
            <a:off x="6287760" y="1810440"/>
            <a:ext cx="5263560" cy="1846800"/>
          </a:xfrm>
          <a:prstGeom prst="rect">
            <a:avLst/>
          </a:prstGeom>
          <a:ln w="0">
            <a:noFill/>
          </a:ln>
        </p:spPr>
      </p:pic>
      <p:sp>
        <p:nvSpPr>
          <p:cNvPr id="204" name="Shape 13"/>
          <p:cNvSpPr/>
          <p:nvPr/>
        </p:nvSpPr>
        <p:spPr>
          <a:xfrm>
            <a:off x="6562080" y="3803760"/>
            <a:ext cx="493560" cy="49356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05" name="Text 14"/>
          <p:cNvSpPr/>
          <p:nvPr/>
        </p:nvSpPr>
        <p:spPr>
          <a:xfrm>
            <a:off x="6562080" y="3803760"/>
            <a:ext cx="493560" cy="49356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mbria"/>
                <a:ea typeface="Cambria"/>
              </a:rPr>
              <a:t>08</a:t>
            </a:r>
            <a:endParaRPr b="0" lang="en-IN" sz="1200" spc="-1" strike="noStrike">
              <a:solidFill>
                <a:srgbClr val="000000"/>
              </a:solidFill>
              <a:latin typeface="Arial"/>
            </a:endParaRPr>
          </a:p>
        </p:txBody>
      </p:sp>
      <p:sp>
        <p:nvSpPr>
          <p:cNvPr id="206" name="Text 15"/>
          <p:cNvSpPr/>
          <p:nvPr/>
        </p:nvSpPr>
        <p:spPr>
          <a:xfrm>
            <a:off x="7184160" y="3803760"/>
            <a:ext cx="4092840" cy="4935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700" spc="-1" strike="noStrike">
                <a:solidFill>
                  <a:srgbClr val="14532d"/>
                </a:solidFill>
                <a:latin typeface="Cambria"/>
                <a:ea typeface="Cambria"/>
              </a:rPr>
              <a:t>Expelling and filtration</a:t>
            </a:r>
            <a:endParaRPr b="0" lang="en-IN" sz="1700" spc="-1" strike="noStrike">
              <a:solidFill>
                <a:srgbClr val="000000"/>
              </a:solidFill>
              <a:latin typeface="Arial"/>
            </a:endParaRPr>
          </a:p>
        </p:txBody>
      </p:sp>
      <p:sp>
        <p:nvSpPr>
          <p:cNvPr id="207" name="Text 16"/>
          <p:cNvSpPr/>
          <p:nvPr/>
        </p:nvSpPr>
        <p:spPr>
          <a:xfrm>
            <a:off x="6562080" y="4443840"/>
            <a:ext cx="4714920" cy="914040"/>
          </a:xfrm>
          <a:prstGeom prst="rect">
            <a:avLst/>
          </a:prstGeom>
          <a:noFill/>
          <a:ln w="0">
            <a:noFill/>
          </a:ln>
        </p:spPr>
        <p:style>
          <a:lnRef idx="0"/>
          <a:fillRef idx="0"/>
          <a:effectRef idx="0"/>
          <a:fontRef idx="minor"/>
        </p:style>
        <p:txBody>
          <a:bodyPr lIns="0" rIns="0" tIns="0" bIns="0" anchor="t">
            <a:noAutofit/>
          </a:bodyPr>
          <a:p>
            <a:pPr>
              <a:lnSpc>
                <a:spcPct val="124000"/>
              </a:lnSpc>
              <a:tabLst>
                <a:tab algn="l" pos="0"/>
              </a:tabLst>
            </a:pPr>
            <a:r>
              <a:rPr b="0" lang="en-US" sz="1200" spc="-1" strike="noStrike">
                <a:solidFill>
                  <a:srgbClr val="232c24"/>
                </a:solidFill>
                <a:latin typeface="Calibri"/>
                <a:ea typeface="Calibri"/>
              </a:rPr>
              <a:t>The pulverised kernel is fed into an expeller and pressed mechanically. The extracted oil then passes through advanced filtration to finished grade.</a:t>
            </a:r>
            <a:endParaRPr b="0" lang="en-IN" sz="1200" spc="-1" strike="noStrike">
              <a:solidFill>
                <a:srgbClr val="000000"/>
              </a:solidFill>
              <a:latin typeface="Arial"/>
            </a:endParaRPr>
          </a:p>
        </p:txBody>
      </p:sp>
      <p:sp>
        <p:nvSpPr>
          <p:cNvPr id="208" name="Text 17"/>
          <p:cNvSpPr/>
          <p:nvPr/>
        </p:nvSpPr>
        <p:spPr>
          <a:xfrm>
            <a:off x="6562080" y="5413320"/>
            <a:ext cx="19198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FFA at despatch</a:t>
            </a:r>
            <a:endParaRPr b="0" lang="en-IN" sz="1150" spc="-1" strike="noStrike">
              <a:solidFill>
                <a:srgbClr val="000000"/>
              </a:solidFill>
              <a:latin typeface="Arial"/>
            </a:endParaRPr>
          </a:p>
        </p:txBody>
      </p:sp>
      <p:sp>
        <p:nvSpPr>
          <p:cNvPr id="209" name="Text 18"/>
          <p:cNvSpPr/>
          <p:nvPr/>
        </p:nvSpPr>
        <p:spPr>
          <a:xfrm>
            <a:off x="8482320" y="5413320"/>
            <a:ext cx="27946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below 0.5%</a:t>
            </a:r>
            <a:endParaRPr b="0" lang="en-IN" sz="1250" spc="-1" strike="noStrike">
              <a:solidFill>
                <a:srgbClr val="000000"/>
              </a:solidFill>
              <a:latin typeface="Arial"/>
            </a:endParaRPr>
          </a:p>
        </p:txBody>
      </p:sp>
      <p:sp>
        <p:nvSpPr>
          <p:cNvPr id="210" name="Text 19"/>
          <p:cNvSpPr/>
          <p:nvPr/>
        </p:nvSpPr>
        <p:spPr>
          <a:xfrm>
            <a:off x="6562080" y="5742360"/>
            <a:ext cx="19198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Chemical use</a:t>
            </a:r>
            <a:endParaRPr b="0" lang="en-IN" sz="1150" spc="-1" strike="noStrike">
              <a:solidFill>
                <a:srgbClr val="000000"/>
              </a:solidFill>
              <a:latin typeface="Arial"/>
            </a:endParaRPr>
          </a:p>
        </p:txBody>
      </p:sp>
      <p:sp>
        <p:nvSpPr>
          <p:cNvPr id="211" name="Text 20"/>
          <p:cNvSpPr/>
          <p:nvPr/>
        </p:nvSpPr>
        <p:spPr>
          <a:xfrm>
            <a:off x="8482320" y="5742360"/>
            <a:ext cx="27946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250" spc="-1" strike="noStrike">
                <a:solidFill>
                  <a:srgbClr val="232c24"/>
                </a:solidFill>
                <a:latin typeface="Calibri"/>
                <a:ea typeface="Calibri"/>
              </a:rPr>
              <a:t>None - sulfur-free</a:t>
            </a:r>
            <a:endParaRPr b="0" lang="en-IN" sz="1250" spc="-1" strike="noStrike">
              <a:solidFill>
                <a:srgbClr val="000000"/>
              </a:solidFill>
              <a:latin typeface="Arial"/>
            </a:endParaRPr>
          </a:p>
        </p:txBody>
      </p:sp>
      <p:sp>
        <p:nvSpPr>
          <p:cNvPr id="212" name="Text 21"/>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213" name="Text 22"/>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8</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15"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QUALITY ASSURANCE</a:t>
            </a:r>
            <a:endParaRPr b="0" lang="en-IN" sz="1150" spc="-1" strike="noStrike">
              <a:solidFill>
                <a:srgbClr val="000000"/>
              </a:solidFill>
              <a:latin typeface="Arial"/>
            </a:endParaRPr>
          </a:p>
        </p:txBody>
      </p:sp>
      <p:sp>
        <p:nvSpPr>
          <p:cNvPr id="216"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Tested, not assumed</a:t>
            </a:r>
            <a:endParaRPr b="0" lang="en-IN" sz="3400" spc="-1" strike="noStrike">
              <a:solidFill>
                <a:srgbClr val="000000"/>
              </a:solidFill>
              <a:latin typeface="Arial"/>
            </a:endParaRPr>
          </a:p>
        </p:txBody>
      </p:sp>
      <p:sp>
        <p:nvSpPr>
          <p:cNvPr id="217" name="Text 3"/>
          <p:cNvSpPr/>
          <p:nvPr/>
        </p:nvSpPr>
        <p:spPr>
          <a:xfrm>
            <a:off x="640080" y="1828800"/>
            <a:ext cx="5028840" cy="1572480"/>
          </a:xfrm>
          <a:prstGeom prst="rect">
            <a:avLst/>
          </a:prstGeom>
          <a:noFill/>
          <a:ln w="0">
            <a:noFill/>
          </a:ln>
        </p:spPr>
        <p:style>
          <a:lnRef idx="0"/>
          <a:fillRef idx="0"/>
          <a:effectRef idx="0"/>
          <a:fontRef idx="minor"/>
        </p:style>
        <p:txBody>
          <a:bodyPr lIns="0" rIns="0" tIns="0" bIns="0" anchor="t">
            <a:noAutofit/>
          </a:bodyPr>
          <a:p>
            <a:pPr>
              <a:lnSpc>
                <a:spcPct val="126000"/>
              </a:lnSpc>
              <a:tabLst>
                <a:tab algn="l" pos="0"/>
              </a:tabLst>
            </a:pPr>
            <a:r>
              <a:rPr b="0" lang="en-US" sz="1300" spc="-1" strike="noStrike">
                <a:solidFill>
                  <a:srgbClr val="232c24"/>
                </a:solidFill>
                <a:latin typeface="Calibri"/>
                <a:ea typeface="Calibri"/>
              </a:rPr>
              <a:t>Quality is managed under an ISO 9001 system, the plant is FSSAI licensed, and testing is backed by NABL accreditation - the Indian national standard for laboratory competence. Every manufacturing batch is tested by our quality assurance team in our own in-house laboratory before it reaches a customer.</a:t>
            </a:r>
            <a:endParaRPr b="0" lang="en-IN" sz="1300" spc="-1" strike="noStrike">
              <a:solidFill>
                <a:srgbClr val="000000"/>
              </a:solidFill>
              <a:latin typeface="Arial"/>
            </a:endParaRPr>
          </a:p>
        </p:txBody>
      </p:sp>
      <p:sp>
        <p:nvSpPr>
          <p:cNvPr id="218" name="Shape 4"/>
          <p:cNvSpPr/>
          <p:nvPr/>
        </p:nvSpPr>
        <p:spPr>
          <a:xfrm>
            <a:off x="640080" y="3346560"/>
            <a:ext cx="5028840" cy="749520"/>
          </a:xfrm>
          <a:prstGeom prst="roundRect">
            <a:avLst>
              <a:gd name="adj" fmla="val 7317"/>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19" name="Shape 5"/>
          <p:cNvSpPr/>
          <p:nvPr/>
        </p:nvSpPr>
        <p:spPr>
          <a:xfrm>
            <a:off x="859680" y="3502080"/>
            <a:ext cx="438480" cy="43848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20" name="Text 6"/>
          <p:cNvSpPr/>
          <p:nvPr/>
        </p:nvSpPr>
        <p:spPr>
          <a:xfrm>
            <a:off x="859680" y="3502080"/>
            <a:ext cx="438480" cy="438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mbria"/>
                <a:ea typeface="Cambria"/>
              </a:rPr>
              <a:t>1</a:t>
            </a:r>
            <a:endParaRPr b="0" lang="en-IN" sz="1200" spc="-1" strike="noStrike">
              <a:solidFill>
                <a:srgbClr val="000000"/>
              </a:solidFill>
              <a:latin typeface="Arial"/>
            </a:endParaRPr>
          </a:p>
        </p:txBody>
      </p:sp>
      <p:sp>
        <p:nvSpPr>
          <p:cNvPr id="221" name="Text 7"/>
          <p:cNvSpPr/>
          <p:nvPr/>
        </p:nvSpPr>
        <p:spPr>
          <a:xfrm>
            <a:off x="1463040" y="3438000"/>
            <a:ext cx="3977280" cy="310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4532d"/>
                </a:solidFill>
                <a:latin typeface="Cambria"/>
                <a:ea typeface="Cambria"/>
              </a:rPr>
              <a:t>ISO 9001</a:t>
            </a:r>
            <a:endParaRPr b="0" lang="en-IN" sz="1400" spc="-1" strike="noStrike">
              <a:solidFill>
                <a:srgbClr val="000000"/>
              </a:solidFill>
              <a:latin typeface="Arial"/>
            </a:endParaRPr>
          </a:p>
        </p:txBody>
      </p:sp>
      <p:sp>
        <p:nvSpPr>
          <p:cNvPr id="222" name="Text 8"/>
          <p:cNvSpPr/>
          <p:nvPr/>
        </p:nvSpPr>
        <p:spPr>
          <a:xfrm>
            <a:off x="1463040" y="3730680"/>
            <a:ext cx="39772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Quality management system</a:t>
            </a:r>
            <a:endParaRPr b="0" lang="en-IN" sz="1050" spc="-1" strike="noStrike">
              <a:solidFill>
                <a:srgbClr val="000000"/>
              </a:solidFill>
              <a:latin typeface="Arial"/>
            </a:endParaRPr>
          </a:p>
        </p:txBody>
      </p:sp>
      <p:sp>
        <p:nvSpPr>
          <p:cNvPr id="223" name="Shape 9"/>
          <p:cNvSpPr/>
          <p:nvPr/>
        </p:nvSpPr>
        <p:spPr>
          <a:xfrm>
            <a:off x="640080" y="4206240"/>
            <a:ext cx="5028840" cy="749520"/>
          </a:xfrm>
          <a:prstGeom prst="roundRect">
            <a:avLst>
              <a:gd name="adj" fmla="val 7317"/>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24" name="Shape 10"/>
          <p:cNvSpPr/>
          <p:nvPr/>
        </p:nvSpPr>
        <p:spPr>
          <a:xfrm>
            <a:off x="859680" y="4361760"/>
            <a:ext cx="438480" cy="43848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25" name="Text 11"/>
          <p:cNvSpPr/>
          <p:nvPr/>
        </p:nvSpPr>
        <p:spPr>
          <a:xfrm>
            <a:off x="859680" y="4361760"/>
            <a:ext cx="438480" cy="438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mbria"/>
                <a:ea typeface="Cambria"/>
              </a:rPr>
              <a:t>2</a:t>
            </a:r>
            <a:endParaRPr b="0" lang="en-IN" sz="1200" spc="-1" strike="noStrike">
              <a:solidFill>
                <a:srgbClr val="000000"/>
              </a:solidFill>
              <a:latin typeface="Arial"/>
            </a:endParaRPr>
          </a:p>
        </p:txBody>
      </p:sp>
      <p:sp>
        <p:nvSpPr>
          <p:cNvPr id="226" name="Text 12"/>
          <p:cNvSpPr/>
          <p:nvPr/>
        </p:nvSpPr>
        <p:spPr>
          <a:xfrm>
            <a:off x="1463040" y="4297680"/>
            <a:ext cx="3977280" cy="310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4532d"/>
                </a:solidFill>
                <a:latin typeface="Cambria"/>
                <a:ea typeface="Cambria"/>
              </a:rPr>
              <a:t>FSSAI</a:t>
            </a:r>
            <a:endParaRPr b="0" lang="en-IN" sz="1400" spc="-1" strike="noStrike">
              <a:solidFill>
                <a:srgbClr val="000000"/>
              </a:solidFill>
              <a:latin typeface="Arial"/>
            </a:endParaRPr>
          </a:p>
        </p:txBody>
      </p:sp>
      <p:sp>
        <p:nvSpPr>
          <p:cNvPr id="227" name="Text 13"/>
          <p:cNvSpPr/>
          <p:nvPr/>
        </p:nvSpPr>
        <p:spPr>
          <a:xfrm>
            <a:off x="1463040" y="4590360"/>
            <a:ext cx="39772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Indian food safety licence</a:t>
            </a:r>
            <a:endParaRPr b="0" lang="en-IN" sz="1050" spc="-1" strike="noStrike">
              <a:solidFill>
                <a:srgbClr val="000000"/>
              </a:solidFill>
              <a:latin typeface="Arial"/>
            </a:endParaRPr>
          </a:p>
        </p:txBody>
      </p:sp>
      <p:sp>
        <p:nvSpPr>
          <p:cNvPr id="228" name="Shape 14"/>
          <p:cNvSpPr/>
          <p:nvPr/>
        </p:nvSpPr>
        <p:spPr>
          <a:xfrm>
            <a:off x="640080" y="5065920"/>
            <a:ext cx="5028840" cy="749520"/>
          </a:xfrm>
          <a:prstGeom prst="roundRect">
            <a:avLst>
              <a:gd name="adj" fmla="val 7317"/>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29" name="Shape 15"/>
          <p:cNvSpPr/>
          <p:nvPr/>
        </p:nvSpPr>
        <p:spPr>
          <a:xfrm>
            <a:off x="859680" y="5221080"/>
            <a:ext cx="438480" cy="43848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30" name="Text 16"/>
          <p:cNvSpPr/>
          <p:nvPr/>
        </p:nvSpPr>
        <p:spPr>
          <a:xfrm>
            <a:off x="859680" y="5221080"/>
            <a:ext cx="438480" cy="438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200" spc="-1" strike="noStrike">
                <a:solidFill>
                  <a:srgbClr val="ffffff"/>
                </a:solidFill>
                <a:latin typeface="Cambria"/>
                <a:ea typeface="Cambria"/>
              </a:rPr>
              <a:t>3</a:t>
            </a:r>
            <a:endParaRPr b="0" lang="en-IN" sz="1200" spc="-1" strike="noStrike">
              <a:solidFill>
                <a:srgbClr val="000000"/>
              </a:solidFill>
              <a:latin typeface="Arial"/>
            </a:endParaRPr>
          </a:p>
        </p:txBody>
      </p:sp>
      <p:sp>
        <p:nvSpPr>
          <p:cNvPr id="231" name="Text 17"/>
          <p:cNvSpPr/>
          <p:nvPr/>
        </p:nvSpPr>
        <p:spPr>
          <a:xfrm>
            <a:off x="1463040" y="5157360"/>
            <a:ext cx="3977280" cy="3106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400" spc="-1" strike="noStrike">
                <a:solidFill>
                  <a:srgbClr val="14532d"/>
                </a:solidFill>
                <a:latin typeface="Cambria"/>
                <a:ea typeface="Cambria"/>
              </a:rPr>
              <a:t>NABL</a:t>
            </a:r>
            <a:endParaRPr b="0" lang="en-IN" sz="1400" spc="-1" strike="noStrike">
              <a:solidFill>
                <a:srgbClr val="000000"/>
              </a:solidFill>
              <a:latin typeface="Arial"/>
            </a:endParaRPr>
          </a:p>
        </p:txBody>
      </p:sp>
      <p:sp>
        <p:nvSpPr>
          <p:cNvPr id="232" name="Text 18"/>
          <p:cNvSpPr/>
          <p:nvPr/>
        </p:nvSpPr>
        <p:spPr>
          <a:xfrm>
            <a:off x="1463040" y="5449680"/>
            <a:ext cx="39772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Accredited laboratory testing</a:t>
            </a:r>
            <a:endParaRPr b="0" lang="en-IN" sz="1050" spc="-1" strike="noStrike">
              <a:solidFill>
                <a:srgbClr val="000000"/>
              </a:solidFill>
              <a:latin typeface="Arial"/>
            </a:endParaRPr>
          </a:p>
        </p:txBody>
      </p:sp>
      <p:sp>
        <p:nvSpPr>
          <p:cNvPr id="233" name="Text 19"/>
          <p:cNvSpPr/>
          <p:nvPr/>
        </p:nvSpPr>
        <p:spPr>
          <a:xfrm>
            <a:off x="6236280" y="1828800"/>
            <a:ext cx="5315040" cy="2923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00" spc="137" strike="noStrike">
                <a:solidFill>
                  <a:srgbClr val="14532d"/>
                </a:solidFill>
                <a:latin typeface="Calibri"/>
                <a:ea typeface="Calibri"/>
              </a:rPr>
              <a:t>Release specification per batch</a:t>
            </a:r>
            <a:endParaRPr b="0" lang="en-IN" sz="1100" spc="-1" strike="noStrike">
              <a:solidFill>
                <a:srgbClr val="000000"/>
              </a:solidFill>
              <a:latin typeface="Arial"/>
            </a:endParaRPr>
          </a:p>
        </p:txBody>
      </p:sp>
      <p:graphicFrame>
        <p:nvGraphicFramePr>
          <p:cNvPr id="234" name="Table 0"/>
          <p:cNvGraphicFramePr/>
          <p:nvPr/>
        </p:nvGraphicFramePr>
        <p:xfrm>
          <a:off x="6236280" y="2212920"/>
          <a:ext cx="5315040" cy="2688120"/>
        </p:xfrm>
        <a:graphic>
          <a:graphicData uri="http://schemas.openxmlformats.org/drawingml/2006/table">
            <a:tbl>
              <a:tblPr/>
              <a:tblGrid>
                <a:gridCol w="1966680"/>
                <a:gridCol w="1700640"/>
                <a:gridCol w="1647720"/>
              </a:tblGrid>
              <a:tr h="383760">
                <a:tc>
                  <a:txBody>
                    <a:bodyPr lIns="109440" rIns="109440" tIns="0" bIns="0" anchor="ctr">
                      <a:noAutofit/>
                    </a:bodyPr>
                    <a:p>
                      <a:pPr>
                        <a:lnSpc>
                          <a:spcPct val="100000"/>
                        </a:lnSpc>
                        <a:tabLst>
                          <a:tab algn="l" pos="0"/>
                        </a:tabLst>
                      </a:pPr>
                      <a:r>
                        <a:rPr b="1" lang="en-US" sz="1100" spc="-1" strike="noStrike">
                          <a:solidFill>
                            <a:srgbClr val="232c24"/>
                          </a:solidFill>
                          <a:latin typeface="Calibri"/>
                          <a:ea typeface="Calibri"/>
                        </a:rPr>
                        <a:t>Parameter</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1" lang="en-US" sz="1100" spc="-1" strike="noStrike">
                          <a:solidFill>
                            <a:srgbClr val="232c24"/>
                          </a:solidFill>
                          <a:latin typeface="Calibri"/>
                          <a:ea typeface="Calibri"/>
                        </a:rPr>
                        <a:t>Method</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1" lang="en-US" sz="1100" spc="-1" strike="noStrike">
                          <a:solidFill>
                            <a:srgbClr val="232c24"/>
                          </a:solidFill>
                          <a:latin typeface="Calibri"/>
                          <a:ea typeface="Calibri"/>
                        </a:rPr>
                        <a:t>Limit</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83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Moisture</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IS 548</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0.10% max</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83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Free fatty acid</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AOCS Ca 5a-40</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0.5% max</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83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Peroxide value</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AOCS Cd 8-53</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10 meq/kg max</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83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Total plate count</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ISO 4833</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10,000 cfu/g</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83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Yeast and mould</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ISO 21527</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100 cfu/g max</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83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Foreign matter</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Visual</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Absent</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bl>
          </a:graphicData>
        </a:graphic>
      </p:graphicFrame>
      <p:sp>
        <p:nvSpPr>
          <p:cNvPr id="235" name="Text 20"/>
          <p:cNvSpPr/>
          <p:nvPr/>
        </p:nvSpPr>
        <p:spPr>
          <a:xfrm>
            <a:off x="6236280" y="5193720"/>
            <a:ext cx="5315040" cy="731160"/>
          </a:xfrm>
          <a:prstGeom prst="rect">
            <a:avLst/>
          </a:prstGeom>
          <a:noFill/>
          <a:ln w="0">
            <a:noFill/>
          </a:ln>
        </p:spPr>
        <p:style>
          <a:lnRef idx="0"/>
          <a:fillRef idx="0"/>
          <a:effectRef idx="0"/>
          <a:fontRef idx="minor"/>
        </p:style>
        <p:txBody>
          <a:bodyPr lIns="0" rIns="0" tIns="0" bIns="0" anchor="t">
            <a:noAutofit/>
          </a:bodyPr>
          <a:p>
            <a:pPr>
              <a:lnSpc>
                <a:spcPct val="120000"/>
              </a:lnSpc>
              <a:tabLst>
                <a:tab algn="l" pos="0"/>
              </a:tabLst>
            </a:pPr>
            <a:r>
              <a:rPr b="0" i="1" lang="en-US" sz="1100" spc="-1" strike="noStrike">
                <a:solidFill>
                  <a:srgbClr val="6e7a6f"/>
                </a:solidFill>
                <a:latin typeface="Calibri"/>
                <a:ea typeface="Calibri"/>
              </a:rPr>
              <a:t>Limits shown are for edible-grade coconut oil, tested per batch in our in-house laboratory before release.</a:t>
            </a:r>
            <a:endParaRPr b="0" lang="en-IN" sz="1100" spc="-1" strike="noStrike">
              <a:solidFill>
                <a:srgbClr val="000000"/>
              </a:solidFill>
              <a:latin typeface="Arial"/>
            </a:endParaRPr>
          </a:p>
        </p:txBody>
      </p:sp>
      <p:sp>
        <p:nvSpPr>
          <p:cNvPr id="236" name="Text 21"/>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237" name="Text 22"/>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9</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39"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ACCREDITATIONS</a:t>
            </a:r>
            <a:endParaRPr b="0" lang="en-IN" sz="1150" spc="-1" strike="noStrike">
              <a:solidFill>
                <a:srgbClr val="000000"/>
              </a:solidFill>
              <a:latin typeface="Arial"/>
            </a:endParaRPr>
          </a:p>
        </p:txBody>
      </p:sp>
      <p:sp>
        <p:nvSpPr>
          <p:cNvPr id="240"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Certifications on file</a:t>
            </a:r>
            <a:endParaRPr b="0" lang="en-IN" sz="3400" spc="-1" strike="noStrike">
              <a:solidFill>
                <a:srgbClr val="000000"/>
              </a:solidFill>
              <a:latin typeface="Arial"/>
            </a:endParaRPr>
          </a:p>
        </p:txBody>
      </p:sp>
      <p:sp>
        <p:nvSpPr>
          <p:cNvPr id="241" name="Shape 3"/>
          <p:cNvSpPr/>
          <p:nvPr/>
        </p:nvSpPr>
        <p:spPr>
          <a:xfrm>
            <a:off x="640080" y="1828800"/>
            <a:ext cx="5486040" cy="2285640"/>
          </a:xfrm>
          <a:prstGeom prst="roundRect">
            <a:avLst>
              <a:gd name="adj" fmla="val 2000"/>
            </a:avLst>
          </a:prstGeom>
          <a:solidFill>
            <a:srgbClr val="ffffff"/>
          </a:solidFill>
          <a:ln w="12700">
            <a:solidFill>
              <a:srgbClr val="ffffff"/>
            </a:solidFill>
            <a:round/>
          </a:ln>
          <a:effectLst>
            <a:outerShdw algn="bl" blurRad="177840" dir="5400000" dist="25560" kx="0" ky="0" rotWithShape="0" sx="100000" sy="100000">
              <a:srgbClr val="000000">
                <a:alpha val="12000"/>
              </a:srgbClr>
            </a:outerShdw>
          </a:effectLst>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pic>
        <p:nvPicPr>
          <p:cNvPr id="242" name="Image 0" descr="C:\Users\affla\OneDrive\Documents\Saas\Claude projects\COCOPALM\build\img\certs.jpg"/>
          <p:cNvPicPr/>
          <p:nvPr/>
        </p:nvPicPr>
        <p:blipFill>
          <a:blip r:embed="rId1"/>
          <a:stretch/>
        </p:blipFill>
        <p:spPr>
          <a:xfrm>
            <a:off x="777240" y="1965960"/>
            <a:ext cx="5211720" cy="2011320"/>
          </a:xfrm>
          <a:prstGeom prst="rect">
            <a:avLst/>
          </a:prstGeom>
          <a:ln w="0">
            <a:noFill/>
          </a:ln>
        </p:spPr>
      </p:pic>
      <p:sp>
        <p:nvSpPr>
          <p:cNvPr id="243" name="Text 4"/>
          <p:cNvSpPr/>
          <p:nvPr/>
        </p:nvSpPr>
        <p:spPr>
          <a:xfrm>
            <a:off x="640080" y="4224600"/>
            <a:ext cx="54860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Certification marks as presented in the company profile film</a:t>
            </a:r>
            <a:endParaRPr b="0" lang="en-IN" sz="950" spc="-1" strike="noStrike">
              <a:solidFill>
                <a:srgbClr val="000000"/>
              </a:solidFill>
              <a:latin typeface="Arial"/>
            </a:endParaRPr>
          </a:p>
        </p:txBody>
      </p:sp>
      <p:sp>
        <p:nvSpPr>
          <p:cNvPr id="244" name="Text 5"/>
          <p:cNvSpPr/>
          <p:nvPr/>
        </p:nvSpPr>
        <p:spPr>
          <a:xfrm>
            <a:off x="6693480" y="1810440"/>
            <a:ext cx="48578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350" spc="-1" strike="noStrike">
                <a:solidFill>
                  <a:srgbClr val="14532d"/>
                </a:solidFill>
                <a:latin typeface="Cambria"/>
                <a:ea typeface="Cambria"/>
              </a:rPr>
              <a:t>ISO 9001</a:t>
            </a:r>
            <a:endParaRPr b="0" lang="en-IN" sz="1350" spc="-1" strike="noStrike">
              <a:solidFill>
                <a:srgbClr val="000000"/>
              </a:solidFill>
              <a:latin typeface="Arial"/>
            </a:endParaRPr>
          </a:p>
        </p:txBody>
      </p:sp>
      <p:sp>
        <p:nvSpPr>
          <p:cNvPr id="245" name="Text 6"/>
          <p:cNvSpPr/>
          <p:nvPr/>
        </p:nvSpPr>
        <p:spPr>
          <a:xfrm>
            <a:off x="6693480" y="2057400"/>
            <a:ext cx="48578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Quality management system</a:t>
            </a:r>
            <a:endParaRPr b="0" lang="en-IN" sz="1050" spc="-1" strike="noStrike">
              <a:solidFill>
                <a:srgbClr val="000000"/>
              </a:solidFill>
              <a:latin typeface="Arial"/>
            </a:endParaRPr>
          </a:p>
        </p:txBody>
      </p:sp>
      <p:sp>
        <p:nvSpPr>
          <p:cNvPr id="246" name="Text 7"/>
          <p:cNvSpPr/>
          <p:nvPr/>
        </p:nvSpPr>
        <p:spPr>
          <a:xfrm>
            <a:off x="6693480" y="2377440"/>
            <a:ext cx="48578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350" spc="-1" strike="noStrike">
                <a:solidFill>
                  <a:srgbClr val="14532d"/>
                </a:solidFill>
                <a:latin typeface="Cambria"/>
                <a:ea typeface="Cambria"/>
              </a:rPr>
              <a:t>FSSAI</a:t>
            </a:r>
            <a:endParaRPr b="0" lang="en-IN" sz="1350" spc="-1" strike="noStrike">
              <a:solidFill>
                <a:srgbClr val="000000"/>
              </a:solidFill>
              <a:latin typeface="Arial"/>
            </a:endParaRPr>
          </a:p>
        </p:txBody>
      </p:sp>
      <p:sp>
        <p:nvSpPr>
          <p:cNvPr id="247" name="Text 8"/>
          <p:cNvSpPr/>
          <p:nvPr/>
        </p:nvSpPr>
        <p:spPr>
          <a:xfrm>
            <a:off x="6693480" y="2624400"/>
            <a:ext cx="48578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Food licence, Government of India</a:t>
            </a:r>
            <a:endParaRPr b="0" lang="en-IN" sz="1050" spc="-1" strike="noStrike">
              <a:solidFill>
                <a:srgbClr val="000000"/>
              </a:solidFill>
              <a:latin typeface="Arial"/>
            </a:endParaRPr>
          </a:p>
        </p:txBody>
      </p:sp>
      <p:sp>
        <p:nvSpPr>
          <p:cNvPr id="248" name="Text 9"/>
          <p:cNvSpPr/>
          <p:nvPr/>
        </p:nvSpPr>
        <p:spPr>
          <a:xfrm>
            <a:off x="6693480" y="2944440"/>
            <a:ext cx="48578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350" spc="-1" strike="noStrike">
                <a:solidFill>
                  <a:srgbClr val="14532d"/>
                </a:solidFill>
                <a:latin typeface="Cambria"/>
                <a:ea typeface="Cambria"/>
              </a:rPr>
              <a:t>NABL</a:t>
            </a:r>
            <a:endParaRPr b="0" lang="en-IN" sz="1350" spc="-1" strike="noStrike">
              <a:solidFill>
                <a:srgbClr val="000000"/>
              </a:solidFill>
              <a:latin typeface="Arial"/>
            </a:endParaRPr>
          </a:p>
        </p:txBody>
      </p:sp>
      <p:sp>
        <p:nvSpPr>
          <p:cNvPr id="249" name="Text 10"/>
          <p:cNvSpPr/>
          <p:nvPr/>
        </p:nvSpPr>
        <p:spPr>
          <a:xfrm>
            <a:off x="6693480" y="3191400"/>
            <a:ext cx="48578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Laboratory accreditation</a:t>
            </a:r>
            <a:endParaRPr b="0" lang="en-IN" sz="1050" spc="-1" strike="noStrike">
              <a:solidFill>
                <a:srgbClr val="000000"/>
              </a:solidFill>
              <a:latin typeface="Arial"/>
            </a:endParaRPr>
          </a:p>
        </p:txBody>
      </p:sp>
      <p:sp>
        <p:nvSpPr>
          <p:cNvPr id="250" name="Text 11"/>
          <p:cNvSpPr/>
          <p:nvPr/>
        </p:nvSpPr>
        <p:spPr>
          <a:xfrm>
            <a:off x="6693480" y="3511440"/>
            <a:ext cx="48578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350" spc="-1" strike="noStrike">
                <a:solidFill>
                  <a:srgbClr val="14532d"/>
                </a:solidFill>
                <a:latin typeface="Cambria"/>
                <a:ea typeface="Cambria"/>
              </a:rPr>
              <a:t>BRIT QUALIS</a:t>
            </a:r>
            <a:endParaRPr b="0" lang="en-IN" sz="1350" spc="-1" strike="noStrike">
              <a:solidFill>
                <a:srgbClr val="000000"/>
              </a:solidFill>
              <a:latin typeface="Arial"/>
            </a:endParaRPr>
          </a:p>
        </p:txBody>
      </p:sp>
      <p:sp>
        <p:nvSpPr>
          <p:cNvPr id="251" name="Text 12"/>
          <p:cNvSpPr/>
          <p:nvPr/>
        </p:nvSpPr>
        <p:spPr>
          <a:xfrm>
            <a:off x="6693480" y="3758040"/>
            <a:ext cx="48578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Two certificates held</a:t>
            </a:r>
            <a:endParaRPr b="0" lang="en-IN" sz="1050" spc="-1" strike="noStrike">
              <a:solidFill>
                <a:srgbClr val="000000"/>
              </a:solidFill>
              <a:latin typeface="Arial"/>
            </a:endParaRPr>
          </a:p>
        </p:txBody>
      </p:sp>
      <p:sp>
        <p:nvSpPr>
          <p:cNvPr id="252" name="Text 13"/>
          <p:cNvSpPr/>
          <p:nvPr/>
        </p:nvSpPr>
        <p:spPr>
          <a:xfrm>
            <a:off x="6693480" y="4078080"/>
            <a:ext cx="48578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350" spc="-1" strike="noStrike">
                <a:solidFill>
                  <a:srgbClr val="14532d"/>
                </a:solidFill>
                <a:latin typeface="Cambria"/>
                <a:ea typeface="Cambria"/>
              </a:rPr>
              <a:t>National Test House</a:t>
            </a:r>
            <a:endParaRPr b="0" lang="en-IN" sz="1350" spc="-1" strike="noStrike">
              <a:solidFill>
                <a:srgbClr val="000000"/>
              </a:solidFill>
              <a:latin typeface="Arial"/>
            </a:endParaRPr>
          </a:p>
        </p:txBody>
      </p:sp>
      <p:sp>
        <p:nvSpPr>
          <p:cNvPr id="253" name="Text 14"/>
          <p:cNvSpPr/>
          <p:nvPr/>
        </p:nvSpPr>
        <p:spPr>
          <a:xfrm>
            <a:off x="6693480" y="4325040"/>
            <a:ext cx="48578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050" spc="-1" strike="noStrike">
                <a:solidFill>
                  <a:srgbClr val="6e7a6f"/>
                </a:solidFill>
                <a:latin typeface="Calibri"/>
                <a:ea typeface="Calibri"/>
              </a:rPr>
              <a:t>Government test certificate</a:t>
            </a:r>
            <a:endParaRPr b="0" lang="en-IN" sz="1050" spc="-1" strike="noStrike">
              <a:solidFill>
                <a:srgbClr val="000000"/>
              </a:solidFill>
              <a:latin typeface="Arial"/>
            </a:endParaRPr>
          </a:p>
        </p:txBody>
      </p:sp>
      <p:sp>
        <p:nvSpPr>
          <p:cNvPr id="254" name="Shape 15"/>
          <p:cNvSpPr/>
          <p:nvPr/>
        </p:nvSpPr>
        <p:spPr>
          <a:xfrm>
            <a:off x="640080" y="4883040"/>
            <a:ext cx="10911240" cy="1133640"/>
          </a:xfrm>
          <a:prstGeom prst="roundRect">
            <a:avLst>
              <a:gd name="adj" fmla="val 4839"/>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55" name="Text 16"/>
          <p:cNvSpPr/>
          <p:nvPr/>
        </p:nvSpPr>
        <p:spPr>
          <a:xfrm>
            <a:off x="914400" y="5010840"/>
            <a:ext cx="1036260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00" spc="137" strike="noStrike">
                <a:solidFill>
                  <a:srgbClr val="14532d"/>
                </a:solidFill>
                <a:latin typeface="Calibri"/>
                <a:ea typeface="Calibri"/>
              </a:rPr>
              <a:t>Still needed for an export pack</a:t>
            </a:r>
            <a:endParaRPr b="0" lang="en-IN" sz="1100" spc="-1" strike="noStrike">
              <a:solidFill>
                <a:srgbClr val="000000"/>
              </a:solidFill>
              <a:latin typeface="Arial"/>
            </a:endParaRPr>
          </a:p>
        </p:txBody>
      </p:sp>
      <p:sp>
        <p:nvSpPr>
          <p:cNvPr id="256" name="Text 17"/>
          <p:cNvSpPr/>
          <p:nvPr/>
        </p:nvSpPr>
        <p:spPr>
          <a:xfrm>
            <a:off x="914400" y="5340240"/>
            <a:ext cx="10362600" cy="548280"/>
          </a:xfrm>
          <a:prstGeom prst="rect">
            <a:avLst/>
          </a:prstGeom>
          <a:noFill/>
          <a:ln w="0">
            <a:noFill/>
          </a:ln>
        </p:spPr>
        <p:style>
          <a:lnRef idx="0"/>
          <a:fillRef idx="0"/>
          <a:effectRef idx="0"/>
          <a:fontRef idx="minor"/>
        </p:style>
        <p:txBody>
          <a:bodyPr lIns="0" rIns="0" tIns="0" bIns="0" anchor="t">
            <a:noAutofit/>
          </a:bodyPr>
          <a:p>
            <a:pPr>
              <a:lnSpc>
                <a:spcPct val="120000"/>
              </a:lnSpc>
              <a:tabLst>
                <a:tab algn="l" pos="0"/>
              </a:tabLst>
            </a:pPr>
            <a:r>
              <a:rPr b="0" lang="en-US" sz="1150" spc="-1" strike="noStrike">
                <a:solidFill>
                  <a:srgbClr val="232c24"/>
                </a:solidFill>
                <a:latin typeface="Calibri"/>
                <a:ea typeface="Calibri"/>
              </a:rPr>
              <a:t>Certificate numbers and validity dates for each mark above  ·  organic / Fairtrade status if held  ·  importing-country registrations (US FDA, EU, GCC) as applicable.</a:t>
            </a:r>
            <a:endParaRPr b="0" lang="en-IN" sz="1150" spc="-1" strike="noStrike">
              <a:solidFill>
                <a:srgbClr val="000000"/>
              </a:solidFill>
              <a:latin typeface="Arial"/>
            </a:endParaRPr>
          </a:p>
        </p:txBody>
      </p:sp>
      <p:sp>
        <p:nvSpPr>
          <p:cNvPr id="257" name="Text 18"/>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258" name="Text 19"/>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10</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60"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COMMERCIAL</a:t>
            </a:r>
            <a:endParaRPr b="0" lang="en-IN" sz="1150" spc="-1" strike="noStrike">
              <a:solidFill>
                <a:srgbClr val="000000"/>
              </a:solidFill>
              <a:latin typeface="Arial"/>
            </a:endParaRPr>
          </a:p>
        </p:txBody>
      </p:sp>
      <p:sp>
        <p:nvSpPr>
          <p:cNvPr id="261"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Packaging, logistics and terms</a:t>
            </a:r>
            <a:endParaRPr b="0" lang="en-IN" sz="3400" spc="-1" strike="noStrike">
              <a:solidFill>
                <a:srgbClr val="000000"/>
              </a:solidFill>
              <a:latin typeface="Arial"/>
            </a:endParaRPr>
          </a:p>
        </p:txBody>
      </p:sp>
      <p:sp>
        <p:nvSpPr>
          <p:cNvPr id="262" name="Text 3"/>
          <p:cNvSpPr/>
          <p:nvPr/>
        </p:nvSpPr>
        <p:spPr>
          <a:xfrm>
            <a:off x="640080" y="1682640"/>
            <a:ext cx="7497720" cy="420120"/>
          </a:xfrm>
          <a:prstGeom prst="rect">
            <a:avLst/>
          </a:prstGeom>
          <a:noFill/>
          <a:ln w="0">
            <a:noFill/>
          </a:ln>
        </p:spPr>
        <p:style>
          <a:lnRef idx="0"/>
          <a:fillRef idx="0"/>
          <a:effectRef idx="0"/>
          <a:fontRef idx="minor"/>
        </p:style>
        <p:txBody>
          <a:bodyPr lIns="0" rIns="0" tIns="0" bIns="0" anchor="ctr">
            <a:noAutofit/>
          </a:bodyPr>
          <a:p>
            <a:pPr>
              <a:lnSpc>
                <a:spcPct val="120000"/>
              </a:lnSpc>
              <a:tabLst>
                <a:tab algn="l" pos="0"/>
              </a:tabLst>
            </a:pPr>
            <a:r>
              <a:rPr b="0" i="1" lang="en-US" sz="1200" spc="-1" strike="noStrike">
                <a:solidFill>
                  <a:srgbClr val="6e7a6f"/>
                </a:solidFill>
                <a:latin typeface="Calibri"/>
                <a:ea typeface="Calibri"/>
              </a:rPr>
              <a:t>Standard terms below. All are negotiable against confirmed volume and destination.</a:t>
            </a:r>
            <a:endParaRPr b="0" lang="en-IN" sz="1200" spc="-1" strike="noStrike">
              <a:solidFill>
                <a:srgbClr val="000000"/>
              </a:solidFill>
              <a:latin typeface="Arial"/>
            </a:endParaRPr>
          </a:p>
        </p:txBody>
      </p:sp>
      <p:graphicFrame>
        <p:nvGraphicFramePr>
          <p:cNvPr id="263" name="Table 0"/>
          <p:cNvGraphicFramePr/>
          <p:nvPr/>
        </p:nvGraphicFramePr>
        <p:xfrm>
          <a:off x="640080" y="2212920"/>
          <a:ext cx="7497720" cy="4023360"/>
        </p:xfrm>
        <a:graphic>
          <a:graphicData uri="http://schemas.openxmlformats.org/drawingml/2006/table">
            <a:tbl>
              <a:tblPr/>
              <a:tblGrid>
                <a:gridCol w="3299040"/>
                <a:gridCol w="4198680"/>
              </a:tblGrid>
              <a:tr h="365760">
                <a:tc>
                  <a:txBody>
                    <a:bodyPr lIns="109440" rIns="109440" tIns="0" bIns="0" anchor="ctr">
                      <a:noAutofit/>
                    </a:bodyPr>
                    <a:p>
                      <a:pPr>
                        <a:lnSpc>
                          <a:spcPct val="100000"/>
                        </a:lnSpc>
                        <a:tabLst>
                          <a:tab algn="l" pos="0"/>
                        </a:tabLst>
                      </a:pPr>
                      <a:r>
                        <a:rPr b="1" lang="en-US" sz="1100" spc="-1" strike="noStrike">
                          <a:solidFill>
                            <a:srgbClr val="232c24"/>
                          </a:solidFill>
                          <a:latin typeface="Calibri"/>
                          <a:ea typeface="Calibri"/>
                        </a:rPr>
                        <a:t>Item</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1" lang="en-US" sz="1100" spc="-1" strike="noStrike">
                          <a:solidFill>
                            <a:srgbClr val="232c24"/>
                          </a:solidFill>
                          <a:latin typeface="Calibri"/>
                          <a:ea typeface="Calibri"/>
                        </a:rPr>
                        <a:t>Detail</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Retail pack sizes</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200 ml · 500 ml · 1 L PET · 5 L jerrycan</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Bulk pack format</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15 kg tin · 200 kg HDPE drum · flexitank</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Minimum order quantity</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One 20ft FCL</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Units per 20ft / 40ft container</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16-18 MT / 24-26 MT</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Port of loading</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Chennai / Ennore, Tamil Nadu</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Lead time from order</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15-21 days from confirmed order</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Incoterms offered</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FOB · CFR · CIF</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Payment terms</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30% advance, balance vs B/L; or L/C at sight</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Private label / OEM</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Available</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r h="365760">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Shelf life</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c>
                  <a:txBody>
                    <a:bodyPr lIns="109440" rIns="109440" tIns="0" bIns="0" anchor="ctr">
                      <a:noAutofit/>
                    </a:bodyPr>
                    <a:p>
                      <a:pPr>
                        <a:lnSpc>
                          <a:spcPct val="100000"/>
                        </a:lnSpc>
                        <a:tabLst>
                          <a:tab algn="l" pos="0"/>
                        </a:tabLst>
                      </a:pPr>
                      <a:r>
                        <a:rPr b="0" lang="en-US" sz="1100" spc="-1" strike="noStrike">
                          <a:solidFill>
                            <a:srgbClr val="232c24"/>
                          </a:solidFill>
                          <a:latin typeface="Calibri"/>
                          <a:ea typeface="Calibri"/>
                        </a:rPr>
                        <a:t>18 months in original sealed pack</a:t>
                      </a:r>
                      <a:endParaRPr b="0" lang="en-IN" sz="1100" spc="-1" strike="noStrike">
                        <a:solidFill>
                          <a:srgbClr val="000000"/>
                        </a:solidFill>
                        <a:latin typeface="Arial"/>
                      </a:endParaRPr>
                    </a:p>
                  </a:txBody>
                  <a:tcPr anchor="ctr" marL="109440" marR="109440">
                    <a:lnL w="9360">
                      <a:solidFill>
                        <a:srgbClr val="dde5db"/>
                      </a:solidFill>
                      <a:prstDash val="solid"/>
                    </a:lnL>
                    <a:lnR w="9360">
                      <a:solidFill>
                        <a:srgbClr val="dde5db"/>
                      </a:solidFill>
                      <a:prstDash val="solid"/>
                    </a:lnR>
                    <a:lnT w="9360">
                      <a:solidFill>
                        <a:srgbClr val="dde5db"/>
                      </a:solidFill>
                      <a:prstDash val="solid"/>
                    </a:lnT>
                    <a:lnB w="9360">
                      <a:solidFill>
                        <a:srgbClr val="dde5db"/>
                      </a:solidFill>
                      <a:prstDash val="solid"/>
                    </a:lnB>
                    <a:solidFill>
                      <a:srgbClr val="ffffff"/>
                    </a:solidFill>
                  </a:tcPr>
                </a:tc>
              </a:tr>
            </a:tbl>
          </a:graphicData>
        </a:graphic>
      </p:graphicFrame>
      <p:pic>
        <p:nvPicPr>
          <p:cNvPr id="264" name="Image 0" descr="C:\Users\affla\OneDrive\Documents\Saas\Claude projects\COCOPALM\build\img\machine2.jpg"/>
          <p:cNvPicPr/>
          <p:nvPr/>
        </p:nvPicPr>
        <p:blipFill>
          <a:blip r:embed="rId1"/>
          <a:stretch/>
        </p:blipFill>
        <p:spPr>
          <a:xfrm>
            <a:off x="8686800" y="2212920"/>
            <a:ext cx="2864520" cy="1919880"/>
          </a:xfrm>
          <a:prstGeom prst="rect">
            <a:avLst/>
          </a:prstGeom>
          <a:ln w="0">
            <a:noFill/>
          </a:ln>
        </p:spPr>
      </p:pic>
      <p:sp>
        <p:nvSpPr>
          <p:cNvPr id="265" name="Text 4"/>
          <p:cNvSpPr/>
          <p:nvPr/>
        </p:nvSpPr>
        <p:spPr>
          <a:xfrm>
            <a:off x="8686800" y="4206240"/>
            <a:ext cx="286452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Handling between drying and finishing</a:t>
            </a:r>
            <a:endParaRPr b="0" lang="en-IN" sz="950" spc="-1" strike="noStrike">
              <a:solidFill>
                <a:srgbClr val="000000"/>
              </a:solidFill>
              <a:latin typeface="Arial"/>
            </a:endParaRPr>
          </a:p>
        </p:txBody>
      </p:sp>
      <p:sp>
        <p:nvSpPr>
          <p:cNvPr id="266" name="Shape 5"/>
          <p:cNvSpPr/>
          <p:nvPr/>
        </p:nvSpPr>
        <p:spPr>
          <a:xfrm>
            <a:off x="8686800" y="4608720"/>
            <a:ext cx="2864520" cy="1407960"/>
          </a:xfrm>
          <a:prstGeom prst="roundRect">
            <a:avLst>
              <a:gd name="adj" fmla="val 3896"/>
            </a:avLst>
          </a:prstGeom>
          <a:solidFill>
            <a:srgbClr val="14532d"/>
          </a:solidFill>
          <a:ln w="12700">
            <a:solidFill>
              <a:srgbClr val="14532d"/>
            </a:solidFill>
            <a:round/>
          </a:ln>
        </p:spPr>
        <p:style>
          <a:lnRef idx="0"/>
          <a:fillRef idx="0"/>
          <a:effectRef idx="0"/>
          <a:fontRef idx="minor"/>
        </p:style>
        <p:txBody>
          <a:bodyPr lIns="90000" rIns="90000" tIns="45000" bIns="45000" anchor="t">
            <a:noAutofit/>
          </a:bodyPr>
          <a:p>
            <a:endParaRPr b="0" lang="en-IN" sz="1800" spc="-1" strike="noStrike">
              <a:solidFill>
                <a:srgbClr val="ffffff"/>
              </a:solidFill>
              <a:latin typeface="Arial"/>
            </a:endParaRPr>
          </a:p>
        </p:txBody>
      </p:sp>
      <p:sp>
        <p:nvSpPr>
          <p:cNvPr id="267" name="Text 6"/>
          <p:cNvSpPr/>
          <p:nvPr/>
        </p:nvSpPr>
        <p:spPr>
          <a:xfrm>
            <a:off x="8924400" y="4754880"/>
            <a:ext cx="238896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050" spc="128" strike="noStrike">
                <a:solidFill>
                  <a:srgbClr val="e3c171"/>
                </a:solidFill>
                <a:latin typeface="Calibri"/>
                <a:ea typeface="Calibri"/>
              </a:rPr>
              <a:t>Flexible on structure</a:t>
            </a:r>
            <a:endParaRPr b="0" lang="en-IN" sz="1050" spc="-1" strike="noStrike">
              <a:solidFill>
                <a:srgbClr val="000000"/>
              </a:solidFill>
              <a:latin typeface="Arial"/>
            </a:endParaRPr>
          </a:p>
        </p:txBody>
      </p:sp>
      <p:sp>
        <p:nvSpPr>
          <p:cNvPr id="268" name="Text 7"/>
          <p:cNvSpPr/>
          <p:nvPr/>
        </p:nvSpPr>
        <p:spPr>
          <a:xfrm>
            <a:off x="8924400" y="5065920"/>
            <a:ext cx="2388960" cy="822600"/>
          </a:xfrm>
          <a:prstGeom prst="rect">
            <a:avLst/>
          </a:prstGeom>
          <a:noFill/>
          <a:ln w="0">
            <a:noFill/>
          </a:ln>
        </p:spPr>
        <p:style>
          <a:lnRef idx="0"/>
          <a:fillRef idx="0"/>
          <a:effectRef idx="0"/>
          <a:fontRef idx="minor"/>
        </p:style>
        <p:txBody>
          <a:bodyPr lIns="0" rIns="0" tIns="0" bIns="0" anchor="t">
            <a:noAutofit/>
          </a:bodyPr>
          <a:p>
            <a:pPr>
              <a:lnSpc>
                <a:spcPct val="120000"/>
              </a:lnSpc>
              <a:tabLst>
                <a:tab algn="l" pos="0"/>
              </a:tabLst>
            </a:pPr>
            <a:r>
              <a:rPr b="0" lang="en-US" sz="1050" spc="-1" strike="noStrike">
                <a:solidFill>
                  <a:srgbClr val="ffffff"/>
                </a:solidFill>
                <a:latin typeface="Calibri"/>
                <a:ea typeface="Calibri"/>
              </a:rPr>
              <a:t>Tell us your volume, pack format and destination port and we will quote FOB or CIF against it.</a:t>
            </a:r>
            <a:endParaRPr b="0" lang="en-IN" sz="1050" spc="-1" strike="noStrike">
              <a:solidFill>
                <a:srgbClr val="000000"/>
              </a:solidFill>
              <a:latin typeface="Arial"/>
            </a:endParaRPr>
          </a:p>
        </p:txBody>
      </p:sp>
      <p:sp>
        <p:nvSpPr>
          <p:cNvPr id="269" name="Text 8"/>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270" name="Text 9"/>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11</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Shape 0"/>
          <p:cNvSpPr/>
          <p:nvPr/>
        </p:nvSpPr>
        <p:spPr>
          <a:xfrm>
            <a:off x="0" y="0"/>
            <a:ext cx="12191400" cy="6857640"/>
          </a:xfrm>
          <a:prstGeom prst="rect">
            <a:avLst/>
          </a:prstGeom>
          <a:solidFill>
            <a:srgbClr val="ffffff"/>
          </a:solidFill>
          <a:ln w="12700">
            <a:solidFill>
              <a:srgbClr val="fffff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72" name="Text 1"/>
          <p:cNvSpPr/>
          <p:nvPr/>
        </p:nvSpPr>
        <p:spPr>
          <a:xfrm>
            <a:off x="640080" y="567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b8860f"/>
                </a:solidFill>
                <a:latin typeface="Calibri"/>
                <a:ea typeface="Calibri"/>
              </a:rPr>
              <a:t>LEADERSHIP</a:t>
            </a:r>
            <a:endParaRPr b="0" lang="en-IN" sz="1150" spc="-1" strike="noStrike">
              <a:solidFill>
                <a:srgbClr val="000000"/>
              </a:solidFill>
              <a:latin typeface="Arial"/>
            </a:endParaRPr>
          </a:p>
        </p:txBody>
      </p:sp>
      <p:sp>
        <p:nvSpPr>
          <p:cNvPr id="273" name="Text 2"/>
          <p:cNvSpPr/>
          <p:nvPr/>
        </p:nvSpPr>
        <p:spPr>
          <a:xfrm>
            <a:off x="640080" y="877680"/>
            <a:ext cx="10911240" cy="749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US" sz="3400" spc="-1" strike="noStrike">
                <a:solidFill>
                  <a:srgbClr val="14532d"/>
                </a:solidFill>
                <a:latin typeface="Cambria"/>
                <a:ea typeface="Cambria"/>
              </a:rPr>
              <a:t>The people behind the plant</a:t>
            </a:r>
            <a:endParaRPr b="0" lang="en-IN" sz="3400" spc="-1" strike="noStrike">
              <a:solidFill>
                <a:srgbClr val="000000"/>
              </a:solidFill>
              <a:latin typeface="Arial"/>
            </a:endParaRPr>
          </a:p>
        </p:txBody>
      </p:sp>
      <p:pic>
        <p:nvPicPr>
          <p:cNvPr id="274" name="Image 0" descr="C:\Users\affla\OneDrive\Documents\Saas\Claude projects\COCOPALM\build\img\founder.jpg"/>
          <p:cNvPicPr/>
          <p:nvPr/>
        </p:nvPicPr>
        <p:blipFill>
          <a:blip r:embed="rId1"/>
          <a:stretch/>
        </p:blipFill>
        <p:spPr>
          <a:xfrm>
            <a:off x="640080" y="1810440"/>
            <a:ext cx="5394600" cy="2149560"/>
          </a:xfrm>
          <a:prstGeom prst="rect">
            <a:avLst/>
          </a:prstGeom>
          <a:ln w="0">
            <a:noFill/>
          </a:ln>
        </p:spPr>
      </p:pic>
      <p:sp>
        <p:nvSpPr>
          <p:cNvPr id="275" name="Text 3"/>
          <p:cNvSpPr/>
          <p:nvPr/>
        </p:nvSpPr>
        <p:spPr>
          <a:xfrm>
            <a:off x="653400" y="4032000"/>
            <a:ext cx="539460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Speaking to camera at the plant office</a:t>
            </a:r>
            <a:endParaRPr b="0" lang="en-IN" sz="950" spc="-1" strike="noStrike">
              <a:solidFill>
                <a:srgbClr val="000000"/>
              </a:solidFill>
              <a:latin typeface="Arial"/>
            </a:endParaRPr>
          </a:p>
        </p:txBody>
      </p:sp>
      <p:pic>
        <p:nvPicPr>
          <p:cNvPr id="276" name="Image 1" descr="C:\Users\affla\OneDrive\Documents\Saas\Claude projects\COCOPALM\build\img\team.jpg"/>
          <p:cNvPicPr/>
          <p:nvPr/>
        </p:nvPicPr>
        <p:blipFill>
          <a:blip r:embed="rId2"/>
          <a:stretch/>
        </p:blipFill>
        <p:spPr>
          <a:xfrm>
            <a:off x="640080" y="4320000"/>
            <a:ext cx="5394600" cy="1897560"/>
          </a:xfrm>
          <a:prstGeom prst="rect">
            <a:avLst/>
          </a:prstGeom>
          <a:ln w="0">
            <a:noFill/>
          </a:ln>
        </p:spPr>
      </p:pic>
      <p:sp>
        <p:nvSpPr>
          <p:cNvPr id="277" name="Text 4"/>
          <p:cNvSpPr/>
          <p:nvPr/>
        </p:nvSpPr>
        <p:spPr>
          <a:xfrm>
            <a:off x="640080" y="6272640"/>
            <a:ext cx="539460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US" sz="950" spc="-1" strike="noStrike">
                <a:solidFill>
                  <a:srgbClr val="6e7a6f"/>
                </a:solidFill>
                <a:latin typeface="Calibri"/>
                <a:ea typeface="Calibri"/>
              </a:rPr>
              <a:t>Review meeting with the plant team</a:t>
            </a:r>
            <a:endParaRPr b="0" lang="en-IN" sz="950" spc="-1" strike="noStrike">
              <a:solidFill>
                <a:srgbClr val="000000"/>
              </a:solidFill>
              <a:latin typeface="Arial"/>
            </a:endParaRPr>
          </a:p>
        </p:txBody>
      </p:sp>
      <p:sp>
        <p:nvSpPr>
          <p:cNvPr id="278" name="Shape 5"/>
          <p:cNvSpPr/>
          <p:nvPr/>
        </p:nvSpPr>
        <p:spPr>
          <a:xfrm>
            <a:off x="6602040" y="1810440"/>
            <a:ext cx="4949280" cy="2157480"/>
          </a:xfrm>
          <a:prstGeom prst="roundRect">
            <a:avLst>
              <a:gd name="adj" fmla="val 2542"/>
            </a:avLst>
          </a:prstGeom>
          <a:solidFill>
            <a:srgbClr val="f1f5ef"/>
          </a:solidFill>
          <a:ln w="12700">
            <a:solidFill>
              <a:srgbClr val="f1f5e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79" name="Text 6"/>
          <p:cNvSpPr/>
          <p:nvPr/>
        </p:nvSpPr>
        <p:spPr>
          <a:xfrm>
            <a:off x="6876360" y="2011680"/>
            <a:ext cx="4400640" cy="822600"/>
          </a:xfrm>
          <a:prstGeom prst="rect">
            <a:avLst/>
          </a:prstGeom>
          <a:noFill/>
          <a:ln w="0">
            <a:noFill/>
          </a:ln>
        </p:spPr>
        <p:style>
          <a:lnRef idx="0"/>
          <a:fillRef idx="0"/>
          <a:effectRef idx="0"/>
          <a:fontRef idx="minor"/>
        </p:style>
        <p:txBody>
          <a:bodyPr lIns="0" rIns="0" tIns="0" bIns="0" anchor="t">
            <a:noAutofit/>
          </a:bodyPr>
          <a:p>
            <a:pPr>
              <a:lnSpc>
                <a:spcPct val="120000"/>
              </a:lnSpc>
              <a:tabLst>
                <a:tab algn="l" pos="0"/>
              </a:tabLst>
            </a:pPr>
            <a:r>
              <a:rPr b="0" i="1" lang="en-US" sz="1900" spc="-1" strike="noStrike">
                <a:solidFill>
                  <a:srgbClr val="14532d"/>
                </a:solidFill>
                <a:latin typeface="Cambria"/>
                <a:ea typeface="Cambria"/>
              </a:rPr>
              <a:t>WE BELIEVE</a:t>
            </a:r>
            <a:endParaRPr b="0" lang="en-IN" sz="1900" spc="-1" strike="noStrike">
              <a:solidFill>
                <a:srgbClr val="000000"/>
              </a:solidFill>
              <a:latin typeface="Arial"/>
            </a:endParaRPr>
          </a:p>
        </p:txBody>
      </p:sp>
      <p:sp>
        <p:nvSpPr>
          <p:cNvPr id="280" name="Text 7"/>
          <p:cNvSpPr/>
          <p:nvPr/>
        </p:nvSpPr>
        <p:spPr>
          <a:xfrm>
            <a:off x="6876360" y="3035880"/>
            <a:ext cx="4400640" cy="694440"/>
          </a:xfrm>
          <a:prstGeom prst="rect">
            <a:avLst/>
          </a:prstGeom>
          <a:noFill/>
          <a:ln w="0">
            <a:noFill/>
          </a:ln>
        </p:spPr>
        <p:style>
          <a:lnRef idx="0"/>
          <a:fillRef idx="0"/>
          <a:effectRef idx="0"/>
          <a:fontRef idx="minor"/>
        </p:style>
        <p:txBody>
          <a:bodyPr lIns="0" rIns="0" tIns="0" bIns="0" anchor="t">
            <a:noAutofit/>
          </a:bodyPr>
          <a:p>
            <a:pPr>
              <a:lnSpc>
                <a:spcPct val="118000"/>
              </a:lnSpc>
              <a:tabLst>
                <a:tab algn="l" pos="0"/>
              </a:tabLst>
            </a:pPr>
            <a:r>
              <a:rPr b="0" i="1" lang="en-US" sz="1050" spc="-1" strike="noStrike">
                <a:solidFill>
                  <a:srgbClr val="6e7a6f"/>
                </a:solidFill>
                <a:latin typeface="Calibri"/>
                <a:ea typeface="Calibri"/>
              </a:rPr>
              <a:t>No compromise in quality and purity.</a:t>
            </a:r>
            <a:endParaRPr b="0" lang="en-IN" sz="1050" spc="-1" strike="noStrike">
              <a:solidFill>
                <a:srgbClr val="000000"/>
              </a:solidFill>
              <a:latin typeface="Arial"/>
            </a:endParaRPr>
          </a:p>
        </p:txBody>
      </p:sp>
      <p:sp>
        <p:nvSpPr>
          <p:cNvPr id="281" name="Text 8"/>
          <p:cNvSpPr/>
          <p:nvPr/>
        </p:nvSpPr>
        <p:spPr>
          <a:xfrm>
            <a:off x="6602040" y="4260960"/>
            <a:ext cx="23770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Name</a:t>
            </a:r>
            <a:endParaRPr b="0" lang="en-IN" sz="1150" spc="-1" strike="noStrike">
              <a:solidFill>
                <a:srgbClr val="000000"/>
              </a:solidFill>
              <a:latin typeface="Arial"/>
            </a:endParaRPr>
          </a:p>
        </p:txBody>
      </p:sp>
      <p:sp>
        <p:nvSpPr>
          <p:cNvPr id="282" name="Text 9"/>
          <p:cNvSpPr/>
          <p:nvPr/>
        </p:nvSpPr>
        <p:spPr>
          <a:xfrm>
            <a:off x="8979480" y="4260960"/>
            <a:ext cx="25718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i="1" lang="en-US" sz="1100" spc="117" strike="noStrike">
                <a:solidFill>
                  <a:srgbClr val="b8860f"/>
                </a:solidFill>
                <a:latin typeface="Calibri"/>
                <a:ea typeface="Calibri"/>
              </a:rPr>
              <a:t>Rameez Raja</a:t>
            </a:r>
            <a:endParaRPr b="0" lang="en-IN" sz="1100" spc="-1" strike="noStrike">
              <a:solidFill>
                <a:srgbClr val="000000"/>
              </a:solidFill>
              <a:latin typeface="Arial"/>
            </a:endParaRPr>
          </a:p>
        </p:txBody>
      </p:sp>
      <p:sp>
        <p:nvSpPr>
          <p:cNvPr id="283" name="Text 10"/>
          <p:cNvSpPr/>
          <p:nvPr/>
        </p:nvSpPr>
        <p:spPr>
          <a:xfrm>
            <a:off x="6602040" y="4718160"/>
            <a:ext cx="23770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Title</a:t>
            </a:r>
            <a:endParaRPr b="0" lang="en-IN" sz="1150" spc="-1" strike="noStrike">
              <a:solidFill>
                <a:srgbClr val="000000"/>
              </a:solidFill>
              <a:latin typeface="Arial"/>
            </a:endParaRPr>
          </a:p>
        </p:txBody>
      </p:sp>
      <p:sp>
        <p:nvSpPr>
          <p:cNvPr id="284" name="Text 11"/>
          <p:cNvSpPr/>
          <p:nvPr/>
        </p:nvSpPr>
        <p:spPr>
          <a:xfrm>
            <a:off x="8979480" y="4718160"/>
            <a:ext cx="25718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i="1" lang="en-US" sz="1100" spc="117" strike="noStrike">
                <a:solidFill>
                  <a:srgbClr val="b8860f"/>
                </a:solidFill>
                <a:latin typeface="Calibri"/>
                <a:ea typeface="Calibri"/>
              </a:rPr>
              <a:t>Managing Director</a:t>
            </a:r>
            <a:endParaRPr b="0" lang="en-IN" sz="1100" spc="-1" strike="noStrike">
              <a:solidFill>
                <a:srgbClr val="000000"/>
              </a:solidFill>
              <a:latin typeface="Arial"/>
            </a:endParaRPr>
          </a:p>
        </p:txBody>
      </p:sp>
      <p:sp>
        <p:nvSpPr>
          <p:cNvPr id="285" name="Text 12"/>
          <p:cNvSpPr/>
          <p:nvPr/>
        </p:nvSpPr>
        <p:spPr>
          <a:xfrm>
            <a:off x="6602040" y="5175360"/>
            <a:ext cx="237708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77" strike="noStrike">
                <a:solidFill>
                  <a:srgbClr val="6e7a6f"/>
                </a:solidFill>
                <a:latin typeface="Calibri"/>
                <a:ea typeface="Calibri"/>
              </a:rPr>
              <a:t>Years in coconut processing</a:t>
            </a:r>
            <a:endParaRPr b="0" lang="en-IN" sz="1150" spc="-1" strike="noStrike">
              <a:solidFill>
                <a:srgbClr val="000000"/>
              </a:solidFill>
              <a:latin typeface="Arial"/>
            </a:endParaRPr>
          </a:p>
        </p:txBody>
      </p:sp>
      <p:sp>
        <p:nvSpPr>
          <p:cNvPr id="286" name="Text 13"/>
          <p:cNvSpPr/>
          <p:nvPr/>
        </p:nvSpPr>
        <p:spPr>
          <a:xfrm>
            <a:off x="8979480" y="5175360"/>
            <a:ext cx="2571840" cy="2739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i="1" lang="en-US" sz="1100" spc="117" strike="noStrike">
                <a:solidFill>
                  <a:srgbClr val="b8860f"/>
                </a:solidFill>
                <a:latin typeface="Calibri"/>
                <a:ea typeface="Calibri"/>
              </a:rPr>
              <a:t>13</a:t>
            </a:r>
            <a:endParaRPr b="0" lang="en-IN" sz="1100" spc="-1" strike="noStrike">
              <a:solidFill>
                <a:srgbClr val="000000"/>
              </a:solidFill>
              <a:latin typeface="Arial"/>
            </a:endParaRPr>
          </a:p>
        </p:txBody>
      </p:sp>
      <p:sp>
        <p:nvSpPr>
          <p:cNvPr id="287" name="Text 14"/>
          <p:cNvSpPr/>
          <p:nvPr/>
        </p:nvSpPr>
        <p:spPr>
          <a:xfrm>
            <a:off x="660204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6e7a6f"/>
                </a:solidFill>
                <a:latin typeface="Calibri"/>
                <a:ea typeface="Calibri"/>
              </a:rPr>
              <a:t>Coco Palms Skylanes and Allied Products</a:t>
            </a:r>
            <a:endParaRPr b="0" lang="en-IN" sz="900" spc="-1" strike="noStrike">
              <a:solidFill>
                <a:srgbClr val="000000"/>
              </a:solidFill>
              <a:latin typeface="Arial"/>
            </a:endParaRPr>
          </a:p>
        </p:txBody>
      </p:sp>
      <p:sp>
        <p:nvSpPr>
          <p:cNvPr id="288" name="Text 15"/>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6e7a6f"/>
                </a:solidFill>
                <a:latin typeface="Calibri"/>
                <a:ea typeface="Calibri"/>
              </a:rPr>
              <a:t>12</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Shape 0"/>
          <p:cNvSpPr/>
          <p:nvPr/>
        </p:nvSpPr>
        <p:spPr>
          <a:xfrm>
            <a:off x="0" y="0"/>
            <a:ext cx="12191400" cy="6857640"/>
          </a:xfrm>
          <a:prstGeom prst="rect">
            <a:avLst/>
          </a:prstGeom>
          <a:solidFill>
            <a:srgbClr val="14532d"/>
          </a:solidFill>
          <a:ln w="12700">
            <a:solidFill>
              <a:srgbClr val="14532d"/>
            </a:solidFill>
            <a:round/>
          </a:ln>
        </p:spPr>
        <p:style>
          <a:lnRef idx="0"/>
          <a:fillRef idx="0"/>
          <a:effectRef idx="0"/>
          <a:fontRef idx="minor"/>
        </p:style>
        <p:txBody>
          <a:bodyPr lIns="90000" rIns="90000" tIns="45000" bIns="45000" anchor="t">
            <a:noAutofit/>
          </a:bodyPr>
          <a:p>
            <a:endParaRPr b="0" lang="en-IN" sz="1800" spc="-1" strike="noStrike">
              <a:solidFill>
                <a:srgbClr val="ffffff"/>
              </a:solidFill>
              <a:latin typeface="Arial"/>
            </a:endParaRPr>
          </a:p>
        </p:txBody>
      </p:sp>
      <p:sp>
        <p:nvSpPr>
          <p:cNvPr id="290" name="Text 1"/>
          <p:cNvSpPr/>
          <p:nvPr/>
        </p:nvSpPr>
        <p:spPr>
          <a:xfrm>
            <a:off x="640080" y="1134000"/>
            <a:ext cx="1091124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150" spc="239" strike="noStrike">
                <a:solidFill>
                  <a:srgbClr val="e3c171"/>
                </a:solidFill>
                <a:latin typeface="Calibri"/>
                <a:ea typeface="Calibri"/>
              </a:rPr>
              <a:t>NEXT STEPS</a:t>
            </a:r>
            <a:endParaRPr b="0" lang="en-IN" sz="1150" spc="-1" strike="noStrike">
              <a:solidFill>
                <a:srgbClr val="000000"/>
              </a:solidFill>
              <a:latin typeface="Arial"/>
            </a:endParaRPr>
          </a:p>
        </p:txBody>
      </p:sp>
      <p:sp>
        <p:nvSpPr>
          <p:cNvPr id="291" name="Text 2"/>
          <p:cNvSpPr/>
          <p:nvPr/>
        </p:nvSpPr>
        <p:spPr>
          <a:xfrm>
            <a:off x="640080" y="1463040"/>
            <a:ext cx="6766200" cy="7858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3400" spc="-1" strike="noStrike">
                <a:solidFill>
                  <a:srgbClr val="ffffff"/>
                </a:solidFill>
                <a:latin typeface="Cambria"/>
                <a:ea typeface="Cambria"/>
              </a:rPr>
              <a:t>Let's talk specification</a:t>
            </a:r>
            <a:endParaRPr b="0" lang="en-IN" sz="3400" spc="-1" strike="noStrike">
              <a:solidFill>
                <a:srgbClr val="000000"/>
              </a:solidFill>
              <a:latin typeface="Arial"/>
            </a:endParaRPr>
          </a:p>
        </p:txBody>
      </p:sp>
      <p:sp>
        <p:nvSpPr>
          <p:cNvPr id="292" name="Text 3"/>
          <p:cNvSpPr/>
          <p:nvPr/>
        </p:nvSpPr>
        <p:spPr>
          <a:xfrm>
            <a:off x="640080" y="2340720"/>
            <a:ext cx="6400440" cy="877320"/>
          </a:xfrm>
          <a:prstGeom prst="rect">
            <a:avLst/>
          </a:prstGeom>
          <a:noFill/>
          <a:ln w="0">
            <a:noFill/>
          </a:ln>
        </p:spPr>
        <p:style>
          <a:lnRef idx="0"/>
          <a:fillRef idx="0"/>
          <a:effectRef idx="0"/>
          <a:fontRef idx="minor"/>
        </p:style>
        <p:txBody>
          <a:bodyPr lIns="0" rIns="0" tIns="0" bIns="0" anchor="t">
            <a:noAutofit/>
          </a:bodyPr>
          <a:p>
            <a:pPr>
              <a:lnSpc>
                <a:spcPct val="128000"/>
              </a:lnSpc>
              <a:tabLst>
                <a:tab algn="l" pos="0"/>
              </a:tabLst>
            </a:pPr>
            <a:r>
              <a:rPr b="0" lang="en-US" sz="1350" spc="-1" strike="noStrike">
                <a:solidFill>
                  <a:srgbClr val="a9bbab"/>
                </a:solidFill>
                <a:latin typeface="Calibri"/>
                <a:ea typeface="Calibri"/>
              </a:rPr>
              <a:t>Send us your incoming specification and target volume, and we will come back with a costed offer, a sample plan and a certificate pack.</a:t>
            </a:r>
            <a:endParaRPr b="0" lang="en-IN" sz="1350" spc="-1" strike="noStrike">
              <a:solidFill>
                <a:srgbClr val="000000"/>
              </a:solidFill>
              <a:latin typeface="Arial"/>
            </a:endParaRPr>
          </a:p>
        </p:txBody>
      </p:sp>
      <p:sp>
        <p:nvSpPr>
          <p:cNvPr id="293" name="Shape 4"/>
          <p:cNvSpPr/>
          <p:nvPr/>
        </p:nvSpPr>
        <p:spPr>
          <a:xfrm>
            <a:off x="640080" y="345636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94" name="Text 5"/>
          <p:cNvSpPr/>
          <p:nvPr/>
        </p:nvSpPr>
        <p:spPr>
          <a:xfrm>
            <a:off x="640080" y="345636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1</a:t>
            </a:r>
            <a:endParaRPr b="0" lang="en-IN" sz="1300" spc="-1" strike="noStrike">
              <a:solidFill>
                <a:srgbClr val="000000"/>
              </a:solidFill>
              <a:latin typeface="Arial"/>
            </a:endParaRPr>
          </a:p>
        </p:txBody>
      </p:sp>
      <p:sp>
        <p:nvSpPr>
          <p:cNvPr id="295" name="Text 6"/>
          <p:cNvSpPr/>
          <p:nvPr/>
        </p:nvSpPr>
        <p:spPr>
          <a:xfrm>
            <a:off x="1298520" y="3438000"/>
            <a:ext cx="5668920" cy="2923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450" spc="-1" strike="noStrike">
                <a:solidFill>
                  <a:srgbClr val="ffffff"/>
                </a:solidFill>
                <a:latin typeface="Cambria"/>
                <a:ea typeface="Cambria"/>
              </a:rPr>
              <a:t>Share your specification</a:t>
            </a:r>
            <a:endParaRPr b="0" lang="en-IN" sz="1450" spc="-1" strike="noStrike">
              <a:solidFill>
                <a:srgbClr val="000000"/>
              </a:solidFill>
              <a:latin typeface="Arial"/>
            </a:endParaRPr>
          </a:p>
        </p:txBody>
      </p:sp>
      <p:sp>
        <p:nvSpPr>
          <p:cNvPr id="296" name="Text 7"/>
          <p:cNvSpPr/>
          <p:nvPr/>
        </p:nvSpPr>
        <p:spPr>
          <a:xfrm>
            <a:off x="1298520" y="3712320"/>
            <a:ext cx="566892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100" spc="-1" strike="noStrike">
                <a:solidFill>
                  <a:srgbClr val="a9bbab"/>
                </a:solidFill>
                <a:latin typeface="Calibri"/>
                <a:ea typeface="Calibri"/>
              </a:rPr>
              <a:t>Grade, pack format and annual volume</a:t>
            </a:r>
            <a:endParaRPr b="0" lang="en-IN" sz="1100" spc="-1" strike="noStrike">
              <a:solidFill>
                <a:srgbClr val="000000"/>
              </a:solidFill>
              <a:latin typeface="Arial"/>
            </a:endParaRPr>
          </a:p>
        </p:txBody>
      </p:sp>
      <p:sp>
        <p:nvSpPr>
          <p:cNvPr id="297" name="Shape 8"/>
          <p:cNvSpPr/>
          <p:nvPr/>
        </p:nvSpPr>
        <p:spPr>
          <a:xfrm>
            <a:off x="640080" y="424296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298" name="Text 9"/>
          <p:cNvSpPr/>
          <p:nvPr/>
        </p:nvSpPr>
        <p:spPr>
          <a:xfrm>
            <a:off x="640080" y="424296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2</a:t>
            </a:r>
            <a:endParaRPr b="0" lang="en-IN" sz="1300" spc="-1" strike="noStrike">
              <a:solidFill>
                <a:srgbClr val="000000"/>
              </a:solidFill>
              <a:latin typeface="Arial"/>
            </a:endParaRPr>
          </a:p>
        </p:txBody>
      </p:sp>
      <p:sp>
        <p:nvSpPr>
          <p:cNvPr id="299" name="Text 10"/>
          <p:cNvSpPr/>
          <p:nvPr/>
        </p:nvSpPr>
        <p:spPr>
          <a:xfrm>
            <a:off x="1298520" y="4224600"/>
            <a:ext cx="5668920" cy="2923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450" spc="-1" strike="noStrike">
                <a:solidFill>
                  <a:srgbClr val="ffffff"/>
                </a:solidFill>
                <a:latin typeface="Cambria"/>
                <a:ea typeface="Cambria"/>
              </a:rPr>
              <a:t>Sample and approval</a:t>
            </a:r>
            <a:endParaRPr b="0" lang="en-IN" sz="1450" spc="-1" strike="noStrike">
              <a:solidFill>
                <a:srgbClr val="000000"/>
              </a:solidFill>
              <a:latin typeface="Arial"/>
            </a:endParaRPr>
          </a:p>
        </p:txBody>
      </p:sp>
      <p:sp>
        <p:nvSpPr>
          <p:cNvPr id="300" name="Text 11"/>
          <p:cNvSpPr/>
          <p:nvPr/>
        </p:nvSpPr>
        <p:spPr>
          <a:xfrm>
            <a:off x="1298520" y="4498920"/>
            <a:ext cx="566892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100" spc="-1" strike="noStrike">
                <a:solidFill>
                  <a:srgbClr val="a9bbab"/>
                </a:solidFill>
                <a:latin typeface="Calibri"/>
                <a:ea typeface="Calibri"/>
              </a:rPr>
              <a:t>We ship samples against your spec</a:t>
            </a:r>
            <a:endParaRPr b="0" lang="en-IN" sz="1100" spc="-1" strike="noStrike">
              <a:solidFill>
                <a:srgbClr val="000000"/>
              </a:solidFill>
              <a:latin typeface="Arial"/>
            </a:endParaRPr>
          </a:p>
        </p:txBody>
      </p:sp>
      <p:sp>
        <p:nvSpPr>
          <p:cNvPr id="301" name="Shape 12"/>
          <p:cNvSpPr/>
          <p:nvPr/>
        </p:nvSpPr>
        <p:spPr>
          <a:xfrm>
            <a:off x="640080" y="5029200"/>
            <a:ext cx="456840" cy="456840"/>
          </a:xfrm>
          <a:prstGeom prst="ellipse">
            <a:avLst/>
          </a:prstGeom>
          <a:solidFill>
            <a:srgbClr val="b8860f"/>
          </a:solidFill>
          <a:ln w="12700">
            <a:solidFill>
              <a:srgbClr val="b8860f"/>
            </a:solidFill>
            <a:round/>
          </a:ln>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sp>
        <p:nvSpPr>
          <p:cNvPr id="302" name="Text 13"/>
          <p:cNvSpPr/>
          <p:nvPr/>
        </p:nvSpPr>
        <p:spPr>
          <a:xfrm>
            <a:off x="640080" y="5029200"/>
            <a:ext cx="456840" cy="4568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US" sz="1300" spc="-1" strike="noStrike">
                <a:solidFill>
                  <a:srgbClr val="ffffff"/>
                </a:solidFill>
                <a:latin typeface="Cambria"/>
                <a:ea typeface="Cambria"/>
              </a:rPr>
              <a:t>3</a:t>
            </a:r>
            <a:endParaRPr b="0" lang="en-IN" sz="1300" spc="-1" strike="noStrike">
              <a:solidFill>
                <a:srgbClr val="000000"/>
              </a:solidFill>
              <a:latin typeface="Arial"/>
            </a:endParaRPr>
          </a:p>
        </p:txBody>
      </p:sp>
      <p:sp>
        <p:nvSpPr>
          <p:cNvPr id="303" name="Text 14"/>
          <p:cNvSpPr/>
          <p:nvPr/>
        </p:nvSpPr>
        <p:spPr>
          <a:xfrm>
            <a:off x="1298520" y="5010840"/>
            <a:ext cx="5668920" cy="2923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1450" spc="-1" strike="noStrike">
                <a:solidFill>
                  <a:srgbClr val="ffffff"/>
                </a:solidFill>
                <a:latin typeface="Cambria"/>
                <a:ea typeface="Cambria"/>
              </a:rPr>
              <a:t>Trial order</a:t>
            </a:r>
            <a:endParaRPr b="0" lang="en-IN" sz="1450" spc="-1" strike="noStrike">
              <a:solidFill>
                <a:srgbClr val="000000"/>
              </a:solidFill>
              <a:latin typeface="Arial"/>
            </a:endParaRPr>
          </a:p>
        </p:txBody>
      </p:sp>
      <p:sp>
        <p:nvSpPr>
          <p:cNvPr id="304" name="Text 15"/>
          <p:cNvSpPr/>
          <p:nvPr/>
        </p:nvSpPr>
        <p:spPr>
          <a:xfrm>
            <a:off x="1298520" y="5285160"/>
            <a:ext cx="5668920" cy="255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1100" spc="-1" strike="noStrike">
                <a:solidFill>
                  <a:srgbClr val="a9bbab"/>
                </a:solidFill>
                <a:latin typeface="Calibri"/>
                <a:ea typeface="Calibri"/>
              </a:rPr>
              <a:t>First container on agreed Incoterms</a:t>
            </a:r>
            <a:endParaRPr b="0" lang="en-IN" sz="1100" spc="-1" strike="noStrike">
              <a:solidFill>
                <a:srgbClr val="000000"/>
              </a:solidFill>
              <a:latin typeface="Arial"/>
            </a:endParaRPr>
          </a:p>
        </p:txBody>
      </p:sp>
      <p:sp>
        <p:nvSpPr>
          <p:cNvPr id="305" name="Shape 16"/>
          <p:cNvSpPr/>
          <p:nvPr/>
        </p:nvSpPr>
        <p:spPr>
          <a:xfrm>
            <a:off x="7772400" y="841320"/>
            <a:ext cx="3778920" cy="5230080"/>
          </a:xfrm>
          <a:prstGeom prst="roundRect">
            <a:avLst>
              <a:gd name="adj" fmla="val 1210"/>
            </a:avLst>
          </a:prstGeom>
          <a:solidFill>
            <a:srgbClr val="ffffff"/>
          </a:solidFill>
          <a:ln w="12700">
            <a:solidFill>
              <a:srgbClr val="ffffff"/>
            </a:solidFill>
            <a:round/>
          </a:ln>
          <a:effectLst>
            <a:outerShdw algn="bl" blurRad="254160" dir="5400000" dist="25560" kx="0" ky="0" rotWithShape="0" sx="100000" sy="100000">
              <a:srgbClr val="000000">
                <a:alpha val="22000"/>
              </a:srgbClr>
            </a:outerShdw>
          </a:effectLst>
        </p:spPr>
        <p:style>
          <a:lnRef idx="0"/>
          <a:fillRef idx="0"/>
          <a:effectRef idx="0"/>
          <a:fontRef idx="minor"/>
        </p:style>
        <p:txBody>
          <a:bodyPr lIns="90000" rIns="90000" tIns="45000" bIns="45000" anchor="t">
            <a:noAutofit/>
          </a:bodyPr>
          <a:p>
            <a:endParaRPr b="0" lang="en-IN" sz="1800" spc="-1" strike="noStrike">
              <a:solidFill>
                <a:srgbClr val="000000"/>
              </a:solidFill>
              <a:latin typeface="Arial"/>
            </a:endParaRPr>
          </a:p>
        </p:txBody>
      </p:sp>
      <p:pic>
        <p:nvPicPr>
          <p:cNvPr id="306" name="Image 0" descr="C:\Users\affla\OneDrive\Documents\Saas\Claude projects\COCOPALM\build\img\logo.jpg"/>
          <p:cNvPicPr/>
          <p:nvPr/>
        </p:nvPicPr>
        <p:blipFill>
          <a:blip r:embed="rId1"/>
          <a:stretch/>
        </p:blipFill>
        <p:spPr>
          <a:xfrm>
            <a:off x="8339400" y="1060560"/>
            <a:ext cx="2651400" cy="1846800"/>
          </a:xfrm>
          <a:prstGeom prst="rect">
            <a:avLst/>
          </a:prstGeom>
          <a:ln w="0">
            <a:noFill/>
          </a:ln>
        </p:spPr>
      </p:pic>
      <p:sp>
        <p:nvSpPr>
          <p:cNvPr id="307" name="Text 17"/>
          <p:cNvSpPr/>
          <p:nvPr/>
        </p:nvSpPr>
        <p:spPr>
          <a:xfrm>
            <a:off x="8083440" y="3127320"/>
            <a:ext cx="3157200" cy="182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850" spc="109" strike="noStrike">
                <a:solidFill>
                  <a:srgbClr val="6e7a6f"/>
                </a:solidFill>
                <a:latin typeface="Calibri"/>
                <a:ea typeface="Calibri"/>
              </a:rPr>
              <a:t>Contact</a:t>
            </a:r>
            <a:endParaRPr b="0" lang="en-IN" sz="850" spc="-1" strike="noStrike">
              <a:solidFill>
                <a:srgbClr val="000000"/>
              </a:solidFill>
              <a:latin typeface="Arial"/>
            </a:endParaRPr>
          </a:p>
        </p:txBody>
      </p:sp>
      <p:sp>
        <p:nvSpPr>
          <p:cNvPr id="308" name="Text 18"/>
          <p:cNvSpPr/>
          <p:nvPr/>
        </p:nvSpPr>
        <p:spPr>
          <a:xfrm>
            <a:off x="8083440" y="3310200"/>
            <a:ext cx="3157200" cy="219240"/>
          </a:xfrm>
          <a:prstGeom prst="rect">
            <a:avLst/>
          </a:prstGeom>
          <a:noFill/>
          <a:ln w="0">
            <a:noFill/>
          </a:ln>
        </p:spPr>
        <p:style>
          <a:lnRef idx="0"/>
          <a:fillRef idx="0"/>
          <a:effectRef idx="0"/>
          <a:fontRef idx="minor"/>
        </p:style>
        <p:txBody>
          <a:bodyPr lIns="0" rIns="0" tIns="0" bIns="0" anchor="t">
            <a:noAutofit/>
          </a:bodyPr>
          <a:p>
            <a:pPr>
              <a:lnSpc>
                <a:spcPct val="105000"/>
              </a:lnSpc>
              <a:tabLst>
                <a:tab algn="l" pos="0"/>
              </a:tabLst>
            </a:pPr>
            <a:r>
              <a:rPr b="1" lang="en-US" sz="1050" spc="-1" strike="noStrike">
                <a:solidFill>
                  <a:srgbClr val="232c24"/>
                </a:solidFill>
                <a:latin typeface="Calibri"/>
                <a:ea typeface="Calibri"/>
              </a:rPr>
              <a:t>Mr. Barani</a:t>
            </a:r>
            <a:endParaRPr b="0" lang="en-IN" sz="1050" spc="-1" strike="noStrike">
              <a:solidFill>
                <a:srgbClr val="000000"/>
              </a:solidFill>
              <a:latin typeface="Arial"/>
            </a:endParaRPr>
          </a:p>
        </p:txBody>
      </p:sp>
      <p:sp>
        <p:nvSpPr>
          <p:cNvPr id="309" name="Text 19"/>
          <p:cNvSpPr/>
          <p:nvPr/>
        </p:nvSpPr>
        <p:spPr>
          <a:xfrm>
            <a:off x="8083440" y="3511440"/>
            <a:ext cx="3157200" cy="182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850" spc="109" strike="noStrike">
                <a:solidFill>
                  <a:srgbClr val="6e7a6f"/>
                </a:solidFill>
                <a:latin typeface="Calibri"/>
                <a:ea typeface="Calibri"/>
              </a:rPr>
              <a:t>Designation</a:t>
            </a:r>
            <a:endParaRPr b="0" lang="en-IN" sz="850" spc="-1" strike="noStrike">
              <a:solidFill>
                <a:srgbClr val="000000"/>
              </a:solidFill>
              <a:latin typeface="Arial"/>
            </a:endParaRPr>
          </a:p>
        </p:txBody>
      </p:sp>
      <p:sp>
        <p:nvSpPr>
          <p:cNvPr id="310" name="Text 20"/>
          <p:cNvSpPr/>
          <p:nvPr/>
        </p:nvSpPr>
        <p:spPr>
          <a:xfrm>
            <a:off x="8083440" y="3694320"/>
            <a:ext cx="3157200" cy="219240"/>
          </a:xfrm>
          <a:prstGeom prst="rect">
            <a:avLst/>
          </a:prstGeom>
          <a:noFill/>
          <a:ln w="0">
            <a:noFill/>
          </a:ln>
        </p:spPr>
        <p:style>
          <a:lnRef idx="0"/>
          <a:fillRef idx="0"/>
          <a:effectRef idx="0"/>
          <a:fontRef idx="minor"/>
        </p:style>
        <p:txBody>
          <a:bodyPr lIns="0" rIns="0" tIns="0" bIns="0" anchor="t">
            <a:noAutofit/>
          </a:bodyPr>
          <a:p>
            <a:pPr>
              <a:lnSpc>
                <a:spcPct val="105000"/>
              </a:lnSpc>
              <a:tabLst>
                <a:tab algn="l" pos="0"/>
              </a:tabLst>
            </a:pPr>
            <a:r>
              <a:rPr b="1" lang="en-US" sz="1050" spc="-1" strike="noStrike">
                <a:solidFill>
                  <a:srgbClr val="232c24"/>
                </a:solidFill>
                <a:latin typeface="Calibri"/>
                <a:ea typeface="Calibri"/>
              </a:rPr>
              <a:t>Operations Head</a:t>
            </a:r>
            <a:endParaRPr b="0" lang="en-IN" sz="1050" spc="-1" strike="noStrike">
              <a:solidFill>
                <a:srgbClr val="000000"/>
              </a:solidFill>
              <a:latin typeface="Arial"/>
            </a:endParaRPr>
          </a:p>
        </p:txBody>
      </p:sp>
      <p:sp>
        <p:nvSpPr>
          <p:cNvPr id="311" name="Text 21"/>
          <p:cNvSpPr/>
          <p:nvPr/>
        </p:nvSpPr>
        <p:spPr>
          <a:xfrm>
            <a:off x="8083440" y="3895200"/>
            <a:ext cx="3157200" cy="182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850" spc="109" strike="noStrike">
                <a:solidFill>
                  <a:srgbClr val="6e7a6f"/>
                </a:solidFill>
                <a:latin typeface="Calibri"/>
                <a:ea typeface="Calibri"/>
              </a:rPr>
              <a:t>Telephone</a:t>
            </a:r>
            <a:endParaRPr b="0" lang="en-IN" sz="850" spc="-1" strike="noStrike">
              <a:solidFill>
                <a:srgbClr val="000000"/>
              </a:solidFill>
              <a:latin typeface="Arial"/>
            </a:endParaRPr>
          </a:p>
        </p:txBody>
      </p:sp>
      <p:sp>
        <p:nvSpPr>
          <p:cNvPr id="312" name="Text 22"/>
          <p:cNvSpPr/>
          <p:nvPr/>
        </p:nvSpPr>
        <p:spPr>
          <a:xfrm>
            <a:off x="8083440" y="4078080"/>
            <a:ext cx="3157200" cy="219240"/>
          </a:xfrm>
          <a:prstGeom prst="rect">
            <a:avLst/>
          </a:prstGeom>
          <a:noFill/>
          <a:ln w="0">
            <a:noFill/>
          </a:ln>
        </p:spPr>
        <p:style>
          <a:lnRef idx="0"/>
          <a:fillRef idx="0"/>
          <a:effectRef idx="0"/>
          <a:fontRef idx="minor"/>
        </p:style>
        <p:txBody>
          <a:bodyPr lIns="0" rIns="0" tIns="0" bIns="0" anchor="t">
            <a:noAutofit/>
          </a:bodyPr>
          <a:p>
            <a:pPr>
              <a:lnSpc>
                <a:spcPct val="105000"/>
              </a:lnSpc>
              <a:tabLst>
                <a:tab algn="l" pos="0"/>
              </a:tabLst>
            </a:pPr>
            <a:r>
              <a:rPr b="1" lang="en-US" sz="1050" spc="-1" strike="noStrike">
                <a:solidFill>
                  <a:srgbClr val="232c24"/>
                </a:solidFill>
                <a:latin typeface="Calibri"/>
                <a:ea typeface="Calibri"/>
              </a:rPr>
              <a:t>+91 95661 62825</a:t>
            </a:r>
            <a:endParaRPr b="0" lang="en-IN" sz="1050" spc="-1" strike="noStrike">
              <a:solidFill>
                <a:srgbClr val="000000"/>
              </a:solidFill>
              <a:latin typeface="Arial"/>
            </a:endParaRPr>
          </a:p>
        </p:txBody>
      </p:sp>
      <p:sp>
        <p:nvSpPr>
          <p:cNvPr id="313" name="Text 23"/>
          <p:cNvSpPr/>
          <p:nvPr/>
        </p:nvSpPr>
        <p:spPr>
          <a:xfrm>
            <a:off x="8083440" y="4279320"/>
            <a:ext cx="3157200" cy="182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850" spc="109" strike="noStrike">
                <a:solidFill>
                  <a:srgbClr val="6e7a6f"/>
                </a:solidFill>
                <a:latin typeface="Calibri"/>
                <a:ea typeface="Calibri"/>
              </a:rPr>
              <a:t>Email</a:t>
            </a:r>
            <a:endParaRPr b="0" lang="en-IN" sz="850" spc="-1" strike="noStrike">
              <a:solidFill>
                <a:srgbClr val="000000"/>
              </a:solidFill>
              <a:latin typeface="Arial"/>
            </a:endParaRPr>
          </a:p>
        </p:txBody>
      </p:sp>
      <p:sp>
        <p:nvSpPr>
          <p:cNvPr id="314" name="Text 24"/>
          <p:cNvSpPr/>
          <p:nvPr/>
        </p:nvSpPr>
        <p:spPr>
          <a:xfrm>
            <a:off x="8083440" y="4462200"/>
            <a:ext cx="3157200" cy="219240"/>
          </a:xfrm>
          <a:prstGeom prst="rect">
            <a:avLst/>
          </a:prstGeom>
          <a:noFill/>
          <a:ln w="0">
            <a:noFill/>
          </a:ln>
        </p:spPr>
        <p:style>
          <a:lnRef idx="0"/>
          <a:fillRef idx="0"/>
          <a:effectRef idx="0"/>
          <a:fontRef idx="minor"/>
        </p:style>
        <p:txBody>
          <a:bodyPr lIns="0" rIns="0" tIns="0" bIns="0" anchor="t">
            <a:noAutofit/>
          </a:bodyPr>
          <a:p>
            <a:pPr>
              <a:lnSpc>
                <a:spcPct val="105000"/>
              </a:lnSpc>
              <a:tabLst>
                <a:tab algn="l" pos="0"/>
              </a:tabLst>
            </a:pPr>
            <a:r>
              <a:rPr b="1" lang="en-US" sz="1050" spc="-1" strike="noStrike">
                <a:solidFill>
                  <a:srgbClr val="232c24"/>
                </a:solidFill>
                <a:latin typeface="Calibri"/>
                <a:ea typeface="Calibri"/>
              </a:rPr>
              <a:t>info@blackboxtraders.in</a:t>
            </a:r>
            <a:endParaRPr b="0" lang="en-IN" sz="1050" spc="-1" strike="noStrike">
              <a:solidFill>
                <a:srgbClr val="000000"/>
              </a:solidFill>
              <a:latin typeface="Arial"/>
            </a:endParaRPr>
          </a:p>
        </p:txBody>
      </p:sp>
      <p:sp>
        <p:nvSpPr>
          <p:cNvPr id="315" name="Text 25"/>
          <p:cNvSpPr/>
          <p:nvPr/>
        </p:nvSpPr>
        <p:spPr>
          <a:xfrm>
            <a:off x="8083440" y="4663440"/>
            <a:ext cx="3157200" cy="182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850" spc="109" strike="noStrike">
                <a:solidFill>
                  <a:srgbClr val="6e7a6f"/>
                </a:solidFill>
                <a:latin typeface="Calibri"/>
                <a:ea typeface="Calibri"/>
              </a:rPr>
              <a:t>Website</a:t>
            </a:r>
            <a:endParaRPr b="0" lang="en-IN" sz="850" spc="-1" strike="noStrike">
              <a:solidFill>
                <a:srgbClr val="000000"/>
              </a:solidFill>
              <a:latin typeface="Arial"/>
            </a:endParaRPr>
          </a:p>
        </p:txBody>
      </p:sp>
      <p:sp>
        <p:nvSpPr>
          <p:cNvPr id="316" name="Text 26"/>
          <p:cNvSpPr/>
          <p:nvPr/>
        </p:nvSpPr>
        <p:spPr>
          <a:xfrm>
            <a:off x="8083440" y="4846320"/>
            <a:ext cx="3157200" cy="219240"/>
          </a:xfrm>
          <a:prstGeom prst="rect">
            <a:avLst/>
          </a:prstGeom>
          <a:noFill/>
          <a:ln w="0">
            <a:noFill/>
          </a:ln>
        </p:spPr>
        <p:style>
          <a:lnRef idx="0"/>
          <a:fillRef idx="0"/>
          <a:effectRef idx="0"/>
          <a:fontRef idx="minor"/>
        </p:style>
        <p:txBody>
          <a:bodyPr lIns="0" rIns="0" tIns="0" bIns="0" anchor="t">
            <a:noAutofit/>
          </a:bodyPr>
          <a:p>
            <a:pPr>
              <a:lnSpc>
                <a:spcPct val="105000"/>
              </a:lnSpc>
              <a:tabLst>
                <a:tab algn="l" pos="0"/>
              </a:tabLst>
            </a:pPr>
            <a:r>
              <a:rPr b="1" lang="en-US" sz="1050" spc="-1" strike="noStrike">
                <a:solidFill>
                  <a:srgbClr val="232c24"/>
                </a:solidFill>
                <a:latin typeface="Calibri"/>
                <a:ea typeface="Calibri"/>
              </a:rPr>
              <a:t>www.blackboxtraders.in</a:t>
            </a:r>
            <a:endParaRPr b="0" lang="en-IN" sz="1050" spc="-1" strike="noStrike">
              <a:solidFill>
                <a:srgbClr val="000000"/>
              </a:solidFill>
              <a:latin typeface="Arial"/>
            </a:endParaRPr>
          </a:p>
        </p:txBody>
      </p:sp>
      <p:sp>
        <p:nvSpPr>
          <p:cNvPr id="317" name="Text 27"/>
          <p:cNvSpPr/>
          <p:nvPr/>
        </p:nvSpPr>
        <p:spPr>
          <a:xfrm>
            <a:off x="8083440" y="5047560"/>
            <a:ext cx="3157200" cy="182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US" sz="850" spc="109" strike="noStrike">
                <a:solidFill>
                  <a:srgbClr val="6e7a6f"/>
                </a:solidFill>
                <a:latin typeface="Calibri"/>
                <a:ea typeface="Calibri"/>
              </a:rPr>
              <a:t>Plant address</a:t>
            </a:r>
            <a:endParaRPr b="0" lang="en-IN" sz="850" spc="-1" strike="noStrike">
              <a:solidFill>
                <a:srgbClr val="000000"/>
              </a:solidFill>
              <a:latin typeface="Arial"/>
            </a:endParaRPr>
          </a:p>
        </p:txBody>
      </p:sp>
      <p:sp>
        <p:nvSpPr>
          <p:cNvPr id="318" name="Text 28"/>
          <p:cNvSpPr/>
          <p:nvPr/>
        </p:nvSpPr>
        <p:spPr>
          <a:xfrm>
            <a:off x="8083440" y="5230440"/>
            <a:ext cx="3157200" cy="658080"/>
          </a:xfrm>
          <a:prstGeom prst="rect">
            <a:avLst/>
          </a:prstGeom>
          <a:noFill/>
          <a:ln w="0">
            <a:noFill/>
          </a:ln>
        </p:spPr>
        <p:style>
          <a:lnRef idx="0"/>
          <a:fillRef idx="0"/>
          <a:effectRef idx="0"/>
          <a:fontRef idx="minor"/>
        </p:style>
        <p:txBody>
          <a:bodyPr lIns="0" rIns="0" tIns="0" bIns="0" anchor="t">
            <a:noAutofit/>
          </a:bodyPr>
          <a:p>
            <a:pPr>
              <a:lnSpc>
                <a:spcPct val="105000"/>
              </a:lnSpc>
              <a:tabLst>
                <a:tab algn="l" pos="0"/>
              </a:tabLst>
            </a:pPr>
            <a:r>
              <a:rPr b="1" lang="en-US" sz="1050" spc="-1" strike="noStrike">
                <a:solidFill>
                  <a:srgbClr val="232c24"/>
                </a:solidFill>
                <a:latin typeface="Calibri"/>
                <a:ea typeface="Calibri"/>
              </a:rPr>
              <a:t>177 Marakanam Road, Maduranthagam,</a:t>
            </a:r>
            <a:endParaRPr b="0" lang="en-IN" sz="1050" spc="-1" strike="noStrike">
              <a:solidFill>
                <a:srgbClr val="000000"/>
              </a:solidFill>
              <a:latin typeface="Arial"/>
            </a:endParaRPr>
          </a:p>
          <a:p>
            <a:pPr>
              <a:lnSpc>
                <a:spcPct val="105000"/>
              </a:lnSpc>
              <a:tabLst>
                <a:tab algn="l" pos="0"/>
              </a:tabLst>
            </a:pPr>
            <a:r>
              <a:rPr b="1" lang="en-US" sz="1050" spc="-1" strike="noStrike">
                <a:solidFill>
                  <a:srgbClr val="232c24"/>
                </a:solidFill>
                <a:latin typeface="Calibri"/>
                <a:ea typeface="Calibri"/>
              </a:rPr>
              <a:t>Nethapakkam, Chengalpattu,</a:t>
            </a:r>
            <a:endParaRPr b="0" lang="en-IN" sz="1050" spc="-1" strike="noStrike">
              <a:solidFill>
                <a:srgbClr val="000000"/>
              </a:solidFill>
              <a:latin typeface="Arial"/>
            </a:endParaRPr>
          </a:p>
          <a:p>
            <a:pPr>
              <a:lnSpc>
                <a:spcPct val="105000"/>
              </a:lnSpc>
              <a:tabLst>
                <a:tab algn="l" pos="0"/>
              </a:tabLst>
            </a:pPr>
            <a:r>
              <a:rPr b="1" lang="en-US" sz="1050" spc="-1" strike="noStrike">
                <a:solidFill>
                  <a:srgbClr val="232c24"/>
                </a:solidFill>
                <a:latin typeface="Calibri"/>
                <a:ea typeface="Calibri"/>
              </a:rPr>
              <a:t>Tamil Nadu 603301</a:t>
            </a:r>
            <a:endParaRPr b="0" lang="en-IN" sz="1050" spc="-1" strike="noStrike">
              <a:solidFill>
                <a:srgbClr val="000000"/>
              </a:solidFill>
              <a:latin typeface="Arial"/>
            </a:endParaRPr>
          </a:p>
        </p:txBody>
      </p:sp>
      <p:sp>
        <p:nvSpPr>
          <p:cNvPr id="319" name="Text 29"/>
          <p:cNvSpPr/>
          <p:nvPr/>
        </p:nvSpPr>
        <p:spPr>
          <a:xfrm>
            <a:off x="640080" y="6382440"/>
            <a:ext cx="5486040" cy="2372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US" sz="900" spc="58" strike="noStrike">
                <a:solidFill>
                  <a:srgbClr val="a9bbab"/>
                </a:solidFill>
                <a:latin typeface="Calibri"/>
                <a:ea typeface="Calibri"/>
              </a:rPr>
              <a:t>Coco Palms Skylanes and Allied Products</a:t>
            </a:r>
            <a:endParaRPr b="0" lang="en-IN" sz="900" spc="-1" strike="noStrike">
              <a:solidFill>
                <a:srgbClr val="000000"/>
              </a:solidFill>
              <a:latin typeface="Arial"/>
            </a:endParaRPr>
          </a:p>
        </p:txBody>
      </p:sp>
      <p:sp>
        <p:nvSpPr>
          <p:cNvPr id="320" name="Text 30"/>
          <p:cNvSpPr/>
          <p:nvPr/>
        </p:nvSpPr>
        <p:spPr>
          <a:xfrm>
            <a:off x="10637280" y="6382440"/>
            <a:ext cx="914040" cy="237240"/>
          </a:xfrm>
          <a:prstGeom prst="rect">
            <a:avLst/>
          </a:prstGeom>
          <a:noFill/>
          <a:ln w="0">
            <a:noFill/>
          </a:ln>
        </p:spPr>
        <p:style>
          <a:lnRef idx="0"/>
          <a:fillRef idx="0"/>
          <a:effectRef idx="0"/>
          <a:fontRef idx="minor"/>
        </p:style>
        <p:txBody>
          <a:bodyPr lIns="0" rIns="0" tIns="0" bIns="0" anchor="ctr">
            <a:noAutofit/>
          </a:bodyPr>
          <a:p>
            <a:pPr algn="r">
              <a:lnSpc>
                <a:spcPct val="100000"/>
              </a:lnSpc>
              <a:tabLst>
                <a:tab algn="l" pos="0"/>
              </a:tabLst>
            </a:pPr>
            <a:r>
              <a:rPr b="0" lang="en-US" sz="900" spc="-1" strike="noStrike">
                <a:solidFill>
                  <a:srgbClr val="a9bbab"/>
                </a:solidFill>
                <a:latin typeface="Calibri"/>
                <a:ea typeface="Calibri"/>
              </a:rPr>
              <a:t>13</a:t>
            </a:r>
            <a:endParaRPr b="0" lang="en-IN" sz="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208</TotalTime>
  <Application>LibreOffice/7.5.3.2$Windows_X86_64 LibreOffice_project/9f56dff12ba03b9acd7730a5a481eea045e468f3</Application>
  <AppVersion>15.0000</AppVersion>
  <Words>0</Words>
  <Paragraphs>0</Paragraphs>
  <Company>Coco Palms Skylanes and Allied Products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2026-08-12T15:03:23Z</dcterms:created>
  <dc:creator>Coco Palms Skylanes and Allied Products</dc:creator>
  <dc:description/>
  <dc:language>en-IN</dc:language>
  <cp:lastModifiedBy/>
  <dcterms:modified xsi:type="dcterms:W3CDTF">2026-08-13T00:24:23Z</dcterms:modified>
  <cp:revision>2</cp:revision>
  <dc:subject>PptxGenJS Presentation</dc:subject>
  <dc:title>Coco Palms Skylanes - Export Capability Profile</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13</vt:i4>
  </property>
  <property fmtid="{D5CDD505-2E9C-101B-9397-08002B2CF9AE}" pid="3" name="PresentationFormat">
    <vt:lpwstr>On-screen Show (16:9)</vt:lpwstr>
  </property>
  <property fmtid="{D5CDD505-2E9C-101B-9397-08002B2CF9AE}" pid="4" name="Slides">
    <vt:i4>13</vt:i4>
  </property>
</Properties>
</file>