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Lst>
  <p:notesMasterIdLst>
    <p:notesMasterId r:id="rId15"/>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notesMaster" Target="notesMasters/notesMaster1.xml"/><Relationship Id="rId16" Type="http://schemas.openxmlformats.org/officeDocument/2006/relationships/presProps" Target="presProps.xml"/><Relationship Id="rId17" Type="http://schemas.openxmlformats.org/officeDocument/2006/relationships/viewProps" Target="viewProps.xml"/><Relationship Id="rId18" Type="http://schemas.openxmlformats.org/officeDocument/2006/relationships/theme" Target="theme/theme1.xml"/><Relationship Id="rId19"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Cover. Logo art is the clean plate lifted from 4:45 of the company video. Replace the two TO CONFIRM slots with the buyer's name and the issue date before sending.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Facts confirmed by the client: trading since 2013, dehydration facility commissioned 2026, Chengalpattu, 4 acres, 100,000 nuts/day, 30+ workforce. The 2013 / 2026 split is deliberate and is a selling point: thirteen years of trade history plus a brand-new plant answers both of a buyer's first two doubts at once. Do not collapse it back to a single date. DEFAULT SUPPLIED BY CLAUDE: the 12-16 MT dried kernel conversion is my calculation at roughly 130-170 g copra per nut. NOTE - the company's own film states 10 tonnes of material per 12-hour batch and about 100,000 litres of oil per month; reconcile these three figures before quoting any of them.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Coconut oil is the ONLY finished product. The client has confirmed they do not sell desiccated coconut - the earlier third card has been removed, and the pulverised kernel seen in the film is feedstock for the expeller, not a product. Both cards are the same oil off the same line, differing only in pack format. The sulfur-free claim comes from the company's own film narration and is a genuine differentiator: sulfur is routine in copra drying and importers screen for it. DEFAULTS SUPPLIED BY CLAUDE: the FFA and moisture figures and the pack sizes are standard industry values, not your measured specs. Sign them off before sending.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Dark slide, used as the section break into the process detail that follows. This sequence is taken from the company's own film narration and CORRECTS the earlier version of this slide in three places: washing happens BEFORE dehydration (not after paring); the post-drying step is scooping the kernel from the shell (not paring); and no dehusking is narrated - nuts go straight into an automated cutting system that halves them.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Confirmed by the client: delta region of Tamil Nadu, 100,000 nuts per day. DEFAULT SUPPLIED BY CLAUDE: 'direct from growers and regional mandis' is the conventional procurement description - correct it if you buy through agents or on contract. Nut variety is still open; East Coast Tall is the usual delta variety but I did not want to assert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strongest slide in the deck and every figure on it comes from the company's own film narration - European catalytic IR dehydrator, platinum-plated chamber surfaces, IR-radiating infusors, compressor plus dehumidification, 10 tonnes per 12 hours to below 10% moisture, five days by sun to reach only 20%, ~3,300 sq ft. The earlier version of this slide called it merely 'controlled hot-air drying', which badly undersold it. TWO CLAIMS TO CONFIRM BEFORE SENDING: the film also states the plant is 'among India's largest' coconut dehydration facilities and that output is ~100,000 litres per month. I have left both off the slide - a superlative and a volume figure are exactly what a buyer will test, so use them only if you can substantiate them.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Everything on this slide is directly observable in the footage. The client has confirmed they hold NO HACCP and NO GMP/GHP certification, so the earlier scheme-status form has been removed entirely rather than left implying certification. Both cards now describe practice and plant only - no scheme is claimed anywhere. If HACCP is obtained later this is the slide to update.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Rewritten from the film narration. The earlier version of this slide presented desiccated coconut as a second finished stream - the client has confirmed they do not sell it, and the narration is explicit that the pulverised kernel is prepared 'for oil extraction'. So this is now one linear finishing line, not two streams. DEFAULT SUPPLIED BY CLAUDE: the FFA below 0.5% figure is a standard trade value.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ISO 9001, FSSAI and NABL are confirmed from the video's closing card. DEFAULTS SUPPLIED BY CLAUDE: every method and limit in this table is a standard industry value for edible coconut oil (IS 548, AOCS, ISO methods are real and correctly cited). They are NOT your measured results. Replace them with the figures off your own NABL COA before this table goes to a buyer - an importer will hold you to whatever is printed here.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ISO 9001, FSSAI and NABL are from the closing card. BRIT QUALIS and National Test House are read off the framed certificates behind the founder - wall text was only partly legible, so verify both names before printing.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DEFAULTS SUPPLIED BY CLAUDE - every row on this page. These are conventional Indian coconut-export terms, not terms you have agreed to. The commercially sensitive ones are MOQ (one 20ft FCL), payment terms (30% advance / L/C at sight) and container fill (16-18 MT per 20ft). A buyer may treat these as an offer, so review each line with whoever owns pricing before sending. Port of loading assumes Chennai/Ennore as nearest to Chengalpattu.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founder speaks to camera from 3:36 to 4:36 in the video. If you transcribe that segment, his own words are the best possible fill for the quote slot here.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Confirmed by the client: Mr. Barani, Operations Head, +91 95661 62825, and the Nethapakkam plant address. Email and website are the only two contact fields still outstanding - a buyer will want an email address, so this is worth closing before the first send.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jp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jp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jpg"/><Relationship Id="rId2" Type="http://schemas.openxmlformats.org/officeDocument/2006/relationships/image" Target="../media/image-3-2.jpg"/><Relationship Id="rId3" Type="http://schemas.openxmlformats.org/officeDocument/2006/relationships/slideLayout" Target="../slideLayouts/slideLayout1.xml"/><Relationship Id="rId4"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jp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jpg"/><Relationship Id="rId2" Type="http://schemas.openxmlformats.org/officeDocument/2006/relationships/image" Target="../media/image-6-2.jpg"/><Relationship Id="rId3" Type="http://schemas.openxmlformats.org/officeDocument/2006/relationships/slideLayout" Target="../slideLayouts/slideLayout1.xml"/><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jpg"/><Relationship Id="rId2" Type="http://schemas.openxmlformats.org/officeDocument/2006/relationships/image" Target="../media/image-7-2.jpg"/><Relationship Id="rId3" Type="http://schemas.openxmlformats.org/officeDocument/2006/relationships/slideLayout" Target="../slideLayouts/slideLayout1.xml"/><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jpg"/><Relationship Id="rId2" Type="http://schemas.openxmlformats.org/officeDocument/2006/relationships/image" Target="../media/image-8-2.jpg"/><Relationship Id="rId3" Type="http://schemas.openxmlformats.org/officeDocument/2006/relationships/slideLayout" Target="../slideLayouts/slideLayout1.xml"/><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jp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jpg"/><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jpg"/><Relationship Id="rId2" Type="http://schemas.openxmlformats.org/officeDocument/2006/relationships/image" Target="../media/image-12-2.jpg"/><Relationship Id="rId3" Type="http://schemas.openxmlformats.org/officeDocument/2006/relationships/slideLayout" Target="../slideLayouts/slideLayout1.xml"/><Relationship Id="rId4"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jpg"/><Relationship Id="rId2" Type="http://schemas.openxmlformats.org/officeDocument/2006/relationships/slideLayout" Target="../slideLayouts/slideLayout1.xml"/><Relationship Id="rId3" Type="http://schemas.openxmlformats.org/officeDocument/2006/relationships/notesSlide" Target="../notesSlides/notesSlide13.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14532D"/>
          </a:solidFill>
          <a:ln w="12700">
            <a:solidFill>
              <a:srgbClr val="14532D"/>
            </a:solidFill>
            <a:prstDash val="solid"/>
          </a:ln>
        </p:spPr>
      </p:sp>
      <p:sp>
        <p:nvSpPr>
          <p:cNvPr id="3" name="Shape 1"/>
          <p:cNvSpPr/>
          <p:nvPr/>
        </p:nvSpPr>
        <p:spPr>
          <a:xfrm>
            <a:off x="640080" y="1572768"/>
            <a:ext cx="3794760" cy="3794760"/>
          </a:xfrm>
          <a:prstGeom prst="roundRect">
            <a:avLst>
              <a:gd name="adj" fmla="val 1205"/>
            </a:avLst>
          </a:prstGeom>
          <a:solidFill>
            <a:srgbClr val="FFFFFF"/>
          </a:solidFill>
          <a:ln w="12700">
            <a:solidFill>
              <a:srgbClr val="FFFFFF"/>
            </a:solidFill>
            <a:prstDash val="solid"/>
          </a:ln>
          <a:effectLst>
            <a:outerShdw sx="100000" sy="100000" kx="0" ky="0" algn="bl" rotWithShape="0" blurRad="254000" dist="25400" dir="5400000">
              <a:srgbClr val="000000">
                <a:alpha val="22000"/>
              </a:srgbClr>
            </a:outerShdw>
          </a:effectLst>
        </p:spPr>
      </p:sp>
      <p:pic>
        <p:nvPicPr>
          <p:cNvPr id="4" name="Image 0" descr="C:\Users\affla\OneDrive\Documents\Saas\Claude projects\COCOPALM\build\img\logo.jpg">    </p:cNvPr>
          <p:cNvPicPr>
            <a:picLocks noChangeAspect="1"/>
          </p:cNvPicPr>
          <p:nvPr/>
        </p:nvPicPr>
        <p:blipFill>
          <a:blip r:embed="rId1"/>
          <a:srcRect l="0" r="0" t="0" b="0"/>
          <a:stretch/>
        </p:blipFill>
        <p:spPr>
          <a:xfrm>
            <a:off x="841248" y="1773936"/>
            <a:ext cx="3392424" cy="3392424"/>
          </a:xfrm>
          <a:prstGeom prst="rect">
            <a:avLst/>
          </a:prstGeom>
        </p:spPr>
      </p:pic>
      <p:sp>
        <p:nvSpPr>
          <p:cNvPr id="5" name="Text 2"/>
          <p:cNvSpPr/>
          <p:nvPr/>
        </p:nvSpPr>
        <p:spPr>
          <a:xfrm>
            <a:off x="5093208" y="1609344"/>
            <a:ext cx="6458407" cy="274320"/>
          </a:xfrm>
          <a:prstGeom prst="rect">
            <a:avLst/>
          </a:prstGeom>
          <a:noFill/>
          <a:ln/>
        </p:spPr>
        <p:txBody>
          <a:bodyPr wrap="square" lIns="0" tIns="0" rIns="0" bIns="0" rtlCol="0" anchor="ctr"/>
          <a:lstStyle/>
          <a:p>
            <a:pPr indent="0" marL="0">
              <a:buNone/>
            </a:pPr>
            <a:r>
              <a:rPr lang="en-US" sz="1200" b="1" spc="300" kern="0" dirty="0">
                <a:solidFill>
                  <a:srgbClr val="E3C171"/>
                </a:solidFill>
                <a:latin typeface="Calibri" pitchFamily="34" charset="0"/>
                <a:ea typeface="Calibri" pitchFamily="34" charset="-122"/>
                <a:cs typeface="Calibri" pitchFamily="34" charset="-120"/>
              </a:rPr>
              <a:t>EXPORT CAPABILITY PROFILE</a:t>
            </a:r>
            <a:endParaRPr lang="en-US" sz="1200" dirty="0"/>
          </a:p>
        </p:txBody>
      </p:sp>
      <p:sp>
        <p:nvSpPr>
          <p:cNvPr id="6" name="Text 3"/>
          <p:cNvSpPr/>
          <p:nvPr/>
        </p:nvSpPr>
        <p:spPr>
          <a:xfrm>
            <a:off x="5093208" y="1975104"/>
            <a:ext cx="6458407" cy="713232"/>
          </a:xfrm>
          <a:prstGeom prst="rect">
            <a:avLst/>
          </a:prstGeom>
          <a:noFill/>
          <a:ln/>
        </p:spPr>
        <p:txBody>
          <a:bodyPr wrap="square" lIns="0" tIns="0" rIns="0" bIns="0" rtlCol="0" anchor="ctr"/>
          <a:lstStyle/>
          <a:p>
            <a:pPr indent="0" marL="0">
              <a:buNone/>
            </a:pPr>
            <a:r>
              <a:rPr lang="en-US" sz="4400" b="1" dirty="0">
                <a:solidFill>
                  <a:srgbClr val="FFFFFF"/>
                </a:solidFill>
                <a:latin typeface="Cambria" pitchFamily="34" charset="0"/>
                <a:ea typeface="Cambria" pitchFamily="34" charset="-122"/>
                <a:cs typeface="Cambria" pitchFamily="34" charset="-120"/>
              </a:rPr>
              <a:t>Coco Palms</a:t>
            </a:r>
            <a:endParaRPr lang="en-US" sz="4400" dirty="0"/>
          </a:p>
        </p:txBody>
      </p:sp>
      <p:sp>
        <p:nvSpPr>
          <p:cNvPr id="7" name="Text 4"/>
          <p:cNvSpPr/>
          <p:nvPr/>
        </p:nvSpPr>
        <p:spPr>
          <a:xfrm>
            <a:off x="5093208" y="2651760"/>
            <a:ext cx="6458407" cy="713232"/>
          </a:xfrm>
          <a:prstGeom prst="rect">
            <a:avLst/>
          </a:prstGeom>
          <a:noFill/>
          <a:ln/>
        </p:spPr>
        <p:txBody>
          <a:bodyPr wrap="square" lIns="0" tIns="0" rIns="0" bIns="0" rtlCol="0" anchor="ctr"/>
          <a:lstStyle/>
          <a:p>
            <a:pPr indent="0" marL="0">
              <a:buNone/>
            </a:pPr>
            <a:r>
              <a:rPr lang="en-US" sz="4400" b="1" dirty="0">
                <a:solidFill>
                  <a:srgbClr val="6FB04A"/>
                </a:solidFill>
                <a:latin typeface="Cambria" pitchFamily="34" charset="0"/>
                <a:ea typeface="Cambria" pitchFamily="34" charset="-122"/>
                <a:cs typeface="Cambria" pitchFamily="34" charset="-120"/>
              </a:rPr>
              <a:t>Skylanes</a:t>
            </a:r>
            <a:endParaRPr lang="en-US" sz="4400" dirty="0"/>
          </a:p>
        </p:txBody>
      </p:sp>
      <p:sp>
        <p:nvSpPr>
          <p:cNvPr id="8" name="Text 5"/>
          <p:cNvSpPr/>
          <p:nvPr/>
        </p:nvSpPr>
        <p:spPr>
          <a:xfrm>
            <a:off x="5093208" y="3401568"/>
            <a:ext cx="6458407" cy="329184"/>
          </a:xfrm>
          <a:prstGeom prst="rect">
            <a:avLst/>
          </a:prstGeom>
          <a:noFill/>
          <a:ln/>
        </p:spPr>
        <p:txBody>
          <a:bodyPr wrap="square" lIns="0" tIns="0" rIns="0" bIns="0" rtlCol="0" anchor="ctr"/>
          <a:lstStyle/>
          <a:p>
            <a:pPr indent="0" marL="0">
              <a:buNone/>
            </a:pPr>
            <a:r>
              <a:rPr lang="en-US" sz="1700" spc="160" kern="0" dirty="0">
                <a:solidFill>
                  <a:srgbClr val="A9BBAB"/>
                </a:solidFill>
                <a:latin typeface="Calibri" pitchFamily="34" charset="0"/>
                <a:ea typeface="Calibri" pitchFamily="34" charset="-122"/>
                <a:cs typeface="Calibri" pitchFamily="34" charset="-120"/>
              </a:rPr>
              <a:t>and Allied Products</a:t>
            </a:r>
            <a:endParaRPr lang="en-US" sz="1700" dirty="0"/>
          </a:p>
        </p:txBody>
      </p:sp>
      <p:sp>
        <p:nvSpPr>
          <p:cNvPr id="9" name="Text 6"/>
          <p:cNvSpPr/>
          <p:nvPr/>
        </p:nvSpPr>
        <p:spPr>
          <a:xfrm>
            <a:off x="5093208" y="3931920"/>
            <a:ext cx="6458407" cy="548640"/>
          </a:xfrm>
          <a:prstGeom prst="rect">
            <a:avLst/>
          </a:prstGeom>
          <a:noFill/>
          <a:ln/>
        </p:spPr>
        <p:txBody>
          <a:bodyPr wrap="square" lIns="0" tIns="0" rIns="0" bIns="0" rtlCol="0" anchor="ctr"/>
          <a:lstStyle/>
          <a:p>
            <a:pPr indent="0" marL="0">
              <a:lnSpc>
                <a:spcPct val="120000"/>
              </a:lnSpc>
              <a:buNone/>
            </a:pPr>
            <a:r>
              <a:rPr lang="en-US" sz="1350" dirty="0">
                <a:solidFill>
                  <a:srgbClr val="E3C171"/>
                </a:solidFill>
                <a:latin typeface="Calibri" pitchFamily="34" charset="0"/>
                <a:ea typeface="Calibri" pitchFamily="34" charset="-122"/>
                <a:cs typeface="Calibri" pitchFamily="34" charset="-120"/>
              </a:rPr>
              <a:t>100% organic, sulfur-free coconut oil  ·  edible and bulk grades</a:t>
            </a:r>
            <a:endParaRPr lang="en-US" sz="1350" dirty="0"/>
          </a:p>
        </p:txBody>
      </p:sp>
      <p:sp>
        <p:nvSpPr>
          <p:cNvPr id="10" name="Text 7"/>
          <p:cNvSpPr/>
          <p:nvPr/>
        </p:nvSpPr>
        <p:spPr>
          <a:xfrm>
            <a:off x="5093208" y="4517136"/>
            <a:ext cx="6458407" cy="347472"/>
          </a:xfrm>
          <a:prstGeom prst="rect">
            <a:avLst/>
          </a:prstGeom>
          <a:noFill/>
          <a:ln/>
        </p:spPr>
        <p:txBody>
          <a:bodyPr wrap="square" lIns="0" tIns="0" rIns="0" bIns="0" rtlCol="0" anchor="ctr"/>
          <a:lstStyle/>
          <a:p>
            <a:pPr indent="0" marL="0">
              <a:buNone/>
            </a:pPr>
            <a:r>
              <a:rPr lang="en-US" sz="1700" i="1" dirty="0">
                <a:solidFill>
                  <a:srgbClr val="FFFFFF"/>
                </a:solidFill>
                <a:latin typeface="Cambria" pitchFamily="34" charset="0"/>
                <a:ea typeface="Cambria" pitchFamily="34" charset="-122"/>
                <a:cs typeface="Cambria" pitchFamily="34" charset="-120"/>
              </a:rPr>
              <a:t>Pure in every drop.</a:t>
            </a:r>
            <a:endParaRPr lang="en-US" sz="1700" dirty="0"/>
          </a:p>
        </p:txBody>
      </p:sp>
      <p:sp>
        <p:nvSpPr>
          <p:cNvPr id="11" name="Text 8"/>
          <p:cNvSpPr/>
          <p:nvPr/>
        </p:nvSpPr>
        <p:spPr>
          <a:xfrm>
            <a:off x="5093208" y="5065776"/>
            <a:ext cx="6458407" cy="274320"/>
          </a:xfrm>
          <a:prstGeom prst="rect">
            <a:avLst/>
          </a:prstGeom>
          <a:noFill/>
          <a:ln/>
        </p:spPr>
        <p:txBody>
          <a:bodyPr wrap="square" lIns="0" tIns="0" rIns="0" bIns="0" rtlCol="0" anchor="ctr"/>
          <a:lstStyle/>
          <a:p>
            <a:pPr indent="0" marL="0">
              <a:buNone/>
            </a:pPr>
            <a:r>
              <a:rPr lang="en-US" sz="1150" b="1" spc="180" kern="0" dirty="0">
                <a:solidFill>
                  <a:srgbClr val="FFFFFF"/>
                </a:solidFill>
                <a:latin typeface="Calibri" pitchFamily="34" charset="0"/>
                <a:ea typeface="Calibri" pitchFamily="34" charset="-122"/>
                <a:cs typeface="Calibri" pitchFamily="34" charset="-120"/>
              </a:rPr>
              <a:t>ISO 9001    ·    FSSAI    ·    NABL</a:t>
            </a:r>
            <a:endParaRPr lang="en-US" sz="1150" dirty="0"/>
          </a:p>
        </p:txBody>
      </p:sp>
      <p:sp>
        <p:nvSpPr>
          <p:cNvPr id="12" name="Text 9"/>
          <p:cNvSpPr/>
          <p:nvPr/>
        </p:nvSpPr>
        <p:spPr>
          <a:xfrm>
            <a:off x="640080" y="5779008"/>
            <a:ext cx="10911535" cy="274320"/>
          </a:xfrm>
          <a:prstGeom prst="rect">
            <a:avLst/>
          </a:prstGeom>
          <a:noFill/>
          <a:ln/>
        </p:spPr>
        <p:txBody>
          <a:bodyPr wrap="square" lIns="0" tIns="0" rIns="0" bIns="0" rtlCol="0" anchor="ctr"/>
          <a:lstStyle/>
          <a:p>
            <a:pPr indent="0" marL="0">
              <a:buNone/>
            </a:pPr>
            <a:r>
              <a:rPr lang="en-US" sz="1050" dirty="0">
                <a:solidFill>
                  <a:srgbClr val="A9BBAB"/>
                </a:solidFill>
                <a:latin typeface="Calibri" pitchFamily="34" charset="0"/>
                <a:ea typeface="Calibri" pitchFamily="34" charset="-122"/>
                <a:cs typeface="Calibri" pitchFamily="34" charset="-120"/>
              </a:rPr>
              <a:t>Prepared for  </a:t>
            </a:r>
            <a:pPr indent="0" marL="0">
              <a:buNone/>
            </a:pPr>
            <a:r>
              <a:rPr lang="en-US" sz="1050" b="1" i="1" spc="120" kern="0" dirty="0">
                <a:solidFill>
                  <a:srgbClr val="B8860F"/>
                </a:solidFill>
                <a:latin typeface="Calibri" pitchFamily="34" charset="0"/>
                <a:ea typeface="Calibri" pitchFamily="34" charset="-122"/>
                <a:cs typeface="Calibri" pitchFamily="34" charset="-120"/>
              </a:rPr>
              <a:t>TO CONFIRM</a:t>
            </a:r>
            <a:pPr indent="0" marL="0">
              <a:buNone/>
            </a:pPr>
            <a:r>
              <a:rPr lang="en-US" sz="1050" dirty="0">
                <a:solidFill>
                  <a:srgbClr val="A9BBAB"/>
                </a:solidFill>
                <a:latin typeface="Calibri" pitchFamily="34" charset="0"/>
                <a:ea typeface="Calibri" pitchFamily="34" charset="-122"/>
                <a:cs typeface="Calibri" pitchFamily="34" charset="-120"/>
              </a:rPr>
              <a:t>        Issue date  </a:t>
            </a:r>
            <a:pPr indent="0" marL="0">
              <a:buNone/>
            </a:pPr>
            <a:r>
              <a:rPr lang="en-US" sz="1050" dirty="0">
                <a:solidFill>
                  <a:srgbClr val="FFFFFF"/>
                </a:solidFill>
                <a:latin typeface="Calibri" pitchFamily="34" charset="0"/>
                <a:ea typeface="Calibri" pitchFamily="34" charset="-122"/>
                <a:cs typeface="Calibri" pitchFamily="34" charset="-120"/>
              </a:rPr>
              <a:t>August 2026</a:t>
            </a:r>
            <a:endParaRPr lang="en-US" sz="10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FFFFF"/>
          </a:solidFill>
          <a:ln w="12700">
            <a:solidFill>
              <a:srgbClr val="FFFFFF"/>
            </a:solidFill>
            <a:prstDash val="solid"/>
          </a:ln>
        </p:spPr>
      </p:sp>
      <p:sp>
        <p:nvSpPr>
          <p:cNvPr id="3" name="Text 1"/>
          <p:cNvSpPr/>
          <p:nvPr/>
        </p:nvSpPr>
        <p:spPr>
          <a:xfrm>
            <a:off x="640080" y="566928"/>
            <a:ext cx="10911535" cy="256032"/>
          </a:xfrm>
          <a:prstGeom prst="rect">
            <a:avLst/>
          </a:prstGeom>
          <a:noFill/>
          <a:ln/>
        </p:spPr>
        <p:txBody>
          <a:bodyPr wrap="square" lIns="0" tIns="0" rIns="0" bIns="0" rtlCol="0" anchor="ctr"/>
          <a:lstStyle/>
          <a:p>
            <a:pPr indent="0" marL="0">
              <a:buNone/>
            </a:pPr>
            <a:r>
              <a:rPr lang="en-US" sz="1150" b="1" spc="240" kern="0" dirty="0">
                <a:solidFill>
                  <a:srgbClr val="B8860F"/>
                </a:solidFill>
                <a:latin typeface="Calibri" pitchFamily="34" charset="0"/>
                <a:ea typeface="Calibri" pitchFamily="34" charset="-122"/>
                <a:cs typeface="Calibri" pitchFamily="34" charset="-120"/>
              </a:rPr>
              <a:t>WHO WE ARE</a:t>
            </a:r>
            <a:endParaRPr lang="en-US" sz="1150" dirty="0"/>
          </a:p>
        </p:txBody>
      </p:sp>
      <p:sp>
        <p:nvSpPr>
          <p:cNvPr id="4" name="Text 2"/>
          <p:cNvSpPr/>
          <p:nvPr/>
        </p:nvSpPr>
        <p:spPr>
          <a:xfrm>
            <a:off x="640080" y="877824"/>
            <a:ext cx="10911535" cy="749808"/>
          </a:xfrm>
          <a:prstGeom prst="rect">
            <a:avLst/>
          </a:prstGeom>
          <a:noFill/>
          <a:ln/>
        </p:spPr>
        <p:txBody>
          <a:bodyPr wrap="square" lIns="0" tIns="0" rIns="0" bIns="0" rtlCol="0" anchor="t"/>
          <a:lstStyle/>
          <a:p>
            <a:pPr indent="0" marL="0">
              <a:buNone/>
            </a:pPr>
            <a:r>
              <a:rPr lang="en-US" sz="3400" b="1" dirty="0">
                <a:solidFill>
                  <a:srgbClr val="14532D"/>
                </a:solidFill>
                <a:latin typeface="Cambria" pitchFamily="34" charset="0"/>
                <a:ea typeface="Cambria" pitchFamily="34" charset="-122"/>
                <a:cs typeface="Cambria" pitchFamily="34" charset="-120"/>
              </a:rPr>
              <a:t>Company at a glance</a:t>
            </a:r>
            <a:endParaRPr lang="en-US" sz="3400" dirty="0"/>
          </a:p>
        </p:txBody>
      </p:sp>
      <p:sp>
        <p:nvSpPr>
          <p:cNvPr id="5" name="Text 3"/>
          <p:cNvSpPr/>
          <p:nvPr/>
        </p:nvSpPr>
        <p:spPr>
          <a:xfrm>
            <a:off x="640080" y="1847088"/>
            <a:ext cx="5806440" cy="1572768"/>
          </a:xfrm>
          <a:prstGeom prst="rect">
            <a:avLst/>
          </a:prstGeom>
          <a:noFill/>
          <a:ln/>
        </p:spPr>
        <p:txBody>
          <a:bodyPr wrap="square" lIns="0" tIns="0" rIns="0" bIns="0" rtlCol="0" anchor="t"/>
          <a:lstStyle/>
          <a:p>
            <a:pPr indent="0" marL="0">
              <a:lnSpc>
                <a:spcPct val="126000"/>
              </a:lnSpc>
              <a:buNone/>
            </a:pPr>
            <a:r>
              <a:rPr lang="en-US" sz="1300" dirty="0">
                <a:solidFill>
                  <a:srgbClr val="232C24"/>
                </a:solidFill>
                <a:latin typeface="Calibri" pitchFamily="34" charset="0"/>
                <a:ea typeface="Calibri" pitchFamily="34" charset="-122"/>
                <a:cs typeface="Calibri" pitchFamily="34" charset="-120"/>
              </a:rPr>
              <a:t>Coco Palms Skylanes and Allied Products has been trading in coconut and allied products since 2013. In 2026 we commissioned a purpose-built dehydration facility on our four-acre site in Chengalpattu district, Tamil Nadu. Whole nuts are received at our own intake yard, cut and washed on site, dried in a catalytic infrared dehydrator, then pressed and filtered into finished oil. Thirteen years of trade experience now sits behind a drying plant specified to current food-safety standards rather than retrofitted to them.</a:t>
            </a:r>
            <a:endParaRPr lang="en-US" sz="1300" dirty="0"/>
          </a:p>
        </p:txBody>
      </p:sp>
      <p:sp>
        <p:nvSpPr>
          <p:cNvPr id="6" name="Text 4"/>
          <p:cNvSpPr/>
          <p:nvPr/>
        </p:nvSpPr>
        <p:spPr>
          <a:xfrm>
            <a:off x="640080" y="3547872"/>
            <a:ext cx="2148840" cy="274320"/>
          </a:xfrm>
          <a:prstGeom prst="rect">
            <a:avLst/>
          </a:prstGeom>
          <a:noFill/>
          <a:ln/>
        </p:spPr>
        <p:txBody>
          <a:bodyPr wrap="square" lIns="0" tIns="0" rIns="0" bIns="0" rtlCol="0" anchor="ctr"/>
          <a:lstStyle/>
          <a:p>
            <a:pPr indent="0" marL="0">
              <a:buNone/>
            </a:pPr>
            <a:r>
              <a:rPr lang="en-US" sz="1150" b="1" spc="80" kern="0" dirty="0">
                <a:solidFill>
                  <a:srgbClr val="6E7A6F"/>
                </a:solidFill>
                <a:latin typeface="Calibri" pitchFamily="34" charset="0"/>
                <a:ea typeface="Calibri" pitchFamily="34" charset="-122"/>
                <a:cs typeface="Calibri" pitchFamily="34" charset="-120"/>
              </a:rPr>
              <a:t>Trading since</a:t>
            </a:r>
            <a:endParaRPr lang="en-US" sz="1150" dirty="0"/>
          </a:p>
        </p:txBody>
      </p:sp>
      <p:sp>
        <p:nvSpPr>
          <p:cNvPr id="7" name="Text 5"/>
          <p:cNvSpPr/>
          <p:nvPr/>
        </p:nvSpPr>
        <p:spPr>
          <a:xfrm>
            <a:off x="2788920" y="3547872"/>
            <a:ext cx="3657600" cy="274320"/>
          </a:xfrm>
          <a:prstGeom prst="rect">
            <a:avLst/>
          </a:prstGeom>
          <a:noFill/>
          <a:ln/>
        </p:spPr>
        <p:txBody>
          <a:bodyPr wrap="square" lIns="0" tIns="0" rIns="0" bIns="0" rtlCol="0" anchor="ctr"/>
          <a:lstStyle/>
          <a:p>
            <a:pPr indent="0" marL="0">
              <a:buNone/>
            </a:pPr>
            <a:r>
              <a:rPr lang="en-US" sz="1250" dirty="0">
                <a:solidFill>
                  <a:srgbClr val="232C24"/>
                </a:solidFill>
                <a:latin typeface="Calibri" pitchFamily="34" charset="0"/>
                <a:ea typeface="Calibri" pitchFamily="34" charset="-122"/>
                <a:cs typeface="Calibri" pitchFamily="34" charset="-120"/>
              </a:rPr>
              <a:t>2013</a:t>
            </a:r>
            <a:endParaRPr lang="en-US" sz="1250" dirty="0"/>
          </a:p>
        </p:txBody>
      </p:sp>
      <p:sp>
        <p:nvSpPr>
          <p:cNvPr id="8" name="Text 6"/>
          <p:cNvSpPr/>
          <p:nvPr/>
        </p:nvSpPr>
        <p:spPr>
          <a:xfrm>
            <a:off x="640080" y="3913632"/>
            <a:ext cx="2148840" cy="274320"/>
          </a:xfrm>
          <a:prstGeom prst="rect">
            <a:avLst/>
          </a:prstGeom>
          <a:noFill/>
          <a:ln/>
        </p:spPr>
        <p:txBody>
          <a:bodyPr wrap="square" lIns="0" tIns="0" rIns="0" bIns="0" rtlCol="0" anchor="ctr"/>
          <a:lstStyle/>
          <a:p>
            <a:pPr indent="0" marL="0">
              <a:buNone/>
            </a:pPr>
            <a:r>
              <a:rPr lang="en-US" sz="1150" b="1" spc="80" kern="0" dirty="0">
                <a:solidFill>
                  <a:srgbClr val="6E7A6F"/>
                </a:solidFill>
                <a:latin typeface="Calibri" pitchFamily="34" charset="0"/>
                <a:ea typeface="Calibri" pitchFamily="34" charset="-122"/>
                <a:cs typeface="Calibri" pitchFamily="34" charset="-120"/>
              </a:rPr>
              <a:t>Dehydration facility</a:t>
            </a:r>
            <a:endParaRPr lang="en-US" sz="1150" dirty="0"/>
          </a:p>
        </p:txBody>
      </p:sp>
      <p:sp>
        <p:nvSpPr>
          <p:cNvPr id="9" name="Text 7"/>
          <p:cNvSpPr/>
          <p:nvPr/>
        </p:nvSpPr>
        <p:spPr>
          <a:xfrm>
            <a:off x="2788920" y="3913632"/>
            <a:ext cx="3657600" cy="274320"/>
          </a:xfrm>
          <a:prstGeom prst="rect">
            <a:avLst/>
          </a:prstGeom>
          <a:noFill/>
          <a:ln/>
        </p:spPr>
        <p:txBody>
          <a:bodyPr wrap="square" lIns="0" tIns="0" rIns="0" bIns="0" rtlCol="0" anchor="ctr"/>
          <a:lstStyle/>
          <a:p>
            <a:pPr indent="0" marL="0">
              <a:buNone/>
            </a:pPr>
            <a:r>
              <a:rPr lang="en-US" sz="1250" dirty="0">
                <a:solidFill>
                  <a:srgbClr val="232C24"/>
                </a:solidFill>
                <a:latin typeface="Calibri" pitchFamily="34" charset="0"/>
                <a:ea typeface="Calibri" pitchFamily="34" charset="-122"/>
                <a:cs typeface="Calibri" pitchFamily="34" charset="-120"/>
              </a:rPr>
              <a:t>Commissioned 2026</a:t>
            </a:r>
            <a:endParaRPr lang="en-US" sz="1250" dirty="0"/>
          </a:p>
        </p:txBody>
      </p:sp>
      <p:sp>
        <p:nvSpPr>
          <p:cNvPr id="10" name="Text 8"/>
          <p:cNvSpPr/>
          <p:nvPr/>
        </p:nvSpPr>
        <p:spPr>
          <a:xfrm>
            <a:off x="640080" y="4279392"/>
            <a:ext cx="2148840" cy="274320"/>
          </a:xfrm>
          <a:prstGeom prst="rect">
            <a:avLst/>
          </a:prstGeom>
          <a:noFill/>
          <a:ln/>
        </p:spPr>
        <p:txBody>
          <a:bodyPr wrap="square" lIns="0" tIns="0" rIns="0" bIns="0" rtlCol="0" anchor="ctr"/>
          <a:lstStyle/>
          <a:p>
            <a:pPr indent="0" marL="0">
              <a:buNone/>
            </a:pPr>
            <a:r>
              <a:rPr lang="en-US" sz="1150" b="1" spc="80" kern="0" dirty="0">
                <a:solidFill>
                  <a:srgbClr val="6E7A6F"/>
                </a:solidFill>
                <a:latin typeface="Calibri" pitchFamily="34" charset="0"/>
                <a:ea typeface="Calibri" pitchFamily="34" charset="-122"/>
                <a:cs typeface="Calibri" pitchFamily="34" charset="-120"/>
              </a:rPr>
              <a:t>Plant location</a:t>
            </a:r>
            <a:endParaRPr lang="en-US" sz="1150" dirty="0"/>
          </a:p>
        </p:txBody>
      </p:sp>
      <p:sp>
        <p:nvSpPr>
          <p:cNvPr id="11" name="Text 9"/>
          <p:cNvSpPr/>
          <p:nvPr/>
        </p:nvSpPr>
        <p:spPr>
          <a:xfrm>
            <a:off x="2788920" y="4279392"/>
            <a:ext cx="3657600" cy="274320"/>
          </a:xfrm>
          <a:prstGeom prst="rect">
            <a:avLst/>
          </a:prstGeom>
          <a:noFill/>
          <a:ln/>
        </p:spPr>
        <p:txBody>
          <a:bodyPr wrap="square" lIns="0" tIns="0" rIns="0" bIns="0" rtlCol="0" anchor="ctr"/>
          <a:lstStyle/>
          <a:p>
            <a:pPr indent="0" marL="0">
              <a:buNone/>
            </a:pPr>
            <a:r>
              <a:rPr lang="en-US" sz="1250" dirty="0">
                <a:solidFill>
                  <a:srgbClr val="232C24"/>
                </a:solidFill>
                <a:latin typeface="Calibri" pitchFamily="34" charset="0"/>
                <a:ea typeface="Calibri" pitchFamily="34" charset="-122"/>
                <a:cs typeface="Calibri" pitchFamily="34" charset="-120"/>
              </a:rPr>
              <a:t>Chengalpattu, Tamil Nadu</a:t>
            </a:r>
            <a:endParaRPr lang="en-US" sz="1250" dirty="0"/>
          </a:p>
        </p:txBody>
      </p:sp>
      <p:sp>
        <p:nvSpPr>
          <p:cNvPr id="12" name="Text 10"/>
          <p:cNvSpPr/>
          <p:nvPr/>
        </p:nvSpPr>
        <p:spPr>
          <a:xfrm>
            <a:off x="640080" y="4645152"/>
            <a:ext cx="2148840" cy="274320"/>
          </a:xfrm>
          <a:prstGeom prst="rect">
            <a:avLst/>
          </a:prstGeom>
          <a:noFill/>
          <a:ln/>
        </p:spPr>
        <p:txBody>
          <a:bodyPr wrap="square" lIns="0" tIns="0" rIns="0" bIns="0" rtlCol="0" anchor="ctr"/>
          <a:lstStyle/>
          <a:p>
            <a:pPr indent="0" marL="0">
              <a:buNone/>
            </a:pPr>
            <a:r>
              <a:rPr lang="en-US" sz="1150" b="1" spc="80" kern="0" dirty="0">
                <a:solidFill>
                  <a:srgbClr val="6E7A6F"/>
                </a:solidFill>
                <a:latin typeface="Calibri" pitchFamily="34" charset="0"/>
                <a:ea typeface="Calibri" pitchFamily="34" charset="-122"/>
                <a:cs typeface="Calibri" pitchFamily="34" charset="-120"/>
              </a:rPr>
              <a:t>Site area</a:t>
            </a:r>
            <a:endParaRPr lang="en-US" sz="1150" dirty="0"/>
          </a:p>
        </p:txBody>
      </p:sp>
      <p:sp>
        <p:nvSpPr>
          <p:cNvPr id="13" name="Text 11"/>
          <p:cNvSpPr/>
          <p:nvPr/>
        </p:nvSpPr>
        <p:spPr>
          <a:xfrm>
            <a:off x="2788920" y="4645152"/>
            <a:ext cx="3657600" cy="274320"/>
          </a:xfrm>
          <a:prstGeom prst="rect">
            <a:avLst/>
          </a:prstGeom>
          <a:noFill/>
          <a:ln/>
        </p:spPr>
        <p:txBody>
          <a:bodyPr wrap="square" lIns="0" tIns="0" rIns="0" bIns="0" rtlCol="0" anchor="ctr"/>
          <a:lstStyle/>
          <a:p>
            <a:pPr indent="0" marL="0">
              <a:buNone/>
            </a:pPr>
            <a:r>
              <a:rPr lang="en-US" sz="1250" dirty="0">
                <a:solidFill>
                  <a:srgbClr val="232C24"/>
                </a:solidFill>
                <a:latin typeface="Calibri" pitchFamily="34" charset="0"/>
                <a:ea typeface="Calibri" pitchFamily="34" charset="-122"/>
                <a:cs typeface="Calibri" pitchFamily="34" charset="-120"/>
              </a:rPr>
              <a:t>4 acres</a:t>
            </a:r>
            <a:endParaRPr lang="en-US" sz="1250" dirty="0"/>
          </a:p>
        </p:txBody>
      </p:sp>
      <p:sp>
        <p:nvSpPr>
          <p:cNvPr id="14" name="Text 12"/>
          <p:cNvSpPr/>
          <p:nvPr/>
        </p:nvSpPr>
        <p:spPr>
          <a:xfrm>
            <a:off x="640080" y="5010912"/>
            <a:ext cx="2148840" cy="274320"/>
          </a:xfrm>
          <a:prstGeom prst="rect">
            <a:avLst/>
          </a:prstGeom>
          <a:noFill/>
          <a:ln/>
        </p:spPr>
        <p:txBody>
          <a:bodyPr wrap="square" lIns="0" tIns="0" rIns="0" bIns="0" rtlCol="0" anchor="ctr"/>
          <a:lstStyle/>
          <a:p>
            <a:pPr indent="0" marL="0">
              <a:buNone/>
            </a:pPr>
            <a:r>
              <a:rPr lang="en-US" sz="1150" b="1" spc="80" kern="0" dirty="0">
                <a:solidFill>
                  <a:srgbClr val="6E7A6F"/>
                </a:solidFill>
                <a:latin typeface="Calibri" pitchFamily="34" charset="0"/>
                <a:ea typeface="Calibri" pitchFamily="34" charset="-122"/>
                <a:cs typeface="Calibri" pitchFamily="34" charset="-120"/>
              </a:rPr>
              <a:t>Daily nut intake</a:t>
            </a:r>
            <a:endParaRPr lang="en-US" sz="1150" dirty="0"/>
          </a:p>
        </p:txBody>
      </p:sp>
      <p:sp>
        <p:nvSpPr>
          <p:cNvPr id="15" name="Text 13"/>
          <p:cNvSpPr/>
          <p:nvPr/>
        </p:nvSpPr>
        <p:spPr>
          <a:xfrm>
            <a:off x="2788920" y="5010912"/>
            <a:ext cx="3657600" cy="274320"/>
          </a:xfrm>
          <a:prstGeom prst="rect">
            <a:avLst/>
          </a:prstGeom>
          <a:noFill/>
          <a:ln/>
        </p:spPr>
        <p:txBody>
          <a:bodyPr wrap="square" lIns="0" tIns="0" rIns="0" bIns="0" rtlCol="0" anchor="ctr"/>
          <a:lstStyle/>
          <a:p>
            <a:pPr indent="0" marL="0">
              <a:buNone/>
            </a:pPr>
            <a:r>
              <a:rPr lang="en-US" sz="1250" dirty="0">
                <a:solidFill>
                  <a:srgbClr val="232C24"/>
                </a:solidFill>
                <a:latin typeface="Calibri" pitchFamily="34" charset="0"/>
                <a:ea typeface="Calibri" pitchFamily="34" charset="-122"/>
                <a:cs typeface="Calibri" pitchFamily="34" charset="-120"/>
              </a:rPr>
              <a:t>100,000 nuts</a:t>
            </a:r>
            <a:endParaRPr lang="en-US" sz="1250" dirty="0"/>
          </a:p>
        </p:txBody>
      </p:sp>
      <p:sp>
        <p:nvSpPr>
          <p:cNvPr id="16" name="Text 14"/>
          <p:cNvSpPr/>
          <p:nvPr/>
        </p:nvSpPr>
        <p:spPr>
          <a:xfrm>
            <a:off x="640080" y="5376672"/>
            <a:ext cx="2148840" cy="274320"/>
          </a:xfrm>
          <a:prstGeom prst="rect">
            <a:avLst/>
          </a:prstGeom>
          <a:noFill/>
          <a:ln/>
        </p:spPr>
        <p:txBody>
          <a:bodyPr wrap="square" lIns="0" tIns="0" rIns="0" bIns="0" rtlCol="0" anchor="ctr"/>
          <a:lstStyle/>
          <a:p>
            <a:pPr indent="0" marL="0">
              <a:buNone/>
            </a:pPr>
            <a:r>
              <a:rPr lang="en-US" sz="1150" b="1" spc="80" kern="0" dirty="0">
                <a:solidFill>
                  <a:srgbClr val="6E7A6F"/>
                </a:solidFill>
                <a:latin typeface="Calibri" pitchFamily="34" charset="0"/>
                <a:ea typeface="Calibri" pitchFamily="34" charset="-122"/>
                <a:cs typeface="Calibri" pitchFamily="34" charset="-120"/>
              </a:rPr>
              <a:t>Workforce</a:t>
            </a:r>
            <a:endParaRPr lang="en-US" sz="1150" dirty="0"/>
          </a:p>
        </p:txBody>
      </p:sp>
      <p:sp>
        <p:nvSpPr>
          <p:cNvPr id="17" name="Text 15"/>
          <p:cNvSpPr/>
          <p:nvPr/>
        </p:nvSpPr>
        <p:spPr>
          <a:xfrm>
            <a:off x="2788920" y="5376672"/>
            <a:ext cx="3657600" cy="274320"/>
          </a:xfrm>
          <a:prstGeom prst="rect">
            <a:avLst/>
          </a:prstGeom>
          <a:noFill/>
          <a:ln/>
        </p:spPr>
        <p:txBody>
          <a:bodyPr wrap="square" lIns="0" tIns="0" rIns="0" bIns="0" rtlCol="0" anchor="ctr"/>
          <a:lstStyle/>
          <a:p>
            <a:pPr indent="0" marL="0">
              <a:buNone/>
            </a:pPr>
            <a:r>
              <a:rPr lang="en-US" sz="1250" dirty="0">
                <a:solidFill>
                  <a:srgbClr val="232C24"/>
                </a:solidFill>
                <a:latin typeface="Calibri" pitchFamily="34" charset="0"/>
                <a:ea typeface="Calibri" pitchFamily="34" charset="-122"/>
                <a:cs typeface="Calibri" pitchFamily="34" charset="-120"/>
              </a:rPr>
              <a:t>30+</a:t>
            </a:r>
            <a:endParaRPr lang="en-US" sz="1250" dirty="0"/>
          </a:p>
        </p:txBody>
      </p:sp>
      <p:sp>
        <p:nvSpPr>
          <p:cNvPr id="18" name="Text 16"/>
          <p:cNvSpPr/>
          <p:nvPr/>
        </p:nvSpPr>
        <p:spPr>
          <a:xfrm>
            <a:off x="640080" y="5742432"/>
            <a:ext cx="2148840" cy="274320"/>
          </a:xfrm>
          <a:prstGeom prst="rect">
            <a:avLst/>
          </a:prstGeom>
          <a:noFill/>
          <a:ln/>
        </p:spPr>
        <p:txBody>
          <a:bodyPr wrap="square" lIns="0" tIns="0" rIns="0" bIns="0" rtlCol="0" anchor="ctr"/>
          <a:lstStyle/>
          <a:p>
            <a:pPr indent="0" marL="0">
              <a:buNone/>
            </a:pPr>
            <a:r>
              <a:rPr lang="en-US" sz="1150" b="1" spc="80" kern="0" dirty="0">
                <a:solidFill>
                  <a:srgbClr val="6E7A6F"/>
                </a:solidFill>
                <a:latin typeface="Calibri" pitchFamily="34" charset="0"/>
                <a:ea typeface="Calibri" pitchFamily="34" charset="-122"/>
                <a:cs typeface="Calibri" pitchFamily="34" charset="-120"/>
              </a:rPr>
              <a:t>Quality accreditations</a:t>
            </a:r>
            <a:endParaRPr lang="en-US" sz="1150" dirty="0"/>
          </a:p>
        </p:txBody>
      </p:sp>
      <p:sp>
        <p:nvSpPr>
          <p:cNvPr id="19" name="Text 17"/>
          <p:cNvSpPr/>
          <p:nvPr/>
        </p:nvSpPr>
        <p:spPr>
          <a:xfrm>
            <a:off x="2788920" y="5742432"/>
            <a:ext cx="3657600" cy="274320"/>
          </a:xfrm>
          <a:prstGeom prst="rect">
            <a:avLst/>
          </a:prstGeom>
          <a:noFill/>
          <a:ln/>
        </p:spPr>
        <p:txBody>
          <a:bodyPr wrap="square" lIns="0" tIns="0" rIns="0" bIns="0" rtlCol="0" anchor="ctr"/>
          <a:lstStyle/>
          <a:p>
            <a:pPr indent="0" marL="0">
              <a:buNone/>
            </a:pPr>
            <a:r>
              <a:rPr lang="en-US" sz="1250" dirty="0">
                <a:solidFill>
                  <a:srgbClr val="232C24"/>
                </a:solidFill>
                <a:latin typeface="Calibri" pitchFamily="34" charset="0"/>
                <a:ea typeface="Calibri" pitchFamily="34" charset="-122"/>
                <a:cs typeface="Calibri" pitchFamily="34" charset="-120"/>
              </a:rPr>
              <a:t>ISO 9001, FSSAI, NABL</a:t>
            </a:r>
            <a:endParaRPr lang="en-US" sz="1250" dirty="0"/>
          </a:p>
        </p:txBody>
      </p:sp>
      <p:pic>
        <p:nvPicPr>
          <p:cNvPr id="20" name="Image 0" descr="C:\Users\affla\OneDrive\Documents\Saas\Claude projects\COCOPALM\build\img\aerial2.jpg">    </p:cNvPr>
          <p:cNvPicPr>
            <a:picLocks noChangeAspect="1"/>
          </p:cNvPicPr>
          <p:nvPr/>
        </p:nvPicPr>
        <p:blipFill>
          <a:blip r:embed="rId1"/>
          <a:srcRect l="0" r="0" t="0" b="0"/>
          <a:stretch/>
        </p:blipFill>
        <p:spPr>
          <a:xfrm>
            <a:off x="6949440" y="1847088"/>
            <a:ext cx="4005072" cy="3035808"/>
          </a:xfrm>
          <a:prstGeom prst="rect">
            <a:avLst/>
          </a:prstGeom>
        </p:spPr>
      </p:pic>
      <p:sp>
        <p:nvSpPr>
          <p:cNvPr id="21" name="Text 18"/>
          <p:cNvSpPr/>
          <p:nvPr/>
        </p:nvSpPr>
        <p:spPr>
          <a:xfrm>
            <a:off x="6949440" y="4956048"/>
            <a:ext cx="4005072" cy="274320"/>
          </a:xfrm>
          <a:prstGeom prst="rect">
            <a:avLst/>
          </a:prstGeom>
          <a:noFill/>
          <a:ln/>
        </p:spPr>
        <p:txBody>
          <a:bodyPr wrap="square" lIns="0" tIns="0" rIns="0" bIns="0" rtlCol="0" anchor="ctr"/>
          <a:lstStyle/>
          <a:p>
            <a:pPr indent="0" marL="0">
              <a:buNone/>
            </a:pPr>
            <a:r>
              <a:rPr lang="en-US" sz="950" i="1" dirty="0">
                <a:solidFill>
                  <a:srgbClr val="6E7A6F"/>
                </a:solidFill>
                <a:latin typeface="Calibri" pitchFamily="34" charset="0"/>
                <a:ea typeface="Calibri" pitchFamily="34" charset="-122"/>
                <a:cs typeface="Calibri" pitchFamily="34" charset="-120"/>
              </a:rPr>
              <a:t>Drying halls from above - the plant's insulated chamber block</a:t>
            </a:r>
            <a:endParaRPr lang="en-US" sz="950" dirty="0"/>
          </a:p>
        </p:txBody>
      </p:sp>
      <p:sp>
        <p:nvSpPr>
          <p:cNvPr id="22" name="Shape 19"/>
          <p:cNvSpPr/>
          <p:nvPr/>
        </p:nvSpPr>
        <p:spPr>
          <a:xfrm>
            <a:off x="6949440" y="5303520"/>
            <a:ext cx="4005072" cy="768096"/>
          </a:xfrm>
          <a:prstGeom prst="roundRect">
            <a:avLst>
              <a:gd name="adj" fmla="val 7143"/>
            </a:avLst>
          </a:prstGeom>
          <a:solidFill>
            <a:srgbClr val="14532D"/>
          </a:solidFill>
          <a:ln w="12700">
            <a:solidFill>
              <a:srgbClr val="14532D"/>
            </a:solidFill>
            <a:prstDash val="solid"/>
          </a:ln>
        </p:spPr>
      </p:sp>
      <p:sp>
        <p:nvSpPr>
          <p:cNvPr id="23" name="Text 20"/>
          <p:cNvSpPr/>
          <p:nvPr/>
        </p:nvSpPr>
        <p:spPr>
          <a:xfrm>
            <a:off x="7178040" y="5303520"/>
            <a:ext cx="3639312" cy="768096"/>
          </a:xfrm>
          <a:prstGeom prst="rect">
            <a:avLst/>
          </a:prstGeom>
          <a:noFill/>
          <a:ln/>
        </p:spPr>
        <p:txBody>
          <a:bodyPr wrap="square" lIns="0" tIns="0" rIns="0" bIns="0" rtlCol="0" anchor="ctr"/>
          <a:lstStyle/>
          <a:p>
            <a:pPr indent="0" marL="0">
              <a:lnSpc>
                <a:spcPct val="114000"/>
              </a:lnSpc>
              <a:buNone/>
            </a:pPr>
            <a:r>
              <a:rPr lang="en-US" sz="1400" b="1" dirty="0">
                <a:solidFill>
                  <a:srgbClr val="FFFFFF"/>
                </a:solidFill>
                <a:latin typeface="Cambria" pitchFamily="34" charset="0"/>
                <a:ea typeface="Cambria" pitchFamily="34" charset="-122"/>
                <a:cs typeface="Cambria" pitchFamily="34" charset="-120"/>
              </a:rPr>
              <a:t>100,000 nuts per day</a:t>
            </a:r>
            <a:endParaRPr lang="en-US" sz="1400" dirty="0"/>
          </a:p>
          <a:p>
            <a:pPr indent="0" marL="0">
              <a:lnSpc>
                <a:spcPct val="114000"/>
              </a:lnSpc>
              <a:buNone/>
            </a:pPr>
            <a:r>
              <a:rPr lang="en-US" sz="1050" dirty="0">
                <a:solidFill>
                  <a:srgbClr val="E3C171"/>
                </a:solidFill>
                <a:latin typeface="Calibri" pitchFamily="34" charset="0"/>
                <a:ea typeface="Calibri" pitchFamily="34" charset="-122"/>
                <a:cs typeface="Calibri" pitchFamily="34" charset="-120"/>
              </a:rPr>
              <a:t>10 tonnes of material dried per 12-hour batch</a:t>
            </a:r>
            <a:endParaRPr lang="en-US" sz="1400" dirty="0"/>
          </a:p>
        </p:txBody>
      </p:sp>
      <p:sp>
        <p:nvSpPr>
          <p:cNvPr id="24" name="Text 21"/>
          <p:cNvSpPr/>
          <p:nvPr/>
        </p:nvSpPr>
        <p:spPr>
          <a:xfrm>
            <a:off x="640080" y="6382512"/>
            <a:ext cx="5486400" cy="237744"/>
          </a:xfrm>
          <a:prstGeom prst="rect">
            <a:avLst/>
          </a:prstGeom>
          <a:noFill/>
          <a:ln/>
        </p:spPr>
        <p:txBody>
          <a:bodyPr wrap="square" lIns="0" tIns="0" rIns="0" bIns="0" rtlCol="0" anchor="ctr"/>
          <a:lstStyle/>
          <a:p>
            <a:pPr indent="0" marL="0">
              <a:buNone/>
            </a:pPr>
            <a:r>
              <a:rPr lang="en-US" sz="900" spc="60" kern="0" dirty="0">
                <a:solidFill>
                  <a:srgbClr val="6E7A6F"/>
                </a:solidFill>
                <a:latin typeface="Calibri" pitchFamily="34" charset="0"/>
                <a:ea typeface="Calibri" pitchFamily="34" charset="-122"/>
                <a:cs typeface="Calibri" pitchFamily="34" charset="-120"/>
              </a:rPr>
              <a:t>Coco Palms Skylanes and Allied Products</a:t>
            </a:r>
            <a:endParaRPr lang="en-US" sz="900" dirty="0"/>
          </a:p>
        </p:txBody>
      </p:sp>
      <p:sp>
        <p:nvSpPr>
          <p:cNvPr id="25" name="Text 22"/>
          <p:cNvSpPr/>
          <p:nvPr/>
        </p:nvSpPr>
        <p:spPr>
          <a:xfrm>
            <a:off x="10637215" y="6382512"/>
            <a:ext cx="914400" cy="237744"/>
          </a:xfrm>
          <a:prstGeom prst="rect">
            <a:avLst/>
          </a:prstGeom>
          <a:noFill/>
          <a:ln/>
        </p:spPr>
        <p:txBody>
          <a:bodyPr wrap="square" lIns="0" tIns="0" rIns="0" bIns="0" rtlCol="0" anchor="ctr"/>
          <a:lstStyle/>
          <a:p>
            <a:pPr algn="r" indent="0" marL="0">
              <a:buNone/>
            </a:pPr>
            <a:r>
              <a:rPr lang="en-US" sz="900" dirty="0">
                <a:solidFill>
                  <a:srgbClr val="6E7A6F"/>
                </a:solidFill>
                <a:latin typeface="Calibri" pitchFamily="34" charset="0"/>
                <a:ea typeface="Calibri" pitchFamily="34" charset="-122"/>
                <a:cs typeface="Calibri" pitchFamily="34" charset="-120"/>
              </a:rPr>
              <a:t>2</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FFFFF"/>
          </a:solidFill>
          <a:ln w="12700">
            <a:solidFill>
              <a:srgbClr val="FFFFFF"/>
            </a:solidFill>
            <a:prstDash val="solid"/>
          </a:ln>
        </p:spPr>
      </p:sp>
      <p:sp>
        <p:nvSpPr>
          <p:cNvPr id="3" name="Text 1"/>
          <p:cNvSpPr/>
          <p:nvPr/>
        </p:nvSpPr>
        <p:spPr>
          <a:xfrm>
            <a:off x="640080" y="566928"/>
            <a:ext cx="10911535" cy="256032"/>
          </a:xfrm>
          <a:prstGeom prst="rect">
            <a:avLst/>
          </a:prstGeom>
          <a:noFill/>
          <a:ln/>
        </p:spPr>
        <p:txBody>
          <a:bodyPr wrap="square" lIns="0" tIns="0" rIns="0" bIns="0" rtlCol="0" anchor="ctr"/>
          <a:lstStyle/>
          <a:p>
            <a:pPr indent="0" marL="0">
              <a:buNone/>
            </a:pPr>
            <a:r>
              <a:rPr lang="en-US" sz="1150" b="1" spc="240" kern="0" dirty="0">
                <a:solidFill>
                  <a:srgbClr val="B8860F"/>
                </a:solidFill>
                <a:latin typeface="Calibri" pitchFamily="34" charset="0"/>
                <a:ea typeface="Calibri" pitchFamily="34" charset="-122"/>
                <a:cs typeface="Calibri" pitchFamily="34" charset="-120"/>
              </a:rPr>
              <a:t>PRODUCT RANGE</a:t>
            </a:r>
            <a:endParaRPr lang="en-US" sz="1150" dirty="0"/>
          </a:p>
        </p:txBody>
      </p:sp>
      <p:sp>
        <p:nvSpPr>
          <p:cNvPr id="4" name="Text 2"/>
          <p:cNvSpPr/>
          <p:nvPr/>
        </p:nvSpPr>
        <p:spPr>
          <a:xfrm>
            <a:off x="640080" y="877824"/>
            <a:ext cx="10911535" cy="749808"/>
          </a:xfrm>
          <a:prstGeom prst="rect">
            <a:avLst/>
          </a:prstGeom>
          <a:noFill/>
          <a:ln/>
        </p:spPr>
        <p:txBody>
          <a:bodyPr wrap="square" lIns="0" tIns="0" rIns="0" bIns="0" rtlCol="0" anchor="t"/>
          <a:lstStyle/>
          <a:p>
            <a:pPr indent="0" marL="0">
              <a:buNone/>
            </a:pPr>
            <a:r>
              <a:rPr lang="en-US" sz="3400" b="1" dirty="0">
                <a:solidFill>
                  <a:srgbClr val="14532D"/>
                </a:solidFill>
                <a:latin typeface="Cambria" pitchFamily="34" charset="0"/>
                <a:ea typeface="Cambria" pitchFamily="34" charset="-122"/>
                <a:cs typeface="Cambria" pitchFamily="34" charset="-120"/>
              </a:rPr>
              <a:t>What we supply</a:t>
            </a:r>
            <a:endParaRPr lang="en-US" sz="3400" dirty="0"/>
          </a:p>
        </p:txBody>
      </p:sp>
      <p:sp>
        <p:nvSpPr>
          <p:cNvPr id="5" name="Shape 3"/>
          <p:cNvSpPr/>
          <p:nvPr/>
        </p:nvSpPr>
        <p:spPr>
          <a:xfrm>
            <a:off x="640080" y="1810512"/>
            <a:ext cx="5263744" cy="3712464"/>
          </a:xfrm>
          <a:prstGeom prst="roundRect">
            <a:avLst>
              <a:gd name="adj" fmla="val 1478"/>
            </a:avLst>
          </a:prstGeom>
          <a:solidFill>
            <a:srgbClr val="F1F5EF"/>
          </a:solidFill>
          <a:ln w="12700">
            <a:solidFill>
              <a:srgbClr val="F1F5EF"/>
            </a:solidFill>
            <a:prstDash val="solid"/>
          </a:ln>
          <a:effectLst>
            <a:outerShdw sx="100000" sy="100000" kx="0" ky="0" algn="bl" rotWithShape="0" blurRad="152400" dist="25400" dir="5400000">
              <a:srgbClr val="000000">
                <a:alpha val="8000"/>
              </a:srgbClr>
            </a:outerShdw>
          </a:effectLst>
        </p:spPr>
      </p:sp>
      <p:pic>
        <p:nvPicPr>
          <p:cNvPr id="6" name="Image 0" descr="C:\Users\affla\OneDrive\Documents\Saas\Claude projects\COCOPALM\build\img\bottle.jpg">    </p:cNvPr>
          <p:cNvPicPr>
            <a:picLocks noChangeAspect="1"/>
          </p:cNvPicPr>
          <p:nvPr/>
        </p:nvPicPr>
        <p:blipFill>
          <a:blip r:embed="rId1"/>
          <a:srcRect l="0" r="0" t="0" b="0"/>
          <a:stretch/>
        </p:blipFill>
        <p:spPr>
          <a:xfrm>
            <a:off x="640080" y="1810512"/>
            <a:ext cx="5263744" cy="1920240"/>
          </a:xfrm>
          <a:prstGeom prst="rect">
            <a:avLst/>
          </a:prstGeom>
        </p:spPr>
      </p:pic>
      <p:sp>
        <p:nvSpPr>
          <p:cNvPr id="7" name="Shape 4"/>
          <p:cNvSpPr/>
          <p:nvPr/>
        </p:nvSpPr>
        <p:spPr>
          <a:xfrm>
            <a:off x="914400" y="3877056"/>
            <a:ext cx="493776" cy="493776"/>
          </a:xfrm>
          <a:prstGeom prst="ellipse">
            <a:avLst/>
          </a:prstGeom>
          <a:solidFill>
            <a:srgbClr val="B8860F"/>
          </a:solidFill>
          <a:ln w="12700">
            <a:solidFill>
              <a:srgbClr val="B8860F"/>
            </a:solidFill>
            <a:prstDash val="solid"/>
          </a:ln>
        </p:spPr>
      </p:sp>
      <p:sp>
        <p:nvSpPr>
          <p:cNvPr id="8" name="Text 5"/>
          <p:cNvSpPr/>
          <p:nvPr/>
        </p:nvSpPr>
        <p:spPr>
          <a:xfrm>
            <a:off x="914400" y="3877056"/>
            <a:ext cx="493776" cy="493776"/>
          </a:xfrm>
          <a:prstGeom prst="rect">
            <a:avLst/>
          </a:prstGeom>
          <a:noFill/>
          <a:ln/>
        </p:spPr>
        <p:txBody>
          <a:bodyPr wrap="square" lIns="0" tIns="0" rIns="0" bIns="0" rtlCol="0" anchor="ctr"/>
          <a:lstStyle/>
          <a:p>
            <a:pPr algn="ctr" indent="0" marL="0">
              <a:buNone/>
            </a:pPr>
            <a:r>
              <a:rPr lang="en-US" sz="1200" b="1" dirty="0">
                <a:solidFill>
                  <a:srgbClr val="FFFFFF"/>
                </a:solidFill>
                <a:latin typeface="Cambria" pitchFamily="34" charset="0"/>
                <a:ea typeface="Cambria" pitchFamily="34" charset="-122"/>
                <a:cs typeface="Cambria" pitchFamily="34" charset="-120"/>
              </a:rPr>
              <a:t>01</a:t>
            </a:r>
            <a:endParaRPr lang="en-US" sz="1200" dirty="0"/>
          </a:p>
        </p:txBody>
      </p:sp>
      <p:sp>
        <p:nvSpPr>
          <p:cNvPr id="9" name="Text 6"/>
          <p:cNvSpPr/>
          <p:nvPr/>
        </p:nvSpPr>
        <p:spPr>
          <a:xfrm>
            <a:off x="1536192" y="3877056"/>
            <a:ext cx="4093312" cy="493776"/>
          </a:xfrm>
          <a:prstGeom prst="rect">
            <a:avLst/>
          </a:prstGeom>
          <a:noFill/>
          <a:ln/>
        </p:spPr>
        <p:txBody>
          <a:bodyPr wrap="square" lIns="0" tIns="0" rIns="0" bIns="0" rtlCol="0" anchor="ctr"/>
          <a:lstStyle/>
          <a:p>
            <a:pPr indent="0" marL="0">
              <a:buNone/>
            </a:pPr>
            <a:r>
              <a:rPr lang="en-US" sz="1700" b="1" dirty="0">
                <a:solidFill>
                  <a:srgbClr val="14532D"/>
                </a:solidFill>
                <a:latin typeface="Cambria" pitchFamily="34" charset="0"/>
                <a:ea typeface="Cambria" pitchFamily="34" charset="-122"/>
                <a:cs typeface="Cambria" pitchFamily="34" charset="-120"/>
              </a:rPr>
              <a:t>Coconut Oil, Edible Grade</a:t>
            </a:r>
            <a:endParaRPr lang="en-US" sz="1700" dirty="0"/>
          </a:p>
        </p:txBody>
      </p:sp>
      <p:sp>
        <p:nvSpPr>
          <p:cNvPr id="10" name="Text 7"/>
          <p:cNvSpPr/>
          <p:nvPr/>
        </p:nvSpPr>
        <p:spPr>
          <a:xfrm>
            <a:off x="914400" y="4553712"/>
            <a:ext cx="4715104" cy="914400"/>
          </a:xfrm>
          <a:prstGeom prst="rect">
            <a:avLst/>
          </a:prstGeom>
          <a:noFill/>
          <a:ln/>
        </p:spPr>
        <p:txBody>
          <a:bodyPr wrap="square" lIns="0" tIns="0" rIns="0" bIns="0" rtlCol="0" anchor="t"/>
          <a:lstStyle/>
          <a:p>
            <a:pPr marL="342900" indent="-342900">
              <a:lnSpc>
                <a:spcPct val="108000"/>
              </a:lnSpc>
              <a:spcAft>
                <a:spcPts val="500"/>
              </a:spcAft>
              <a:buSzPct val="100000"/>
              <a:buChar char="•"/>
            </a:pPr>
            <a:r>
              <a:rPr lang="en-US" sz="1150" dirty="0">
                <a:solidFill>
                  <a:srgbClr val="232C24"/>
                </a:solidFill>
                <a:latin typeface="Calibri" pitchFamily="34" charset="0"/>
                <a:ea typeface="Calibri" pitchFamily="34" charset="-122"/>
                <a:cs typeface="Calibri" pitchFamily="34" charset="-120"/>
              </a:rPr>
              <a:t>Expeller-pressed from infrared-dried kernel</a:t>
            </a:r>
            <a:endParaRPr lang="en-US" sz="1150" dirty="0"/>
          </a:p>
          <a:p>
            <a:pPr marL="342900" indent="-342900">
              <a:lnSpc>
                <a:spcPct val="108000"/>
              </a:lnSpc>
              <a:spcAft>
                <a:spcPts val="500"/>
              </a:spcAft>
              <a:buSzPct val="100000"/>
              <a:buChar char="•"/>
            </a:pPr>
            <a:r>
              <a:rPr lang="en-US" sz="1150" dirty="0">
                <a:solidFill>
                  <a:srgbClr val="232C24"/>
                </a:solidFill>
                <a:latin typeface="Calibri" pitchFamily="34" charset="0"/>
                <a:ea typeface="Calibri" pitchFamily="34" charset="-122"/>
                <a:cs typeface="Calibri" pitchFamily="34" charset="-120"/>
              </a:rPr>
              <a:t>Sulfur-free - no chemical used at any stage</a:t>
            </a:r>
            <a:endParaRPr lang="en-US" sz="1150" dirty="0"/>
          </a:p>
          <a:p>
            <a:pPr marL="342900" indent="-342900">
              <a:lnSpc>
                <a:spcPct val="108000"/>
              </a:lnSpc>
              <a:spcAft>
                <a:spcPts val="500"/>
              </a:spcAft>
              <a:buSzPct val="100000"/>
              <a:buChar char="•"/>
            </a:pPr>
            <a:r>
              <a:rPr lang="en-US" sz="1150" dirty="0">
                <a:solidFill>
                  <a:srgbClr val="232C24"/>
                </a:solidFill>
                <a:latin typeface="Calibri" pitchFamily="34" charset="0"/>
                <a:ea typeface="Calibri" pitchFamily="34" charset="-122"/>
                <a:cs typeface="Calibri" pitchFamily="34" charset="-120"/>
              </a:rPr>
              <a:t>FFA below 0.5% · moisture below 0.1%</a:t>
            </a:r>
            <a:endParaRPr lang="en-US" sz="1150" dirty="0"/>
          </a:p>
          <a:p>
            <a:pPr marL="342900" indent="-342900">
              <a:lnSpc>
                <a:spcPct val="108000"/>
              </a:lnSpc>
              <a:spcAft>
                <a:spcPts val="500"/>
              </a:spcAft>
              <a:buSzPct val="100000"/>
              <a:buChar char="•"/>
            </a:pPr>
            <a:r>
              <a:rPr lang="en-US" sz="1150" dirty="0">
                <a:solidFill>
                  <a:srgbClr val="232C24"/>
                </a:solidFill>
                <a:latin typeface="Calibri" pitchFamily="34" charset="0"/>
                <a:ea typeface="Calibri" pitchFamily="34" charset="-122"/>
                <a:cs typeface="Calibri" pitchFamily="34" charset="-120"/>
              </a:rPr>
              <a:t>200 ml / 500 ml / 1 L PET · 5 L jerrycan</a:t>
            </a:r>
            <a:endParaRPr lang="en-US" sz="1150" dirty="0"/>
          </a:p>
        </p:txBody>
      </p:sp>
      <p:sp>
        <p:nvSpPr>
          <p:cNvPr id="11" name="Shape 8"/>
          <p:cNvSpPr/>
          <p:nvPr/>
        </p:nvSpPr>
        <p:spPr>
          <a:xfrm>
            <a:off x="6287872" y="1810512"/>
            <a:ext cx="5263744" cy="3712464"/>
          </a:xfrm>
          <a:prstGeom prst="roundRect">
            <a:avLst>
              <a:gd name="adj" fmla="val 1478"/>
            </a:avLst>
          </a:prstGeom>
          <a:solidFill>
            <a:srgbClr val="F1F5EF"/>
          </a:solidFill>
          <a:ln w="12700">
            <a:solidFill>
              <a:srgbClr val="F1F5EF"/>
            </a:solidFill>
            <a:prstDash val="solid"/>
          </a:ln>
          <a:effectLst>
            <a:outerShdw sx="100000" sy="100000" kx="0" ky="0" algn="bl" rotWithShape="0" blurRad="152400" dist="25400" dir="5400000">
              <a:srgbClr val="000000">
                <a:alpha val="8000"/>
              </a:srgbClr>
            </a:outerShdw>
          </a:effectLst>
        </p:spPr>
      </p:sp>
      <p:pic>
        <p:nvPicPr>
          <p:cNvPr id="12" name="Image 1" descr="C:\Users\affla\OneDrive\Documents\Saas\Claude projects\COCOPALM\build\img\oil.jpg">    </p:cNvPr>
          <p:cNvPicPr>
            <a:picLocks noChangeAspect="1"/>
          </p:cNvPicPr>
          <p:nvPr/>
        </p:nvPicPr>
        <p:blipFill>
          <a:blip r:embed="rId2"/>
          <a:srcRect l="0" r="0" t="0" b="0"/>
          <a:stretch/>
        </p:blipFill>
        <p:spPr>
          <a:xfrm>
            <a:off x="6287872" y="1810512"/>
            <a:ext cx="5263744" cy="1920240"/>
          </a:xfrm>
          <a:prstGeom prst="rect">
            <a:avLst/>
          </a:prstGeom>
        </p:spPr>
      </p:pic>
      <p:sp>
        <p:nvSpPr>
          <p:cNvPr id="13" name="Shape 9"/>
          <p:cNvSpPr/>
          <p:nvPr/>
        </p:nvSpPr>
        <p:spPr>
          <a:xfrm>
            <a:off x="6562192" y="3877056"/>
            <a:ext cx="493776" cy="493776"/>
          </a:xfrm>
          <a:prstGeom prst="ellipse">
            <a:avLst/>
          </a:prstGeom>
          <a:solidFill>
            <a:srgbClr val="B8860F"/>
          </a:solidFill>
          <a:ln w="12700">
            <a:solidFill>
              <a:srgbClr val="B8860F"/>
            </a:solidFill>
            <a:prstDash val="solid"/>
          </a:ln>
        </p:spPr>
      </p:sp>
      <p:sp>
        <p:nvSpPr>
          <p:cNvPr id="14" name="Text 10"/>
          <p:cNvSpPr/>
          <p:nvPr/>
        </p:nvSpPr>
        <p:spPr>
          <a:xfrm>
            <a:off x="6562192" y="3877056"/>
            <a:ext cx="493776" cy="493776"/>
          </a:xfrm>
          <a:prstGeom prst="rect">
            <a:avLst/>
          </a:prstGeom>
          <a:noFill/>
          <a:ln/>
        </p:spPr>
        <p:txBody>
          <a:bodyPr wrap="square" lIns="0" tIns="0" rIns="0" bIns="0" rtlCol="0" anchor="ctr"/>
          <a:lstStyle/>
          <a:p>
            <a:pPr algn="ctr" indent="0" marL="0">
              <a:buNone/>
            </a:pPr>
            <a:r>
              <a:rPr lang="en-US" sz="1200" b="1" dirty="0">
                <a:solidFill>
                  <a:srgbClr val="FFFFFF"/>
                </a:solidFill>
                <a:latin typeface="Cambria" pitchFamily="34" charset="0"/>
                <a:ea typeface="Cambria" pitchFamily="34" charset="-122"/>
                <a:cs typeface="Cambria" pitchFamily="34" charset="-120"/>
              </a:rPr>
              <a:t>02</a:t>
            </a:r>
            <a:endParaRPr lang="en-US" sz="1200" dirty="0"/>
          </a:p>
        </p:txBody>
      </p:sp>
      <p:sp>
        <p:nvSpPr>
          <p:cNvPr id="15" name="Text 11"/>
          <p:cNvSpPr/>
          <p:nvPr/>
        </p:nvSpPr>
        <p:spPr>
          <a:xfrm>
            <a:off x="7183984" y="3877056"/>
            <a:ext cx="4093312" cy="493776"/>
          </a:xfrm>
          <a:prstGeom prst="rect">
            <a:avLst/>
          </a:prstGeom>
          <a:noFill/>
          <a:ln/>
        </p:spPr>
        <p:txBody>
          <a:bodyPr wrap="square" lIns="0" tIns="0" rIns="0" bIns="0" rtlCol="0" anchor="ctr"/>
          <a:lstStyle/>
          <a:p>
            <a:pPr indent="0" marL="0">
              <a:buNone/>
            </a:pPr>
            <a:r>
              <a:rPr lang="en-US" sz="1700" b="1" dirty="0">
                <a:solidFill>
                  <a:srgbClr val="14532D"/>
                </a:solidFill>
                <a:latin typeface="Cambria" pitchFamily="34" charset="0"/>
                <a:ea typeface="Cambria" pitchFamily="34" charset="-122"/>
                <a:cs typeface="Cambria" pitchFamily="34" charset="-120"/>
              </a:rPr>
              <a:t>Coconut Oil, Bulk</a:t>
            </a:r>
            <a:endParaRPr lang="en-US" sz="1700" dirty="0"/>
          </a:p>
        </p:txBody>
      </p:sp>
      <p:sp>
        <p:nvSpPr>
          <p:cNvPr id="16" name="Text 12"/>
          <p:cNvSpPr/>
          <p:nvPr/>
        </p:nvSpPr>
        <p:spPr>
          <a:xfrm>
            <a:off x="6562192" y="4553712"/>
            <a:ext cx="4715104" cy="914400"/>
          </a:xfrm>
          <a:prstGeom prst="rect">
            <a:avLst/>
          </a:prstGeom>
          <a:noFill/>
          <a:ln/>
        </p:spPr>
        <p:txBody>
          <a:bodyPr wrap="square" lIns="0" tIns="0" rIns="0" bIns="0" rtlCol="0" anchor="t"/>
          <a:lstStyle/>
          <a:p>
            <a:pPr marL="342900" indent="-342900">
              <a:lnSpc>
                <a:spcPct val="108000"/>
              </a:lnSpc>
              <a:spcAft>
                <a:spcPts val="500"/>
              </a:spcAft>
              <a:buSzPct val="100000"/>
              <a:buChar char="•"/>
            </a:pPr>
            <a:r>
              <a:rPr lang="en-US" sz="1150" dirty="0">
                <a:solidFill>
                  <a:srgbClr val="232C24"/>
                </a:solidFill>
                <a:latin typeface="Calibri" pitchFamily="34" charset="0"/>
                <a:ea typeface="Calibri" pitchFamily="34" charset="-122"/>
                <a:cs typeface="Calibri" pitchFamily="34" charset="-120"/>
              </a:rPr>
              <a:t>Same line and same specification, bulk packed</a:t>
            </a:r>
            <a:endParaRPr lang="en-US" sz="1150" dirty="0"/>
          </a:p>
          <a:p>
            <a:pPr marL="342900" indent="-342900">
              <a:lnSpc>
                <a:spcPct val="108000"/>
              </a:lnSpc>
              <a:spcAft>
                <a:spcPts val="500"/>
              </a:spcAft>
              <a:buSzPct val="100000"/>
              <a:buChar char="•"/>
            </a:pPr>
            <a:r>
              <a:rPr lang="en-US" sz="1150" dirty="0">
                <a:solidFill>
                  <a:srgbClr val="232C24"/>
                </a:solidFill>
                <a:latin typeface="Calibri" pitchFamily="34" charset="0"/>
                <a:ea typeface="Calibri" pitchFamily="34" charset="-122"/>
                <a:cs typeface="Calibri" pitchFamily="34" charset="-120"/>
              </a:rPr>
              <a:t>Filtered grade; RBD available on request</a:t>
            </a:r>
            <a:endParaRPr lang="en-US" sz="1150" dirty="0"/>
          </a:p>
          <a:p>
            <a:pPr marL="342900" indent="-342900">
              <a:lnSpc>
                <a:spcPct val="108000"/>
              </a:lnSpc>
              <a:spcAft>
                <a:spcPts val="500"/>
              </a:spcAft>
              <a:buSzPct val="100000"/>
              <a:buChar char="•"/>
            </a:pPr>
            <a:r>
              <a:rPr lang="en-US" sz="1150" dirty="0">
                <a:solidFill>
                  <a:srgbClr val="232C24"/>
                </a:solidFill>
                <a:latin typeface="Calibri" pitchFamily="34" charset="0"/>
                <a:ea typeface="Calibri" pitchFamily="34" charset="-122"/>
                <a:cs typeface="Calibri" pitchFamily="34" charset="-120"/>
              </a:rPr>
              <a:t>For industrial and repacking buyers</a:t>
            </a:r>
            <a:endParaRPr lang="en-US" sz="1150" dirty="0"/>
          </a:p>
          <a:p>
            <a:pPr marL="342900" indent="-342900">
              <a:lnSpc>
                <a:spcPct val="108000"/>
              </a:lnSpc>
              <a:spcAft>
                <a:spcPts val="500"/>
              </a:spcAft>
              <a:buSzPct val="100000"/>
              <a:buChar char="•"/>
            </a:pPr>
            <a:r>
              <a:rPr lang="en-US" sz="1150" dirty="0">
                <a:solidFill>
                  <a:srgbClr val="232C24"/>
                </a:solidFill>
                <a:latin typeface="Calibri" pitchFamily="34" charset="0"/>
                <a:ea typeface="Calibri" pitchFamily="34" charset="-122"/>
                <a:cs typeface="Calibri" pitchFamily="34" charset="-120"/>
              </a:rPr>
              <a:t>15 kg tin · 200 kg HDPE drum · flexitank</a:t>
            </a:r>
            <a:endParaRPr lang="en-US" sz="1150" dirty="0"/>
          </a:p>
        </p:txBody>
      </p:sp>
      <p:sp>
        <p:nvSpPr>
          <p:cNvPr id="17" name="Shape 13"/>
          <p:cNvSpPr/>
          <p:nvPr/>
        </p:nvSpPr>
        <p:spPr>
          <a:xfrm>
            <a:off x="640080" y="5687568"/>
            <a:ext cx="10911535" cy="566928"/>
          </a:xfrm>
          <a:prstGeom prst="roundRect">
            <a:avLst>
              <a:gd name="adj" fmla="val 9677"/>
            </a:avLst>
          </a:prstGeom>
          <a:solidFill>
            <a:srgbClr val="14532D"/>
          </a:solidFill>
          <a:ln w="12700">
            <a:solidFill>
              <a:srgbClr val="14532D"/>
            </a:solidFill>
            <a:prstDash val="solid"/>
          </a:ln>
        </p:spPr>
      </p:sp>
      <p:sp>
        <p:nvSpPr>
          <p:cNvPr id="18" name="Text 14"/>
          <p:cNvSpPr/>
          <p:nvPr/>
        </p:nvSpPr>
        <p:spPr>
          <a:xfrm>
            <a:off x="914400" y="5687568"/>
            <a:ext cx="10362895" cy="566928"/>
          </a:xfrm>
          <a:prstGeom prst="rect">
            <a:avLst/>
          </a:prstGeom>
          <a:noFill/>
          <a:ln/>
        </p:spPr>
        <p:txBody>
          <a:bodyPr wrap="square" lIns="0" tIns="0" rIns="0" bIns="0" rtlCol="0" anchor="ctr"/>
          <a:lstStyle/>
          <a:p>
            <a:pPr indent="0" marL="0">
              <a:buNone/>
            </a:pPr>
            <a:r>
              <a:rPr lang="en-US" sz="1200" b="1" spc="120" kern="0" dirty="0">
                <a:solidFill>
                  <a:srgbClr val="FFFFFF"/>
                </a:solidFill>
                <a:latin typeface="Calibri" pitchFamily="34" charset="0"/>
                <a:ea typeface="Calibri" pitchFamily="34" charset="-122"/>
                <a:cs typeface="Calibri" pitchFamily="34" charset="-120"/>
              </a:rPr>
              <a:t>Allied products   </a:t>
            </a:r>
            <a:pPr indent="0" marL="0">
              <a:buNone/>
            </a:pPr>
            <a:r>
              <a:rPr lang="en-US" sz="1200" dirty="0">
                <a:solidFill>
                  <a:srgbClr val="A9BBAB"/>
                </a:solidFill>
                <a:latin typeface="Calibri" pitchFamily="34" charset="0"/>
                <a:ea typeface="Calibri" pitchFamily="34" charset="-122"/>
                <a:cs typeface="Calibri" pitchFamily="34" charset="-120"/>
              </a:rPr>
              <a:t>copra cake / de-oiled cake, a direct by-product of oil extraction.  Further lines:  </a:t>
            </a:r>
            <a:pPr indent="0" marL="0">
              <a:buNone/>
            </a:pPr>
            <a:r>
              <a:rPr lang="en-US" sz="1200" b="1" i="1" spc="120" kern="0" dirty="0">
                <a:solidFill>
                  <a:srgbClr val="E3C171"/>
                </a:solidFill>
                <a:latin typeface="Calibri" pitchFamily="34" charset="0"/>
                <a:ea typeface="Calibri" pitchFamily="34" charset="-122"/>
                <a:cs typeface="Calibri" pitchFamily="34" charset="-120"/>
              </a:rPr>
              <a:t>TO CONFIRM</a:t>
            </a:r>
            <a:endParaRPr lang="en-US" sz="1200" dirty="0"/>
          </a:p>
        </p:txBody>
      </p:sp>
      <p:sp>
        <p:nvSpPr>
          <p:cNvPr id="19" name="Text 15"/>
          <p:cNvSpPr/>
          <p:nvPr/>
        </p:nvSpPr>
        <p:spPr>
          <a:xfrm>
            <a:off x="640080" y="6382512"/>
            <a:ext cx="5486400" cy="237744"/>
          </a:xfrm>
          <a:prstGeom prst="rect">
            <a:avLst/>
          </a:prstGeom>
          <a:noFill/>
          <a:ln/>
        </p:spPr>
        <p:txBody>
          <a:bodyPr wrap="square" lIns="0" tIns="0" rIns="0" bIns="0" rtlCol="0" anchor="ctr"/>
          <a:lstStyle/>
          <a:p>
            <a:pPr indent="0" marL="0">
              <a:buNone/>
            </a:pPr>
            <a:r>
              <a:rPr lang="en-US" sz="900" spc="60" kern="0" dirty="0">
                <a:solidFill>
                  <a:srgbClr val="6E7A6F"/>
                </a:solidFill>
                <a:latin typeface="Calibri" pitchFamily="34" charset="0"/>
                <a:ea typeface="Calibri" pitchFamily="34" charset="-122"/>
                <a:cs typeface="Calibri" pitchFamily="34" charset="-120"/>
              </a:rPr>
              <a:t>Coco Palms Skylanes and Allied Products</a:t>
            </a:r>
            <a:endParaRPr lang="en-US" sz="900" dirty="0"/>
          </a:p>
        </p:txBody>
      </p:sp>
      <p:sp>
        <p:nvSpPr>
          <p:cNvPr id="20" name="Text 16"/>
          <p:cNvSpPr/>
          <p:nvPr/>
        </p:nvSpPr>
        <p:spPr>
          <a:xfrm>
            <a:off x="10637215" y="6382512"/>
            <a:ext cx="914400" cy="237744"/>
          </a:xfrm>
          <a:prstGeom prst="rect">
            <a:avLst/>
          </a:prstGeom>
          <a:noFill/>
          <a:ln/>
        </p:spPr>
        <p:txBody>
          <a:bodyPr wrap="square" lIns="0" tIns="0" rIns="0" bIns="0" rtlCol="0" anchor="ctr"/>
          <a:lstStyle/>
          <a:p>
            <a:pPr algn="r" indent="0" marL="0">
              <a:buNone/>
            </a:pPr>
            <a:r>
              <a:rPr lang="en-US" sz="900" dirty="0">
                <a:solidFill>
                  <a:srgbClr val="6E7A6F"/>
                </a:solidFill>
                <a:latin typeface="Calibri" pitchFamily="34" charset="0"/>
                <a:ea typeface="Calibri" pitchFamily="34" charset="-122"/>
                <a:cs typeface="Calibri" pitchFamily="34" charset="-120"/>
              </a:rPr>
              <a:t>3</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14532D"/>
          </a:solidFill>
          <a:ln w="12700">
            <a:solidFill>
              <a:srgbClr val="14532D"/>
            </a:solidFill>
            <a:prstDash val="solid"/>
          </a:ln>
        </p:spPr>
      </p:sp>
      <p:sp>
        <p:nvSpPr>
          <p:cNvPr id="3" name="Text 1"/>
          <p:cNvSpPr/>
          <p:nvPr/>
        </p:nvSpPr>
        <p:spPr>
          <a:xfrm>
            <a:off x="640080" y="566928"/>
            <a:ext cx="10911535" cy="256032"/>
          </a:xfrm>
          <a:prstGeom prst="rect">
            <a:avLst/>
          </a:prstGeom>
          <a:noFill/>
          <a:ln/>
        </p:spPr>
        <p:txBody>
          <a:bodyPr wrap="square" lIns="0" tIns="0" rIns="0" bIns="0" rtlCol="0" anchor="ctr"/>
          <a:lstStyle/>
          <a:p>
            <a:pPr indent="0" marL="0">
              <a:buNone/>
            </a:pPr>
            <a:r>
              <a:rPr lang="en-US" sz="1150" b="1" spc="240" kern="0" dirty="0">
                <a:solidFill>
                  <a:srgbClr val="E3C171"/>
                </a:solidFill>
                <a:latin typeface="Calibri" pitchFamily="34" charset="0"/>
                <a:ea typeface="Calibri" pitchFamily="34" charset="-122"/>
                <a:cs typeface="Calibri" pitchFamily="34" charset="-120"/>
              </a:rPr>
              <a:t>HOW IT IS MADE</a:t>
            </a:r>
            <a:endParaRPr lang="en-US" sz="1150" dirty="0"/>
          </a:p>
        </p:txBody>
      </p:sp>
      <p:sp>
        <p:nvSpPr>
          <p:cNvPr id="4" name="Text 2"/>
          <p:cNvSpPr/>
          <p:nvPr/>
        </p:nvSpPr>
        <p:spPr>
          <a:xfrm>
            <a:off x="640080" y="877824"/>
            <a:ext cx="10911535" cy="749808"/>
          </a:xfrm>
          <a:prstGeom prst="rect">
            <a:avLst/>
          </a:prstGeom>
          <a:noFill/>
          <a:ln/>
        </p:spPr>
        <p:txBody>
          <a:bodyPr wrap="square" lIns="0" tIns="0" rIns="0" bIns="0" rtlCol="0" anchor="t"/>
          <a:lstStyle/>
          <a:p>
            <a:pPr indent="0" marL="0">
              <a:buNone/>
            </a:pPr>
            <a:r>
              <a:rPr lang="en-US" sz="3400" b="1" dirty="0">
                <a:solidFill>
                  <a:srgbClr val="FFFFFF"/>
                </a:solidFill>
                <a:latin typeface="Cambria" pitchFamily="34" charset="0"/>
                <a:ea typeface="Cambria" pitchFamily="34" charset="-122"/>
                <a:cs typeface="Cambria" pitchFamily="34" charset="-120"/>
              </a:rPr>
              <a:t>From whole nut to filtered oil</a:t>
            </a:r>
            <a:endParaRPr lang="en-US" sz="3400" dirty="0"/>
          </a:p>
        </p:txBody>
      </p:sp>
      <p:sp>
        <p:nvSpPr>
          <p:cNvPr id="5" name="Shape 3"/>
          <p:cNvSpPr/>
          <p:nvPr/>
        </p:nvSpPr>
        <p:spPr>
          <a:xfrm>
            <a:off x="640080" y="1883664"/>
            <a:ext cx="2522144" cy="1792224"/>
          </a:xfrm>
          <a:prstGeom prst="roundRect">
            <a:avLst>
              <a:gd name="adj" fmla="val 2551"/>
            </a:avLst>
          </a:prstGeom>
          <a:solidFill>
            <a:srgbClr val="1B6034"/>
          </a:solidFill>
          <a:ln w="12700">
            <a:solidFill>
              <a:srgbClr val="1B6034"/>
            </a:solidFill>
            <a:prstDash val="solid"/>
          </a:ln>
        </p:spPr>
      </p:sp>
      <p:sp>
        <p:nvSpPr>
          <p:cNvPr id="6" name="Shape 4"/>
          <p:cNvSpPr/>
          <p:nvPr/>
        </p:nvSpPr>
        <p:spPr>
          <a:xfrm>
            <a:off x="877824" y="2103120"/>
            <a:ext cx="457200" cy="457200"/>
          </a:xfrm>
          <a:prstGeom prst="ellipse">
            <a:avLst/>
          </a:prstGeom>
          <a:solidFill>
            <a:srgbClr val="B8860F"/>
          </a:solidFill>
          <a:ln w="12700">
            <a:solidFill>
              <a:srgbClr val="B8860F"/>
            </a:solidFill>
            <a:prstDash val="solid"/>
          </a:ln>
        </p:spPr>
      </p:sp>
      <p:sp>
        <p:nvSpPr>
          <p:cNvPr id="7" name="Text 5"/>
          <p:cNvSpPr/>
          <p:nvPr/>
        </p:nvSpPr>
        <p:spPr>
          <a:xfrm>
            <a:off x="877824" y="2103120"/>
            <a:ext cx="457200" cy="457200"/>
          </a:xfrm>
          <a:prstGeom prst="rect">
            <a:avLst/>
          </a:prstGeom>
          <a:noFill/>
          <a:ln/>
        </p:spPr>
        <p:txBody>
          <a:bodyPr wrap="square" lIns="0" tIns="0" rIns="0" bIns="0" rtlCol="0" anchor="ctr"/>
          <a:lstStyle/>
          <a:p>
            <a:pPr algn="ctr" indent="0" marL="0">
              <a:buNone/>
            </a:pPr>
            <a:r>
              <a:rPr lang="en-US" sz="1300" b="1" dirty="0">
                <a:solidFill>
                  <a:srgbClr val="FFFFFF"/>
                </a:solidFill>
                <a:latin typeface="Cambria" pitchFamily="34" charset="0"/>
                <a:ea typeface="Cambria" pitchFamily="34" charset="-122"/>
                <a:cs typeface="Cambria" pitchFamily="34" charset="-120"/>
              </a:rPr>
              <a:t>1</a:t>
            </a:r>
            <a:endParaRPr lang="en-US" sz="1300" dirty="0"/>
          </a:p>
        </p:txBody>
      </p:sp>
      <p:sp>
        <p:nvSpPr>
          <p:cNvPr id="8" name="Text 6"/>
          <p:cNvSpPr/>
          <p:nvPr/>
        </p:nvSpPr>
        <p:spPr>
          <a:xfrm>
            <a:off x="877824" y="2670048"/>
            <a:ext cx="2046656" cy="512064"/>
          </a:xfrm>
          <a:prstGeom prst="rect">
            <a:avLst/>
          </a:prstGeom>
          <a:noFill/>
          <a:ln/>
        </p:spPr>
        <p:txBody>
          <a:bodyPr wrap="square" lIns="0" tIns="0" rIns="0" bIns="0" rtlCol="0" anchor="t"/>
          <a:lstStyle/>
          <a:p>
            <a:pPr indent="0" marL="0">
              <a:buNone/>
            </a:pPr>
            <a:r>
              <a:rPr lang="en-US" sz="1300" b="1" dirty="0">
                <a:solidFill>
                  <a:srgbClr val="FFFFFF"/>
                </a:solidFill>
                <a:latin typeface="Cambria" pitchFamily="34" charset="0"/>
                <a:ea typeface="Cambria" pitchFamily="34" charset="-122"/>
                <a:cs typeface="Cambria" pitchFamily="34" charset="-120"/>
              </a:rPr>
              <a:t>Intake</a:t>
            </a:r>
            <a:endParaRPr lang="en-US" sz="1300" dirty="0"/>
          </a:p>
        </p:txBody>
      </p:sp>
      <p:sp>
        <p:nvSpPr>
          <p:cNvPr id="9" name="Text 7"/>
          <p:cNvSpPr/>
          <p:nvPr/>
        </p:nvSpPr>
        <p:spPr>
          <a:xfrm>
            <a:off x="877824" y="3182112"/>
            <a:ext cx="2046656" cy="512064"/>
          </a:xfrm>
          <a:prstGeom prst="rect">
            <a:avLst/>
          </a:prstGeom>
          <a:noFill/>
          <a:ln/>
        </p:spPr>
        <p:txBody>
          <a:bodyPr wrap="square" lIns="0" tIns="0" rIns="0" bIns="0" rtlCol="0" anchor="t"/>
          <a:lstStyle/>
          <a:p>
            <a:pPr indent="0" marL="0">
              <a:lnSpc>
                <a:spcPct val="114000"/>
              </a:lnSpc>
              <a:buNone/>
            </a:pPr>
            <a:r>
              <a:rPr lang="en-US" sz="1050" dirty="0">
                <a:solidFill>
                  <a:srgbClr val="A9BBAB"/>
                </a:solidFill>
                <a:latin typeface="Calibri" pitchFamily="34" charset="0"/>
                <a:ea typeface="Calibri" pitchFamily="34" charset="-122"/>
                <a:cs typeface="Calibri" pitchFamily="34" charset="-120"/>
              </a:rPr>
              <a:t>Nuts received and unloaded in our raw material yard</a:t>
            </a:r>
            <a:endParaRPr lang="en-US" sz="1050" dirty="0"/>
          </a:p>
        </p:txBody>
      </p:sp>
      <p:sp>
        <p:nvSpPr>
          <p:cNvPr id="10" name="Shape 8"/>
          <p:cNvSpPr/>
          <p:nvPr/>
        </p:nvSpPr>
        <p:spPr>
          <a:xfrm>
            <a:off x="3436544" y="1883664"/>
            <a:ext cx="2522144" cy="1792224"/>
          </a:xfrm>
          <a:prstGeom prst="roundRect">
            <a:avLst>
              <a:gd name="adj" fmla="val 2551"/>
            </a:avLst>
          </a:prstGeom>
          <a:solidFill>
            <a:srgbClr val="1B6034"/>
          </a:solidFill>
          <a:ln w="12700">
            <a:solidFill>
              <a:srgbClr val="1B6034"/>
            </a:solidFill>
            <a:prstDash val="solid"/>
          </a:ln>
        </p:spPr>
      </p:sp>
      <p:sp>
        <p:nvSpPr>
          <p:cNvPr id="11" name="Shape 9"/>
          <p:cNvSpPr/>
          <p:nvPr/>
        </p:nvSpPr>
        <p:spPr>
          <a:xfrm>
            <a:off x="3674288" y="2103120"/>
            <a:ext cx="457200" cy="457200"/>
          </a:xfrm>
          <a:prstGeom prst="ellipse">
            <a:avLst/>
          </a:prstGeom>
          <a:solidFill>
            <a:srgbClr val="B8860F"/>
          </a:solidFill>
          <a:ln w="12700">
            <a:solidFill>
              <a:srgbClr val="B8860F"/>
            </a:solidFill>
            <a:prstDash val="solid"/>
          </a:ln>
        </p:spPr>
      </p:sp>
      <p:sp>
        <p:nvSpPr>
          <p:cNvPr id="12" name="Text 10"/>
          <p:cNvSpPr/>
          <p:nvPr/>
        </p:nvSpPr>
        <p:spPr>
          <a:xfrm>
            <a:off x="3674288" y="2103120"/>
            <a:ext cx="457200" cy="457200"/>
          </a:xfrm>
          <a:prstGeom prst="rect">
            <a:avLst/>
          </a:prstGeom>
          <a:noFill/>
          <a:ln/>
        </p:spPr>
        <p:txBody>
          <a:bodyPr wrap="square" lIns="0" tIns="0" rIns="0" bIns="0" rtlCol="0" anchor="ctr"/>
          <a:lstStyle/>
          <a:p>
            <a:pPr algn="ctr" indent="0" marL="0">
              <a:buNone/>
            </a:pPr>
            <a:r>
              <a:rPr lang="en-US" sz="1300" b="1" dirty="0">
                <a:solidFill>
                  <a:srgbClr val="FFFFFF"/>
                </a:solidFill>
                <a:latin typeface="Cambria" pitchFamily="34" charset="0"/>
                <a:ea typeface="Cambria" pitchFamily="34" charset="-122"/>
                <a:cs typeface="Cambria" pitchFamily="34" charset="-120"/>
              </a:rPr>
              <a:t>2</a:t>
            </a:r>
            <a:endParaRPr lang="en-US" sz="1300" dirty="0"/>
          </a:p>
        </p:txBody>
      </p:sp>
      <p:sp>
        <p:nvSpPr>
          <p:cNvPr id="13" name="Text 11"/>
          <p:cNvSpPr/>
          <p:nvPr/>
        </p:nvSpPr>
        <p:spPr>
          <a:xfrm>
            <a:off x="3674288" y="2670048"/>
            <a:ext cx="2046656" cy="512064"/>
          </a:xfrm>
          <a:prstGeom prst="rect">
            <a:avLst/>
          </a:prstGeom>
          <a:noFill/>
          <a:ln/>
        </p:spPr>
        <p:txBody>
          <a:bodyPr wrap="square" lIns="0" tIns="0" rIns="0" bIns="0" rtlCol="0" anchor="t"/>
          <a:lstStyle/>
          <a:p>
            <a:pPr indent="0" marL="0">
              <a:buNone/>
            </a:pPr>
            <a:r>
              <a:rPr lang="en-US" sz="1300" b="1" dirty="0">
                <a:solidFill>
                  <a:srgbClr val="FFFFFF"/>
                </a:solidFill>
                <a:latin typeface="Cambria" pitchFamily="34" charset="0"/>
                <a:ea typeface="Cambria" pitchFamily="34" charset="-122"/>
                <a:cs typeface="Cambria" pitchFamily="34" charset="-120"/>
              </a:rPr>
              <a:t>Automated cutting</a:t>
            </a:r>
            <a:endParaRPr lang="en-US" sz="1300" dirty="0"/>
          </a:p>
        </p:txBody>
      </p:sp>
      <p:sp>
        <p:nvSpPr>
          <p:cNvPr id="14" name="Text 12"/>
          <p:cNvSpPr/>
          <p:nvPr/>
        </p:nvSpPr>
        <p:spPr>
          <a:xfrm>
            <a:off x="3674288" y="3182112"/>
            <a:ext cx="2046656" cy="512064"/>
          </a:xfrm>
          <a:prstGeom prst="rect">
            <a:avLst/>
          </a:prstGeom>
          <a:noFill/>
          <a:ln/>
        </p:spPr>
        <p:txBody>
          <a:bodyPr wrap="square" lIns="0" tIns="0" rIns="0" bIns="0" rtlCol="0" anchor="t"/>
          <a:lstStyle/>
          <a:p>
            <a:pPr indent="0" marL="0">
              <a:lnSpc>
                <a:spcPct val="114000"/>
              </a:lnSpc>
              <a:buNone/>
            </a:pPr>
            <a:r>
              <a:rPr lang="en-US" sz="1050" dirty="0">
                <a:solidFill>
                  <a:srgbClr val="A9BBAB"/>
                </a:solidFill>
                <a:latin typeface="Calibri" pitchFamily="34" charset="0"/>
                <a:ea typeface="Calibri" pitchFamily="34" charset="-122"/>
                <a:cs typeface="Calibri" pitchFamily="34" charset="-120"/>
              </a:rPr>
              <a:t>Conveyor cutting system halves every nut evenly</a:t>
            </a:r>
            <a:endParaRPr lang="en-US" sz="1050" dirty="0"/>
          </a:p>
        </p:txBody>
      </p:sp>
      <p:sp>
        <p:nvSpPr>
          <p:cNvPr id="15" name="Shape 13"/>
          <p:cNvSpPr/>
          <p:nvPr/>
        </p:nvSpPr>
        <p:spPr>
          <a:xfrm>
            <a:off x="6233008" y="1883664"/>
            <a:ext cx="2522144" cy="1792224"/>
          </a:xfrm>
          <a:prstGeom prst="roundRect">
            <a:avLst>
              <a:gd name="adj" fmla="val 2551"/>
            </a:avLst>
          </a:prstGeom>
          <a:solidFill>
            <a:srgbClr val="1B6034"/>
          </a:solidFill>
          <a:ln w="12700">
            <a:solidFill>
              <a:srgbClr val="1B6034"/>
            </a:solidFill>
            <a:prstDash val="solid"/>
          </a:ln>
        </p:spPr>
      </p:sp>
      <p:sp>
        <p:nvSpPr>
          <p:cNvPr id="16" name="Shape 14"/>
          <p:cNvSpPr/>
          <p:nvPr/>
        </p:nvSpPr>
        <p:spPr>
          <a:xfrm>
            <a:off x="6470752" y="2103120"/>
            <a:ext cx="457200" cy="457200"/>
          </a:xfrm>
          <a:prstGeom prst="ellipse">
            <a:avLst/>
          </a:prstGeom>
          <a:solidFill>
            <a:srgbClr val="B8860F"/>
          </a:solidFill>
          <a:ln w="12700">
            <a:solidFill>
              <a:srgbClr val="B8860F"/>
            </a:solidFill>
            <a:prstDash val="solid"/>
          </a:ln>
        </p:spPr>
      </p:sp>
      <p:sp>
        <p:nvSpPr>
          <p:cNvPr id="17" name="Text 15"/>
          <p:cNvSpPr/>
          <p:nvPr/>
        </p:nvSpPr>
        <p:spPr>
          <a:xfrm>
            <a:off x="6470752" y="2103120"/>
            <a:ext cx="457200" cy="457200"/>
          </a:xfrm>
          <a:prstGeom prst="rect">
            <a:avLst/>
          </a:prstGeom>
          <a:noFill/>
          <a:ln/>
        </p:spPr>
        <p:txBody>
          <a:bodyPr wrap="square" lIns="0" tIns="0" rIns="0" bIns="0" rtlCol="0" anchor="ctr"/>
          <a:lstStyle/>
          <a:p>
            <a:pPr algn="ctr" indent="0" marL="0">
              <a:buNone/>
            </a:pPr>
            <a:r>
              <a:rPr lang="en-US" sz="1300" b="1" dirty="0">
                <a:solidFill>
                  <a:srgbClr val="FFFFFF"/>
                </a:solidFill>
                <a:latin typeface="Cambria" pitchFamily="34" charset="0"/>
                <a:ea typeface="Cambria" pitchFamily="34" charset="-122"/>
                <a:cs typeface="Cambria" pitchFamily="34" charset="-120"/>
              </a:rPr>
              <a:t>3</a:t>
            </a:r>
            <a:endParaRPr lang="en-US" sz="1300" dirty="0"/>
          </a:p>
        </p:txBody>
      </p:sp>
      <p:sp>
        <p:nvSpPr>
          <p:cNvPr id="18" name="Text 16"/>
          <p:cNvSpPr/>
          <p:nvPr/>
        </p:nvSpPr>
        <p:spPr>
          <a:xfrm>
            <a:off x="6470752" y="2670048"/>
            <a:ext cx="2046656" cy="512064"/>
          </a:xfrm>
          <a:prstGeom prst="rect">
            <a:avLst/>
          </a:prstGeom>
          <a:noFill/>
          <a:ln/>
        </p:spPr>
        <p:txBody>
          <a:bodyPr wrap="square" lIns="0" tIns="0" rIns="0" bIns="0" rtlCol="0" anchor="t"/>
          <a:lstStyle/>
          <a:p>
            <a:pPr indent="0" marL="0">
              <a:buNone/>
            </a:pPr>
            <a:r>
              <a:rPr lang="en-US" sz="1300" b="1" dirty="0">
                <a:solidFill>
                  <a:srgbClr val="FFFFFF"/>
                </a:solidFill>
                <a:latin typeface="Cambria" pitchFamily="34" charset="0"/>
                <a:ea typeface="Cambria" pitchFamily="34" charset="-122"/>
                <a:cs typeface="Cambria" pitchFamily="34" charset="-120"/>
              </a:rPr>
              <a:t>Trays and trolleys</a:t>
            </a:r>
            <a:endParaRPr lang="en-US" sz="1300" dirty="0"/>
          </a:p>
        </p:txBody>
      </p:sp>
      <p:sp>
        <p:nvSpPr>
          <p:cNvPr id="19" name="Text 17"/>
          <p:cNvSpPr/>
          <p:nvPr/>
        </p:nvSpPr>
        <p:spPr>
          <a:xfrm>
            <a:off x="6470752" y="3182112"/>
            <a:ext cx="2046656" cy="512064"/>
          </a:xfrm>
          <a:prstGeom prst="rect">
            <a:avLst/>
          </a:prstGeom>
          <a:noFill/>
          <a:ln/>
        </p:spPr>
        <p:txBody>
          <a:bodyPr wrap="square" lIns="0" tIns="0" rIns="0" bIns="0" rtlCol="0" anchor="t"/>
          <a:lstStyle/>
          <a:p>
            <a:pPr indent="0" marL="0">
              <a:lnSpc>
                <a:spcPct val="114000"/>
              </a:lnSpc>
              <a:buNone/>
            </a:pPr>
            <a:r>
              <a:rPr lang="en-US" sz="1050" dirty="0">
                <a:solidFill>
                  <a:srgbClr val="A9BBAB"/>
                </a:solidFill>
                <a:latin typeface="Calibri" pitchFamily="34" charset="0"/>
                <a:ea typeface="Calibri" pitchFamily="34" charset="-122"/>
                <a:cs typeface="Calibri" pitchFamily="34" charset="-120"/>
              </a:rPr>
              <a:t>Halves arranged on drying trays and loaded</a:t>
            </a:r>
            <a:endParaRPr lang="en-US" sz="1050" dirty="0"/>
          </a:p>
        </p:txBody>
      </p:sp>
      <p:sp>
        <p:nvSpPr>
          <p:cNvPr id="20" name="Shape 18"/>
          <p:cNvSpPr/>
          <p:nvPr/>
        </p:nvSpPr>
        <p:spPr>
          <a:xfrm>
            <a:off x="9029471" y="1883664"/>
            <a:ext cx="2522144" cy="1792224"/>
          </a:xfrm>
          <a:prstGeom prst="roundRect">
            <a:avLst>
              <a:gd name="adj" fmla="val 2551"/>
            </a:avLst>
          </a:prstGeom>
          <a:solidFill>
            <a:srgbClr val="1B6034"/>
          </a:solidFill>
          <a:ln w="12700">
            <a:solidFill>
              <a:srgbClr val="1B6034"/>
            </a:solidFill>
            <a:prstDash val="solid"/>
          </a:ln>
        </p:spPr>
      </p:sp>
      <p:sp>
        <p:nvSpPr>
          <p:cNvPr id="21" name="Shape 19"/>
          <p:cNvSpPr/>
          <p:nvPr/>
        </p:nvSpPr>
        <p:spPr>
          <a:xfrm>
            <a:off x="9267215" y="2103120"/>
            <a:ext cx="457200" cy="457200"/>
          </a:xfrm>
          <a:prstGeom prst="ellipse">
            <a:avLst/>
          </a:prstGeom>
          <a:solidFill>
            <a:srgbClr val="B8860F"/>
          </a:solidFill>
          <a:ln w="12700">
            <a:solidFill>
              <a:srgbClr val="B8860F"/>
            </a:solidFill>
            <a:prstDash val="solid"/>
          </a:ln>
        </p:spPr>
      </p:sp>
      <p:sp>
        <p:nvSpPr>
          <p:cNvPr id="22" name="Text 20"/>
          <p:cNvSpPr/>
          <p:nvPr/>
        </p:nvSpPr>
        <p:spPr>
          <a:xfrm>
            <a:off x="9267215" y="2103120"/>
            <a:ext cx="457200" cy="457200"/>
          </a:xfrm>
          <a:prstGeom prst="rect">
            <a:avLst/>
          </a:prstGeom>
          <a:noFill/>
          <a:ln/>
        </p:spPr>
        <p:txBody>
          <a:bodyPr wrap="square" lIns="0" tIns="0" rIns="0" bIns="0" rtlCol="0" anchor="ctr"/>
          <a:lstStyle/>
          <a:p>
            <a:pPr algn="ctr" indent="0" marL="0">
              <a:buNone/>
            </a:pPr>
            <a:r>
              <a:rPr lang="en-US" sz="1300" b="1" dirty="0">
                <a:solidFill>
                  <a:srgbClr val="FFFFFF"/>
                </a:solidFill>
                <a:latin typeface="Cambria" pitchFamily="34" charset="0"/>
                <a:ea typeface="Cambria" pitchFamily="34" charset="-122"/>
                <a:cs typeface="Cambria" pitchFamily="34" charset="-120"/>
              </a:rPr>
              <a:t>4</a:t>
            </a:r>
            <a:endParaRPr lang="en-US" sz="1300" dirty="0"/>
          </a:p>
        </p:txBody>
      </p:sp>
      <p:sp>
        <p:nvSpPr>
          <p:cNvPr id="23" name="Text 21"/>
          <p:cNvSpPr/>
          <p:nvPr/>
        </p:nvSpPr>
        <p:spPr>
          <a:xfrm>
            <a:off x="9267215" y="2670048"/>
            <a:ext cx="2046656" cy="512064"/>
          </a:xfrm>
          <a:prstGeom prst="rect">
            <a:avLst/>
          </a:prstGeom>
          <a:noFill/>
          <a:ln/>
        </p:spPr>
        <p:txBody>
          <a:bodyPr wrap="square" lIns="0" tIns="0" rIns="0" bIns="0" rtlCol="0" anchor="t"/>
          <a:lstStyle/>
          <a:p>
            <a:pPr indent="0" marL="0">
              <a:buNone/>
            </a:pPr>
            <a:r>
              <a:rPr lang="en-US" sz="1300" b="1" dirty="0">
                <a:solidFill>
                  <a:srgbClr val="FFFFFF"/>
                </a:solidFill>
                <a:latin typeface="Cambria" pitchFamily="34" charset="0"/>
                <a:ea typeface="Cambria" pitchFamily="34" charset="-122"/>
                <a:cs typeface="Cambria" pitchFamily="34" charset="-120"/>
              </a:rPr>
              <a:t>High-pressure wash</a:t>
            </a:r>
            <a:endParaRPr lang="en-US" sz="1300" dirty="0"/>
          </a:p>
        </p:txBody>
      </p:sp>
      <p:sp>
        <p:nvSpPr>
          <p:cNvPr id="24" name="Text 22"/>
          <p:cNvSpPr/>
          <p:nvPr/>
        </p:nvSpPr>
        <p:spPr>
          <a:xfrm>
            <a:off x="9267215" y="3182112"/>
            <a:ext cx="2046656" cy="512064"/>
          </a:xfrm>
          <a:prstGeom prst="rect">
            <a:avLst/>
          </a:prstGeom>
          <a:noFill/>
          <a:ln/>
        </p:spPr>
        <p:txBody>
          <a:bodyPr wrap="square" lIns="0" tIns="0" rIns="0" bIns="0" rtlCol="0" anchor="t"/>
          <a:lstStyle/>
          <a:p>
            <a:pPr indent="0" marL="0">
              <a:lnSpc>
                <a:spcPct val="114000"/>
              </a:lnSpc>
              <a:buNone/>
            </a:pPr>
            <a:r>
              <a:rPr lang="en-US" sz="1050" dirty="0">
                <a:solidFill>
                  <a:srgbClr val="A9BBAB"/>
                </a:solidFill>
                <a:latin typeface="Calibri" pitchFamily="34" charset="0"/>
                <a:ea typeface="Calibri" pitchFamily="34" charset="-122"/>
                <a:cs typeface="Calibri" pitchFamily="34" charset="-120"/>
              </a:rPr>
              <a:t>Water spray removes dust and impurities</a:t>
            </a:r>
            <a:endParaRPr lang="en-US" sz="1050" dirty="0"/>
          </a:p>
        </p:txBody>
      </p:sp>
      <p:sp>
        <p:nvSpPr>
          <p:cNvPr id="25" name="Shape 23"/>
          <p:cNvSpPr/>
          <p:nvPr/>
        </p:nvSpPr>
        <p:spPr>
          <a:xfrm>
            <a:off x="640080" y="3968496"/>
            <a:ext cx="2522144" cy="1792224"/>
          </a:xfrm>
          <a:prstGeom prst="roundRect">
            <a:avLst>
              <a:gd name="adj" fmla="val 2551"/>
            </a:avLst>
          </a:prstGeom>
          <a:solidFill>
            <a:srgbClr val="1B6034"/>
          </a:solidFill>
          <a:ln w="12700">
            <a:solidFill>
              <a:srgbClr val="1B6034"/>
            </a:solidFill>
            <a:prstDash val="solid"/>
          </a:ln>
        </p:spPr>
      </p:sp>
      <p:sp>
        <p:nvSpPr>
          <p:cNvPr id="26" name="Shape 24"/>
          <p:cNvSpPr/>
          <p:nvPr/>
        </p:nvSpPr>
        <p:spPr>
          <a:xfrm>
            <a:off x="877824" y="4187952"/>
            <a:ext cx="457200" cy="457200"/>
          </a:xfrm>
          <a:prstGeom prst="ellipse">
            <a:avLst/>
          </a:prstGeom>
          <a:solidFill>
            <a:srgbClr val="B8860F"/>
          </a:solidFill>
          <a:ln w="12700">
            <a:solidFill>
              <a:srgbClr val="B8860F"/>
            </a:solidFill>
            <a:prstDash val="solid"/>
          </a:ln>
        </p:spPr>
      </p:sp>
      <p:sp>
        <p:nvSpPr>
          <p:cNvPr id="27" name="Text 25"/>
          <p:cNvSpPr/>
          <p:nvPr/>
        </p:nvSpPr>
        <p:spPr>
          <a:xfrm>
            <a:off x="877824" y="4187952"/>
            <a:ext cx="457200" cy="457200"/>
          </a:xfrm>
          <a:prstGeom prst="rect">
            <a:avLst/>
          </a:prstGeom>
          <a:noFill/>
          <a:ln/>
        </p:spPr>
        <p:txBody>
          <a:bodyPr wrap="square" lIns="0" tIns="0" rIns="0" bIns="0" rtlCol="0" anchor="ctr"/>
          <a:lstStyle/>
          <a:p>
            <a:pPr algn="ctr" indent="0" marL="0">
              <a:buNone/>
            </a:pPr>
            <a:r>
              <a:rPr lang="en-US" sz="1300" b="1" dirty="0">
                <a:solidFill>
                  <a:srgbClr val="FFFFFF"/>
                </a:solidFill>
                <a:latin typeface="Cambria" pitchFamily="34" charset="0"/>
                <a:ea typeface="Cambria" pitchFamily="34" charset="-122"/>
                <a:cs typeface="Cambria" pitchFamily="34" charset="-120"/>
              </a:rPr>
              <a:t>5</a:t>
            </a:r>
            <a:endParaRPr lang="en-US" sz="1300" dirty="0"/>
          </a:p>
        </p:txBody>
      </p:sp>
      <p:sp>
        <p:nvSpPr>
          <p:cNvPr id="28" name="Text 26"/>
          <p:cNvSpPr/>
          <p:nvPr/>
        </p:nvSpPr>
        <p:spPr>
          <a:xfrm>
            <a:off x="877824" y="4754880"/>
            <a:ext cx="2046656" cy="512064"/>
          </a:xfrm>
          <a:prstGeom prst="rect">
            <a:avLst/>
          </a:prstGeom>
          <a:noFill/>
          <a:ln/>
        </p:spPr>
        <p:txBody>
          <a:bodyPr wrap="square" lIns="0" tIns="0" rIns="0" bIns="0" rtlCol="0" anchor="t"/>
          <a:lstStyle/>
          <a:p>
            <a:pPr indent="0" marL="0">
              <a:buNone/>
            </a:pPr>
            <a:r>
              <a:rPr lang="en-US" sz="1300" b="1" dirty="0">
                <a:solidFill>
                  <a:srgbClr val="FFFFFF"/>
                </a:solidFill>
                <a:latin typeface="Cambria" pitchFamily="34" charset="0"/>
                <a:ea typeface="Cambria" pitchFamily="34" charset="-122"/>
                <a:cs typeface="Cambria" pitchFamily="34" charset="-120"/>
              </a:rPr>
              <a:t>Infrared dehydration</a:t>
            </a:r>
            <a:endParaRPr lang="en-US" sz="1300" dirty="0"/>
          </a:p>
        </p:txBody>
      </p:sp>
      <p:sp>
        <p:nvSpPr>
          <p:cNvPr id="29" name="Text 27"/>
          <p:cNvSpPr/>
          <p:nvPr/>
        </p:nvSpPr>
        <p:spPr>
          <a:xfrm>
            <a:off x="877824" y="5266944"/>
            <a:ext cx="2046656" cy="512064"/>
          </a:xfrm>
          <a:prstGeom prst="rect">
            <a:avLst/>
          </a:prstGeom>
          <a:noFill/>
          <a:ln/>
        </p:spPr>
        <p:txBody>
          <a:bodyPr wrap="square" lIns="0" tIns="0" rIns="0" bIns="0" rtlCol="0" anchor="t"/>
          <a:lstStyle/>
          <a:p>
            <a:pPr indent="0" marL="0">
              <a:lnSpc>
                <a:spcPct val="114000"/>
              </a:lnSpc>
              <a:buNone/>
            </a:pPr>
            <a:r>
              <a:rPr lang="en-US" sz="1050" dirty="0">
                <a:solidFill>
                  <a:srgbClr val="A9BBAB"/>
                </a:solidFill>
                <a:latin typeface="Calibri" pitchFamily="34" charset="0"/>
                <a:ea typeface="Calibri" pitchFamily="34" charset="-122"/>
                <a:cs typeface="Calibri" pitchFamily="34" charset="-120"/>
              </a:rPr>
              <a:t>10 tonnes per 12 hours, moisture below 10%</a:t>
            </a:r>
            <a:endParaRPr lang="en-US" sz="1050" dirty="0"/>
          </a:p>
        </p:txBody>
      </p:sp>
      <p:sp>
        <p:nvSpPr>
          <p:cNvPr id="30" name="Shape 28"/>
          <p:cNvSpPr/>
          <p:nvPr/>
        </p:nvSpPr>
        <p:spPr>
          <a:xfrm>
            <a:off x="3436544" y="3968496"/>
            <a:ext cx="2522144" cy="1792224"/>
          </a:xfrm>
          <a:prstGeom prst="roundRect">
            <a:avLst>
              <a:gd name="adj" fmla="val 2551"/>
            </a:avLst>
          </a:prstGeom>
          <a:solidFill>
            <a:srgbClr val="1B6034"/>
          </a:solidFill>
          <a:ln w="12700">
            <a:solidFill>
              <a:srgbClr val="1B6034"/>
            </a:solidFill>
            <a:prstDash val="solid"/>
          </a:ln>
        </p:spPr>
      </p:sp>
      <p:sp>
        <p:nvSpPr>
          <p:cNvPr id="31" name="Shape 29"/>
          <p:cNvSpPr/>
          <p:nvPr/>
        </p:nvSpPr>
        <p:spPr>
          <a:xfrm>
            <a:off x="3674288" y="4187952"/>
            <a:ext cx="457200" cy="457200"/>
          </a:xfrm>
          <a:prstGeom prst="ellipse">
            <a:avLst/>
          </a:prstGeom>
          <a:solidFill>
            <a:srgbClr val="B8860F"/>
          </a:solidFill>
          <a:ln w="12700">
            <a:solidFill>
              <a:srgbClr val="B8860F"/>
            </a:solidFill>
            <a:prstDash val="solid"/>
          </a:ln>
        </p:spPr>
      </p:sp>
      <p:sp>
        <p:nvSpPr>
          <p:cNvPr id="32" name="Text 30"/>
          <p:cNvSpPr/>
          <p:nvPr/>
        </p:nvSpPr>
        <p:spPr>
          <a:xfrm>
            <a:off x="3674288" y="4187952"/>
            <a:ext cx="457200" cy="457200"/>
          </a:xfrm>
          <a:prstGeom prst="rect">
            <a:avLst/>
          </a:prstGeom>
          <a:noFill/>
          <a:ln/>
        </p:spPr>
        <p:txBody>
          <a:bodyPr wrap="square" lIns="0" tIns="0" rIns="0" bIns="0" rtlCol="0" anchor="ctr"/>
          <a:lstStyle/>
          <a:p>
            <a:pPr algn="ctr" indent="0" marL="0">
              <a:buNone/>
            </a:pPr>
            <a:r>
              <a:rPr lang="en-US" sz="1300" b="1" dirty="0">
                <a:solidFill>
                  <a:srgbClr val="FFFFFF"/>
                </a:solidFill>
                <a:latin typeface="Cambria" pitchFamily="34" charset="0"/>
                <a:ea typeface="Cambria" pitchFamily="34" charset="-122"/>
                <a:cs typeface="Cambria" pitchFamily="34" charset="-120"/>
              </a:rPr>
              <a:t>6</a:t>
            </a:r>
            <a:endParaRPr lang="en-US" sz="1300" dirty="0"/>
          </a:p>
        </p:txBody>
      </p:sp>
      <p:sp>
        <p:nvSpPr>
          <p:cNvPr id="33" name="Text 31"/>
          <p:cNvSpPr/>
          <p:nvPr/>
        </p:nvSpPr>
        <p:spPr>
          <a:xfrm>
            <a:off x="3674288" y="4754880"/>
            <a:ext cx="2046656" cy="512064"/>
          </a:xfrm>
          <a:prstGeom prst="rect">
            <a:avLst/>
          </a:prstGeom>
          <a:noFill/>
          <a:ln/>
        </p:spPr>
        <p:txBody>
          <a:bodyPr wrap="square" lIns="0" tIns="0" rIns="0" bIns="0" rtlCol="0" anchor="t"/>
          <a:lstStyle/>
          <a:p>
            <a:pPr indent="0" marL="0">
              <a:buNone/>
            </a:pPr>
            <a:r>
              <a:rPr lang="en-US" sz="1300" b="1" dirty="0">
                <a:solidFill>
                  <a:srgbClr val="FFFFFF"/>
                </a:solidFill>
                <a:latin typeface="Cambria" pitchFamily="34" charset="0"/>
                <a:ea typeface="Cambria" pitchFamily="34" charset="-122"/>
                <a:cs typeface="Cambria" pitchFamily="34" charset="-120"/>
              </a:rPr>
              <a:t>Tray inspection</a:t>
            </a:r>
            <a:endParaRPr lang="en-US" sz="1300" dirty="0"/>
          </a:p>
        </p:txBody>
      </p:sp>
      <p:sp>
        <p:nvSpPr>
          <p:cNvPr id="34" name="Text 32"/>
          <p:cNvSpPr/>
          <p:nvPr/>
        </p:nvSpPr>
        <p:spPr>
          <a:xfrm>
            <a:off x="3674288" y="5266944"/>
            <a:ext cx="2046656" cy="512064"/>
          </a:xfrm>
          <a:prstGeom prst="rect">
            <a:avLst/>
          </a:prstGeom>
          <a:noFill/>
          <a:ln/>
        </p:spPr>
        <p:txBody>
          <a:bodyPr wrap="square" lIns="0" tIns="0" rIns="0" bIns="0" rtlCol="0" anchor="t"/>
          <a:lstStyle/>
          <a:p>
            <a:pPr indent="0" marL="0">
              <a:lnSpc>
                <a:spcPct val="114000"/>
              </a:lnSpc>
              <a:buNone/>
            </a:pPr>
            <a:r>
              <a:rPr lang="en-US" sz="1050" dirty="0">
                <a:solidFill>
                  <a:srgbClr val="A9BBAB"/>
                </a:solidFill>
                <a:latin typeface="Calibri" pitchFamily="34" charset="0"/>
                <a:ea typeface="Calibri" pitchFamily="34" charset="-122"/>
                <a:cs typeface="Calibri" pitchFamily="34" charset="-120"/>
              </a:rPr>
              <a:t>Every tray checked by trained staff and supervisors</a:t>
            </a:r>
            <a:endParaRPr lang="en-US" sz="1050" dirty="0"/>
          </a:p>
        </p:txBody>
      </p:sp>
      <p:sp>
        <p:nvSpPr>
          <p:cNvPr id="35" name="Shape 33"/>
          <p:cNvSpPr/>
          <p:nvPr/>
        </p:nvSpPr>
        <p:spPr>
          <a:xfrm>
            <a:off x="6233008" y="3968496"/>
            <a:ext cx="2522144" cy="1792224"/>
          </a:xfrm>
          <a:prstGeom prst="roundRect">
            <a:avLst>
              <a:gd name="adj" fmla="val 2551"/>
            </a:avLst>
          </a:prstGeom>
          <a:solidFill>
            <a:srgbClr val="1B6034"/>
          </a:solidFill>
          <a:ln w="12700">
            <a:solidFill>
              <a:srgbClr val="1B6034"/>
            </a:solidFill>
            <a:prstDash val="solid"/>
          </a:ln>
        </p:spPr>
      </p:sp>
      <p:sp>
        <p:nvSpPr>
          <p:cNvPr id="36" name="Shape 34"/>
          <p:cNvSpPr/>
          <p:nvPr/>
        </p:nvSpPr>
        <p:spPr>
          <a:xfrm>
            <a:off x="6470752" y="4187952"/>
            <a:ext cx="457200" cy="457200"/>
          </a:xfrm>
          <a:prstGeom prst="ellipse">
            <a:avLst/>
          </a:prstGeom>
          <a:solidFill>
            <a:srgbClr val="B8860F"/>
          </a:solidFill>
          <a:ln w="12700">
            <a:solidFill>
              <a:srgbClr val="B8860F"/>
            </a:solidFill>
            <a:prstDash val="solid"/>
          </a:ln>
        </p:spPr>
      </p:sp>
      <p:sp>
        <p:nvSpPr>
          <p:cNvPr id="37" name="Text 35"/>
          <p:cNvSpPr/>
          <p:nvPr/>
        </p:nvSpPr>
        <p:spPr>
          <a:xfrm>
            <a:off x="6470752" y="4187952"/>
            <a:ext cx="457200" cy="457200"/>
          </a:xfrm>
          <a:prstGeom prst="rect">
            <a:avLst/>
          </a:prstGeom>
          <a:noFill/>
          <a:ln/>
        </p:spPr>
        <p:txBody>
          <a:bodyPr wrap="square" lIns="0" tIns="0" rIns="0" bIns="0" rtlCol="0" anchor="ctr"/>
          <a:lstStyle/>
          <a:p>
            <a:pPr algn="ctr" indent="0" marL="0">
              <a:buNone/>
            </a:pPr>
            <a:r>
              <a:rPr lang="en-US" sz="1300" b="1" dirty="0">
                <a:solidFill>
                  <a:srgbClr val="FFFFFF"/>
                </a:solidFill>
                <a:latin typeface="Cambria" pitchFamily="34" charset="0"/>
                <a:ea typeface="Cambria" pitchFamily="34" charset="-122"/>
                <a:cs typeface="Cambria" pitchFamily="34" charset="-120"/>
              </a:rPr>
              <a:t>7</a:t>
            </a:r>
            <a:endParaRPr lang="en-US" sz="1300" dirty="0"/>
          </a:p>
        </p:txBody>
      </p:sp>
      <p:sp>
        <p:nvSpPr>
          <p:cNvPr id="38" name="Text 36"/>
          <p:cNvSpPr/>
          <p:nvPr/>
        </p:nvSpPr>
        <p:spPr>
          <a:xfrm>
            <a:off x="6470752" y="4754880"/>
            <a:ext cx="2046656" cy="512064"/>
          </a:xfrm>
          <a:prstGeom prst="rect">
            <a:avLst/>
          </a:prstGeom>
          <a:noFill/>
          <a:ln/>
        </p:spPr>
        <p:txBody>
          <a:bodyPr wrap="square" lIns="0" tIns="0" rIns="0" bIns="0" rtlCol="0" anchor="t"/>
          <a:lstStyle/>
          <a:p>
            <a:pPr indent="0" marL="0">
              <a:buNone/>
            </a:pPr>
            <a:r>
              <a:rPr lang="en-US" sz="1300" b="1" dirty="0">
                <a:solidFill>
                  <a:srgbClr val="FFFFFF"/>
                </a:solidFill>
                <a:latin typeface="Cambria" pitchFamily="34" charset="0"/>
                <a:ea typeface="Cambria" pitchFamily="34" charset="-122"/>
                <a:cs typeface="Cambria" pitchFamily="34" charset="-120"/>
              </a:rPr>
              <a:t>Scooping and pulverising</a:t>
            </a:r>
            <a:endParaRPr lang="en-US" sz="1300" dirty="0"/>
          </a:p>
        </p:txBody>
      </p:sp>
      <p:sp>
        <p:nvSpPr>
          <p:cNvPr id="39" name="Text 37"/>
          <p:cNvSpPr/>
          <p:nvPr/>
        </p:nvSpPr>
        <p:spPr>
          <a:xfrm>
            <a:off x="6470752" y="5266944"/>
            <a:ext cx="2046656" cy="512064"/>
          </a:xfrm>
          <a:prstGeom prst="rect">
            <a:avLst/>
          </a:prstGeom>
          <a:noFill/>
          <a:ln/>
        </p:spPr>
        <p:txBody>
          <a:bodyPr wrap="square" lIns="0" tIns="0" rIns="0" bIns="0" rtlCol="0" anchor="t"/>
          <a:lstStyle/>
          <a:p>
            <a:pPr indent="0" marL="0">
              <a:lnSpc>
                <a:spcPct val="114000"/>
              </a:lnSpc>
              <a:buNone/>
            </a:pPr>
            <a:r>
              <a:rPr lang="en-US" sz="1050" dirty="0">
                <a:solidFill>
                  <a:srgbClr val="A9BBAB"/>
                </a:solidFill>
                <a:latin typeface="Calibri" pitchFamily="34" charset="0"/>
                <a:ea typeface="Calibri" pitchFamily="34" charset="-122"/>
                <a:cs typeface="Calibri" pitchFamily="34" charset="-120"/>
              </a:rPr>
              <a:t>Kernel lifted from shell, then reduced for pressing</a:t>
            </a:r>
            <a:endParaRPr lang="en-US" sz="1050" dirty="0"/>
          </a:p>
        </p:txBody>
      </p:sp>
      <p:sp>
        <p:nvSpPr>
          <p:cNvPr id="40" name="Shape 38"/>
          <p:cNvSpPr/>
          <p:nvPr/>
        </p:nvSpPr>
        <p:spPr>
          <a:xfrm>
            <a:off x="9029471" y="3968496"/>
            <a:ext cx="2522144" cy="1792224"/>
          </a:xfrm>
          <a:prstGeom prst="roundRect">
            <a:avLst>
              <a:gd name="adj" fmla="val 2551"/>
            </a:avLst>
          </a:prstGeom>
          <a:solidFill>
            <a:srgbClr val="1B6034"/>
          </a:solidFill>
          <a:ln w="12700">
            <a:solidFill>
              <a:srgbClr val="1B6034"/>
            </a:solidFill>
            <a:prstDash val="solid"/>
          </a:ln>
        </p:spPr>
      </p:sp>
      <p:sp>
        <p:nvSpPr>
          <p:cNvPr id="41" name="Shape 39"/>
          <p:cNvSpPr/>
          <p:nvPr/>
        </p:nvSpPr>
        <p:spPr>
          <a:xfrm>
            <a:off x="9267215" y="4187952"/>
            <a:ext cx="457200" cy="457200"/>
          </a:xfrm>
          <a:prstGeom prst="ellipse">
            <a:avLst/>
          </a:prstGeom>
          <a:solidFill>
            <a:srgbClr val="B8860F"/>
          </a:solidFill>
          <a:ln w="12700">
            <a:solidFill>
              <a:srgbClr val="B8860F"/>
            </a:solidFill>
            <a:prstDash val="solid"/>
          </a:ln>
        </p:spPr>
      </p:sp>
      <p:sp>
        <p:nvSpPr>
          <p:cNvPr id="42" name="Text 40"/>
          <p:cNvSpPr/>
          <p:nvPr/>
        </p:nvSpPr>
        <p:spPr>
          <a:xfrm>
            <a:off x="9267215" y="4187952"/>
            <a:ext cx="457200" cy="457200"/>
          </a:xfrm>
          <a:prstGeom prst="rect">
            <a:avLst/>
          </a:prstGeom>
          <a:noFill/>
          <a:ln/>
        </p:spPr>
        <p:txBody>
          <a:bodyPr wrap="square" lIns="0" tIns="0" rIns="0" bIns="0" rtlCol="0" anchor="ctr"/>
          <a:lstStyle/>
          <a:p>
            <a:pPr algn="ctr" indent="0" marL="0">
              <a:buNone/>
            </a:pPr>
            <a:r>
              <a:rPr lang="en-US" sz="1300" b="1" dirty="0">
                <a:solidFill>
                  <a:srgbClr val="FFFFFF"/>
                </a:solidFill>
                <a:latin typeface="Cambria" pitchFamily="34" charset="0"/>
                <a:ea typeface="Cambria" pitchFamily="34" charset="-122"/>
                <a:cs typeface="Cambria" pitchFamily="34" charset="-120"/>
              </a:rPr>
              <a:t>8</a:t>
            </a:r>
            <a:endParaRPr lang="en-US" sz="1300" dirty="0"/>
          </a:p>
        </p:txBody>
      </p:sp>
      <p:sp>
        <p:nvSpPr>
          <p:cNvPr id="43" name="Text 41"/>
          <p:cNvSpPr/>
          <p:nvPr/>
        </p:nvSpPr>
        <p:spPr>
          <a:xfrm>
            <a:off x="9267215" y="4754880"/>
            <a:ext cx="2046656" cy="512064"/>
          </a:xfrm>
          <a:prstGeom prst="rect">
            <a:avLst/>
          </a:prstGeom>
          <a:noFill/>
          <a:ln/>
        </p:spPr>
        <p:txBody>
          <a:bodyPr wrap="square" lIns="0" tIns="0" rIns="0" bIns="0" rtlCol="0" anchor="t"/>
          <a:lstStyle/>
          <a:p>
            <a:pPr indent="0" marL="0">
              <a:buNone/>
            </a:pPr>
            <a:r>
              <a:rPr lang="en-US" sz="1300" b="1" dirty="0">
                <a:solidFill>
                  <a:srgbClr val="FFFFFF"/>
                </a:solidFill>
                <a:latin typeface="Cambria" pitchFamily="34" charset="0"/>
                <a:ea typeface="Cambria" pitchFamily="34" charset="-122"/>
                <a:cs typeface="Cambria" pitchFamily="34" charset="-120"/>
              </a:rPr>
              <a:t>Expelling and filtration</a:t>
            </a:r>
            <a:endParaRPr lang="en-US" sz="1300" dirty="0"/>
          </a:p>
        </p:txBody>
      </p:sp>
      <p:sp>
        <p:nvSpPr>
          <p:cNvPr id="44" name="Text 42"/>
          <p:cNvSpPr/>
          <p:nvPr/>
        </p:nvSpPr>
        <p:spPr>
          <a:xfrm>
            <a:off x="9267215" y="5266944"/>
            <a:ext cx="2046656" cy="512064"/>
          </a:xfrm>
          <a:prstGeom prst="rect">
            <a:avLst/>
          </a:prstGeom>
          <a:noFill/>
          <a:ln/>
        </p:spPr>
        <p:txBody>
          <a:bodyPr wrap="square" lIns="0" tIns="0" rIns="0" bIns="0" rtlCol="0" anchor="t"/>
          <a:lstStyle/>
          <a:p>
            <a:pPr indent="0" marL="0">
              <a:lnSpc>
                <a:spcPct val="114000"/>
              </a:lnSpc>
              <a:buNone/>
            </a:pPr>
            <a:r>
              <a:rPr lang="en-US" sz="1050" dirty="0">
                <a:solidFill>
                  <a:srgbClr val="A9BBAB"/>
                </a:solidFill>
                <a:latin typeface="Calibri" pitchFamily="34" charset="0"/>
                <a:ea typeface="Calibri" pitchFamily="34" charset="-122"/>
                <a:cs typeface="Calibri" pitchFamily="34" charset="-120"/>
              </a:rPr>
              <a:t>Mechanical press, then advanced filtration</a:t>
            </a:r>
            <a:endParaRPr lang="en-US" sz="1050" dirty="0"/>
          </a:p>
        </p:txBody>
      </p:sp>
      <p:sp>
        <p:nvSpPr>
          <p:cNvPr id="45" name="Text 43"/>
          <p:cNvSpPr/>
          <p:nvPr/>
        </p:nvSpPr>
        <p:spPr>
          <a:xfrm>
            <a:off x="640080" y="5888736"/>
            <a:ext cx="10911535" cy="310896"/>
          </a:xfrm>
          <a:prstGeom prst="rect">
            <a:avLst/>
          </a:prstGeom>
          <a:noFill/>
          <a:ln/>
        </p:spPr>
        <p:txBody>
          <a:bodyPr wrap="square" lIns="0" tIns="0" rIns="0" bIns="0" rtlCol="0" anchor="ctr"/>
          <a:lstStyle/>
          <a:p>
            <a:pPr indent="0" marL="0">
              <a:buNone/>
            </a:pPr>
            <a:r>
              <a:rPr lang="en-US" sz="1100" i="1" dirty="0">
                <a:solidFill>
                  <a:srgbClr val="E3C171"/>
                </a:solidFill>
                <a:latin typeface="Calibri" pitchFamily="34" charset="0"/>
                <a:ea typeface="Calibri" pitchFamily="34" charset="-122"/>
                <a:cs typeface="Calibri" pitchFamily="34" charset="-120"/>
              </a:rPr>
              <a:t>No sulfur or any other chemical is used at any stage. The dehydration method itself is what makes chemical-free processing possible.</a:t>
            </a:r>
            <a:endParaRPr lang="en-US" sz="1100" dirty="0"/>
          </a:p>
        </p:txBody>
      </p:sp>
      <p:sp>
        <p:nvSpPr>
          <p:cNvPr id="46" name="Text 44"/>
          <p:cNvSpPr/>
          <p:nvPr/>
        </p:nvSpPr>
        <p:spPr>
          <a:xfrm>
            <a:off x="640080" y="6382512"/>
            <a:ext cx="5486400" cy="237744"/>
          </a:xfrm>
          <a:prstGeom prst="rect">
            <a:avLst/>
          </a:prstGeom>
          <a:noFill/>
          <a:ln/>
        </p:spPr>
        <p:txBody>
          <a:bodyPr wrap="square" lIns="0" tIns="0" rIns="0" bIns="0" rtlCol="0" anchor="ctr"/>
          <a:lstStyle/>
          <a:p>
            <a:pPr indent="0" marL="0">
              <a:buNone/>
            </a:pPr>
            <a:r>
              <a:rPr lang="en-US" sz="900" spc="60" kern="0" dirty="0">
                <a:solidFill>
                  <a:srgbClr val="A9BBAB"/>
                </a:solidFill>
                <a:latin typeface="Calibri" pitchFamily="34" charset="0"/>
                <a:ea typeface="Calibri" pitchFamily="34" charset="-122"/>
                <a:cs typeface="Calibri" pitchFamily="34" charset="-120"/>
              </a:rPr>
              <a:t>Coco Palms Skylanes and Allied Products</a:t>
            </a:r>
            <a:endParaRPr lang="en-US" sz="900" dirty="0"/>
          </a:p>
        </p:txBody>
      </p:sp>
      <p:sp>
        <p:nvSpPr>
          <p:cNvPr id="47" name="Text 45"/>
          <p:cNvSpPr/>
          <p:nvPr/>
        </p:nvSpPr>
        <p:spPr>
          <a:xfrm>
            <a:off x="10637215" y="6382512"/>
            <a:ext cx="914400" cy="237744"/>
          </a:xfrm>
          <a:prstGeom prst="rect">
            <a:avLst/>
          </a:prstGeom>
          <a:noFill/>
          <a:ln/>
        </p:spPr>
        <p:txBody>
          <a:bodyPr wrap="square" lIns="0" tIns="0" rIns="0" bIns="0" rtlCol="0" anchor="ctr"/>
          <a:lstStyle/>
          <a:p>
            <a:pPr algn="r" indent="0" marL="0">
              <a:buNone/>
            </a:pPr>
            <a:r>
              <a:rPr lang="en-US" sz="900" dirty="0">
                <a:solidFill>
                  <a:srgbClr val="A9BBAB"/>
                </a:solidFill>
                <a:latin typeface="Calibri" pitchFamily="34" charset="0"/>
                <a:ea typeface="Calibri" pitchFamily="34" charset="-122"/>
                <a:cs typeface="Calibri" pitchFamily="34" charset="-120"/>
              </a:rPr>
              <a:t>4</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FFFFF"/>
          </a:solidFill>
          <a:ln w="12700">
            <a:solidFill>
              <a:srgbClr val="FFFFFF"/>
            </a:solidFill>
            <a:prstDash val="solid"/>
          </a:ln>
        </p:spPr>
      </p:sp>
      <p:pic>
        <p:nvPicPr>
          <p:cNvPr id="3" name="Image 0" descr="C:\Users\affla\OneDrive\Documents\Saas\Claude projects\COCOPALM\build\img\intake.jpg">    </p:cNvPr>
          <p:cNvPicPr>
            <a:picLocks noChangeAspect="1"/>
          </p:cNvPicPr>
          <p:nvPr/>
        </p:nvPicPr>
        <p:blipFill>
          <a:blip r:embed="rId1"/>
          <a:srcRect l="0" r="0" t="0" b="0"/>
          <a:stretch/>
        </p:blipFill>
        <p:spPr>
          <a:xfrm>
            <a:off x="0" y="0"/>
            <a:ext cx="5541264" cy="6858000"/>
          </a:xfrm>
          <a:prstGeom prst="rect">
            <a:avLst/>
          </a:prstGeom>
        </p:spPr>
      </p:pic>
      <p:sp>
        <p:nvSpPr>
          <p:cNvPr id="4" name="Text 1"/>
          <p:cNvSpPr/>
          <p:nvPr/>
        </p:nvSpPr>
        <p:spPr>
          <a:xfrm>
            <a:off x="6108192" y="1024128"/>
            <a:ext cx="5443423" cy="256032"/>
          </a:xfrm>
          <a:prstGeom prst="rect">
            <a:avLst/>
          </a:prstGeom>
          <a:noFill/>
          <a:ln/>
        </p:spPr>
        <p:txBody>
          <a:bodyPr wrap="square" lIns="0" tIns="0" rIns="0" bIns="0" rtlCol="0" anchor="ctr"/>
          <a:lstStyle/>
          <a:p>
            <a:pPr indent="0" marL="0">
              <a:buNone/>
            </a:pPr>
            <a:r>
              <a:rPr lang="en-US" sz="1150" b="1" spc="240" kern="0" dirty="0">
                <a:solidFill>
                  <a:srgbClr val="B8860F"/>
                </a:solidFill>
                <a:latin typeface="Calibri" pitchFamily="34" charset="0"/>
                <a:ea typeface="Calibri" pitchFamily="34" charset="-122"/>
                <a:cs typeface="Calibri" pitchFamily="34" charset="-120"/>
              </a:rPr>
              <a:t>STEP 01</a:t>
            </a:r>
            <a:endParaRPr lang="en-US" sz="1150" dirty="0"/>
          </a:p>
        </p:txBody>
      </p:sp>
      <p:sp>
        <p:nvSpPr>
          <p:cNvPr id="5" name="Text 2"/>
          <p:cNvSpPr/>
          <p:nvPr/>
        </p:nvSpPr>
        <p:spPr>
          <a:xfrm>
            <a:off x="6108192" y="1335024"/>
            <a:ext cx="5443423" cy="749808"/>
          </a:xfrm>
          <a:prstGeom prst="rect">
            <a:avLst/>
          </a:prstGeom>
          <a:noFill/>
          <a:ln/>
        </p:spPr>
        <p:txBody>
          <a:bodyPr wrap="square" lIns="0" tIns="0" rIns="0" bIns="0" rtlCol="0" anchor="t"/>
          <a:lstStyle/>
          <a:p>
            <a:pPr indent="0" marL="0">
              <a:buNone/>
            </a:pPr>
            <a:r>
              <a:rPr lang="en-US" sz="3000" b="1" dirty="0">
                <a:solidFill>
                  <a:srgbClr val="14532D"/>
                </a:solidFill>
                <a:latin typeface="Cambria" pitchFamily="34" charset="0"/>
                <a:ea typeface="Cambria" pitchFamily="34" charset="-122"/>
                <a:cs typeface="Cambria" pitchFamily="34" charset="-120"/>
              </a:rPr>
              <a:t>Sourcing and intake</a:t>
            </a:r>
            <a:endParaRPr lang="en-US" sz="3000" dirty="0"/>
          </a:p>
        </p:txBody>
      </p:sp>
      <p:sp>
        <p:nvSpPr>
          <p:cNvPr id="6" name="Text 3"/>
          <p:cNvSpPr/>
          <p:nvPr/>
        </p:nvSpPr>
        <p:spPr>
          <a:xfrm>
            <a:off x="6108192" y="2231136"/>
            <a:ext cx="5443423" cy="1371600"/>
          </a:xfrm>
          <a:prstGeom prst="rect">
            <a:avLst/>
          </a:prstGeom>
          <a:noFill/>
          <a:ln/>
        </p:spPr>
        <p:txBody>
          <a:bodyPr wrap="square" lIns="0" tIns="0" rIns="0" bIns="0" rtlCol="0" anchor="t"/>
          <a:lstStyle/>
          <a:p>
            <a:pPr indent="0" marL="0">
              <a:lnSpc>
                <a:spcPct val="128000"/>
              </a:lnSpc>
              <a:buNone/>
            </a:pPr>
            <a:r>
              <a:rPr lang="en-US" sz="1300" dirty="0">
                <a:solidFill>
                  <a:srgbClr val="232C24"/>
                </a:solidFill>
                <a:latin typeface="Calibri" pitchFamily="34" charset="0"/>
                <a:ea typeface="Calibri" pitchFamily="34" charset="-122"/>
                <a:cs typeface="Calibri" pitchFamily="34" charset="-120"/>
              </a:rPr>
              <a:t>Nuts arrive at the plant by tipper and are offloaded directly onto our spacious raw material yard by our own uniformed crew. From there they are fed into an automated conveyor cutting system that halves every nut evenly, so the nut is opened within the same site it was received on.</a:t>
            </a:r>
            <a:endParaRPr lang="en-US" sz="1300" dirty="0"/>
          </a:p>
        </p:txBody>
      </p:sp>
      <p:sp>
        <p:nvSpPr>
          <p:cNvPr id="7" name="Text 4"/>
          <p:cNvSpPr/>
          <p:nvPr/>
        </p:nvSpPr>
        <p:spPr>
          <a:xfrm>
            <a:off x="6108192" y="3767328"/>
            <a:ext cx="2011680" cy="274320"/>
          </a:xfrm>
          <a:prstGeom prst="rect">
            <a:avLst/>
          </a:prstGeom>
          <a:noFill/>
          <a:ln/>
        </p:spPr>
        <p:txBody>
          <a:bodyPr wrap="square" lIns="0" tIns="0" rIns="0" bIns="0" rtlCol="0" anchor="ctr"/>
          <a:lstStyle/>
          <a:p>
            <a:pPr indent="0" marL="0">
              <a:buNone/>
            </a:pPr>
            <a:r>
              <a:rPr lang="en-US" sz="1150" b="1" spc="80" kern="0" dirty="0">
                <a:solidFill>
                  <a:srgbClr val="6E7A6F"/>
                </a:solidFill>
                <a:latin typeface="Calibri" pitchFamily="34" charset="0"/>
                <a:ea typeface="Calibri" pitchFamily="34" charset="-122"/>
                <a:cs typeface="Calibri" pitchFamily="34" charset="-120"/>
              </a:rPr>
              <a:t>Sourcing region</a:t>
            </a:r>
            <a:endParaRPr lang="en-US" sz="1150" dirty="0"/>
          </a:p>
        </p:txBody>
      </p:sp>
      <p:sp>
        <p:nvSpPr>
          <p:cNvPr id="8" name="Text 5"/>
          <p:cNvSpPr/>
          <p:nvPr/>
        </p:nvSpPr>
        <p:spPr>
          <a:xfrm>
            <a:off x="8119872" y="3767328"/>
            <a:ext cx="3431743" cy="274320"/>
          </a:xfrm>
          <a:prstGeom prst="rect">
            <a:avLst/>
          </a:prstGeom>
          <a:noFill/>
          <a:ln/>
        </p:spPr>
        <p:txBody>
          <a:bodyPr wrap="square" lIns="0" tIns="0" rIns="0" bIns="0" rtlCol="0" anchor="ctr"/>
          <a:lstStyle/>
          <a:p>
            <a:pPr indent="0" marL="0">
              <a:buNone/>
            </a:pPr>
            <a:r>
              <a:rPr lang="en-US" sz="1250" dirty="0">
                <a:solidFill>
                  <a:srgbClr val="232C24"/>
                </a:solidFill>
                <a:latin typeface="Calibri" pitchFamily="34" charset="0"/>
                <a:ea typeface="Calibri" pitchFamily="34" charset="-122"/>
                <a:cs typeface="Calibri" pitchFamily="34" charset="-120"/>
              </a:rPr>
              <a:t>Delta region, Tamil Nadu</a:t>
            </a:r>
            <a:endParaRPr lang="en-US" sz="1250" dirty="0"/>
          </a:p>
        </p:txBody>
      </p:sp>
      <p:sp>
        <p:nvSpPr>
          <p:cNvPr id="9" name="Text 6"/>
          <p:cNvSpPr/>
          <p:nvPr/>
        </p:nvSpPr>
        <p:spPr>
          <a:xfrm>
            <a:off x="6108192" y="4187952"/>
            <a:ext cx="2011680" cy="274320"/>
          </a:xfrm>
          <a:prstGeom prst="rect">
            <a:avLst/>
          </a:prstGeom>
          <a:noFill/>
          <a:ln/>
        </p:spPr>
        <p:txBody>
          <a:bodyPr wrap="square" lIns="0" tIns="0" rIns="0" bIns="0" rtlCol="0" anchor="ctr"/>
          <a:lstStyle/>
          <a:p>
            <a:pPr indent="0" marL="0">
              <a:buNone/>
            </a:pPr>
            <a:r>
              <a:rPr lang="en-US" sz="1150" b="1" spc="80" kern="0" dirty="0">
                <a:solidFill>
                  <a:srgbClr val="6E7A6F"/>
                </a:solidFill>
                <a:latin typeface="Calibri" pitchFamily="34" charset="0"/>
                <a:ea typeface="Calibri" pitchFamily="34" charset="-122"/>
                <a:cs typeface="Calibri" pitchFamily="34" charset="-120"/>
              </a:rPr>
              <a:t>Procurement</a:t>
            </a:r>
            <a:endParaRPr lang="en-US" sz="1150" dirty="0"/>
          </a:p>
        </p:txBody>
      </p:sp>
      <p:sp>
        <p:nvSpPr>
          <p:cNvPr id="10" name="Text 7"/>
          <p:cNvSpPr/>
          <p:nvPr/>
        </p:nvSpPr>
        <p:spPr>
          <a:xfrm>
            <a:off x="8119872" y="4187952"/>
            <a:ext cx="3431743" cy="274320"/>
          </a:xfrm>
          <a:prstGeom prst="rect">
            <a:avLst/>
          </a:prstGeom>
          <a:noFill/>
          <a:ln/>
        </p:spPr>
        <p:txBody>
          <a:bodyPr wrap="square" lIns="0" tIns="0" rIns="0" bIns="0" rtlCol="0" anchor="ctr"/>
          <a:lstStyle/>
          <a:p>
            <a:pPr indent="0" marL="0">
              <a:buNone/>
            </a:pPr>
            <a:r>
              <a:rPr lang="en-US" sz="1250" dirty="0">
                <a:solidFill>
                  <a:srgbClr val="232C24"/>
                </a:solidFill>
                <a:latin typeface="Calibri" pitchFamily="34" charset="0"/>
                <a:ea typeface="Calibri" pitchFamily="34" charset="-122"/>
                <a:cs typeface="Calibri" pitchFamily="34" charset="-120"/>
              </a:rPr>
              <a:t>Direct from growers and regional mandis</a:t>
            </a:r>
            <a:endParaRPr lang="en-US" sz="1250" dirty="0"/>
          </a:p>
        </p:txBody>
      </p:sp>
      <p:sp>
        <p:nvSpPr>
          <p:cNvPr id="11" name="Text 8"/>
          <p:cNvSpPr/>
          <p:nvPr/>
        </p:nvSpPr>
        <p:spPr>
          <a:xfrm>
            <a:off x="6108192" y="4608576"/>
            <a:ext cx="2011680" cy="274320"/>
          </a:xfrm>
          <a:prstGeom prst="rect">
            <a:avLst/>
          </a:prstGeom>
          <a:noFill/>
          <a:ln/>
        </p:spPr>
        <p:txBody>
          <a:bodyPr wrap="square" lIns="0" tIns="0" rIns="0" bIns="0" rtlCol="0" anchor="ctr"/>
          <a:lstStyle/>
          <a:p>
            <a:pPr indent="0" marL="0">
              <a:buNone/>
            </a:pPr>
            <a:r>
              <a:rPr lang="en-US" sz="1150" b="1" spc="80" kern="0" dirty="0">
                <a:solidFill>
                  <a:srgbClr val="6E7A6F"/>
                </a:solidFill>
                <a:latin typeface="Calibri" pitchFamily="34" charset="0"/>
                <a:ea typeface="Calibri" pitchFamily="34" charset="-122"/>
                <a:cs typeface="Calibri" pitchFamily="34" charset="-120"/>
              </a:rPr>
              <a:t>Intake per day</a:t>
            </a:r>
            <a:endParaRPr lang="en-US" sz="1150" dirty="0"/>
          </a:p>
        </p:txBody>
      </p:sp>
      <p:sp>
        <p:nvSpPr>
          <p:cNvPr id="12" name="Text 9"/>
          <p:cNvSpPr/>
          <p:nvPr/>
        </p:nvSpPr>
        <p:spPr>
          <a:xfrm>
            <a:off x="8119872" y="4608576"/>
            <a:ext cx="3431743" cy="274320"/>
          </a:xfrm>
          <a:prstGeom prst="rect">
            <a:avLst/>
          </a:prstGeom>
          <a:noFill/>
          <a:ln/>
        </p:spPr>
        <p:txBody>
          <a:bodyPr wrap="square" lIns="0" tIns="0" rIns="0" bIns="0" rtlCol="0" anchor="ctr"/>
          <a:lstStyle/>
          <a:p>
            <a:pPr indent="0" marL="0">
              <a:buNone/>
            </a:pPr>
            <a:r>
              <a:rPr lang="en-US" sz="1250" dirty="0">
                <a:solidFill>
                  <a:srgbClr val="232C24"/>
                </a:solidFill>
                <a:latin typeface="Calibri" pitchFamily="34" charset="0"/>
                <a:ea typeface="Calibri" pitchFamily="34" charset="-122"/>
                <a:cs typeface="Calibri" pitchFamily="34" charset="-120"/>
              </a:rPr>
              <a:t>100,000 nuts</a:t>
            </a:r>
            <a:endParaRPr lang="en-US" sz="1250" dirty="0"/>
          </a:p>
        </p:txBody>
      </p:sp>
      <p:sp>
        <p:nvSpPr>
          <p:cNvPr id="13" name="Text 10"/>
          <p:cNvSpPr/>
          <p:nvPr/>
        </p:nvSpPr>
        <p:spPr>
          <a:xfrm>
            <a:off x="6108192" y="5029200"/>
            <a:ext cx="2011680" cy="274320"/>
          </a:xfrm>
          <a:prstGeom prst="rect">
            <a:avLst/>
          </a:prstGeom>
          <a:noFill/>
          <a:ln/>
        </p:spPr>
        <p:txBody>
          <a:bodyPr wrap="square" lIns="0" tIns="0" rIns="0" bIns="0" rtlCol="0" anchor="ctr"/>
          <a:lstStyle/>
          <a:p>
            <a:pPr indent="0" marL="0">
              <a:buNone/>
            </a:pPr>
            <a:r>
              <a:rPr lang="en-US" sz="1150" b="1" spc="80" kern="0" dirty="0">
                <a:solidFill>
                  <a:srgbClr val="6E7A6F"/>
                </a:solidFill>
                <a:latin typeface="Calibri" pitchFamily="34" charset="0"/>
                <a:ea typeface="Calibri" pitchFamily="34" charset="-122"/>
                <a:cs typeface="Calibri" pitchFamily="34" charset="-120"/>
              </a:rPr>
              <a:t>Nut variety</a:t>
            </a:r>
            <a:endParaRPr lang="en-US" sz="1150" dirty="0"/>
          </a:p>
        </p:txBody>
      </p:sp>
      <p:sp>
        <p:nvSpPr>
          <p:cNvPr id="14" name="Text 11"/>
          <p:cNvSpPr/>
          <p:nvPr/>
        </p:nvSpPr>
        <p:spPr>
          <a:xfrm>
            <a:off x="8119872" y="5029200"/>
            <a:ext cx="3431743" cy="274320"/>
          </a:xfrm>
          <a:prstGeom prst="rect">
            <a:avLst/>
          </a:prstGeom>
          <a:noFill/>
          <a:ln/>
        </p:spPr>
        <p:txBody>
          <a:bodyPr wrap="square" lIns="0" tIns="0" rIns="0" bIns="0" rtlCol="0" anchor="ctr"/>
          <a:lstStyle/>
          <a:p>
            <a:pPr indent="0" marL="0">
              <a:buNone/>
            </a:pPr>
            <a:r>
              <a:rPr lang="en-US" sz="1100" b="1" i="1" spc="120" kern="0" dirty="0">
                <a:solidFill>
                  <a:srgbClr val="B8860F"/>
                </a:solidFill>
                <a:latin typeface="Calibri" pitchFamily="34" charset="0"/>
                <a:ea typeface="Calibri" pitchFamily="34" charset="-122"/>
                <a:cs typeface="Calibri" pitchFamily="34" charset="-120"/>
              </a:rPr>
              <a:t>TO CONFIRM</a:t>
            </a:r>
            <a:endParaRPr lang="en-US" sz="1100" dirty="0"/>
          </a:p>
        </p:txBody>
      </p:sp>
      <p:sp>
        <p:nvSpPr>
          <p:cNvPr id="15" name="Text 12"/>
          <p:cNvSpPr/>
          <p:nvPr/>
        </p:nvSpPr>
        <p:spPr>
          <a:xfrm>
            <a:off x="6108192" y="6382512"/>
            <a:ext cx="5486400" cy="237744"/>
          </a:xfrm>
          <a:prstGeom prst="rect">
            <a:avLst/>
          </a:prstGeom>
          <a:noFill/>
          <a:ln/>
        </p:spPr>
        <p:txBody>
          <a:bodyPr wrap="square" lIns="0" tIns="0" rIns="0" bIns="0" rtlCol="0" anchor="ctr"/>
          <a:lstStyle/>
          <a:p>
            <a:pPr indent="0" marL="0">
              <a:buNone/>
            </a:pPr>
            <a:r>
              <a:rPr lang="en-US" sz="900" spc="60" kern="0" dirty="0">
                <a:solidFill>
                  <a:srgbClr val="6E7A6F"/>
                </a:solidFill>
                <a:latin typeface="Calibri" pitchFamily="34" charset="0"/>
                <a:ea typeface="Calibri" pitchFamily="34" charset="-122"/>
                <a:cs typeface="Calibri" pitchFamily="34" charset="-120"/>
              </a:rPr>
              <a:t>Coco Palms Skylanes and Allied Products</a:t>
            </a:r>
            <a:endParaRPr lang="en-US" sz="900" dirty="0"/>
          </a:p>
        </p:txBody>
      </p:sp>
      <p:sp>
        <p:nvSpPr>
          <p:cNvPr id="16" name="Text 13"/>
          <p:cNvSpPr/>
          <p:nvPr/>
        </p:nvSpPr>
        <p:spPr>
          <a:xfrm>
            <a:off x="10637215" y="6382512"/>
            <a:ext cx="914400" cy="237744"/>
          </a:xfrm>
          <a:prstGeom prst="rect">
            <a:avLst/>
          </a:prstGeom>
          <a:noFill/>
          <a:ln/>
        </p:spPr>
        <p:txBody>
          <a:bodyPr wrap="square" lIns="0" tIns="0" rIns="0" bIns="0" rtlCol="0" anchor="ctr"/>
          <a:lstStyle/>
          <a:p>
            <a:pPr algn="r" indent="0" marL="0">
              <a:buNone/>
            </a:pPr>
            <a:r>
              <a:rPr lang="en-US" sz="900" dirty="0">
                <a:solidFill>
                  <a:srgbClr val="6E7A6F"/>
                </a:solidFill>
                <a:latin typeface="Calibri" pitchFamily="34" charset="0"/>
                <a:ea typeface="Calibri" pitchFamily="34" charset="-122"/>
                <a:cs typeface="Calibri" pitchFamily="34" charset="-120"/>
              </a:rPr>
              <a:t>5</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FFFFF"/>
          </a:solidFill>
          <a:ln w="12700">
            <a:solidFill>
              <a:srgbClr val="FFFFFF"/>
            </a:solidFill>
            <a:prstDash val="solid"/>
          </a:ln>
        </p:spPr>
      </p:sp>
      <p:sp>
        <p:nvSpPr>
          <p:cNvPr id="3" name="Text 1"/>
          <p:cNvSpPr/>
          <p:nvPr/>
        </p:nvSpPr>
        <p:spPr>
          <a:xfrm>
            <a:off x="640080" y="566928"/>
            <a:ext cx="10911535" cy="256032"/>
          </a:xfrm>
          <a:prstGeom prst="rect">
            <a:avLst/>
          </a:prstGeom>
          <a:noFill/>
          <a:ln/>
        </p:spPr>
        <p:txBody>
          <a:bodyPr wrap="square" lIns="0" tIns="0" rIns="0" bIns="0" rtlCol="0" anchor="ctr"/>
          <a:lstStyle/>
          <a:p>
            <a:pPr indent="0" marL="0">
              <a:buNone/>
            </a:pPr>
            <a:r>
              <a:rPr lang="en-US" sz="1150" b="1" spc="240" kern="0" dirty="0">
                <a:solidFill>
                  <a:srgbClr val="B8860F"/>
                </a:solidFill>
                <a:latin typeface="Calibri" pitchFamily="34" charset="0"/>
                <a:ea typeface="Calibri" pitchFamily="34" charset="-122"/>
                <a:cs typeface="Calibri" pitchFamily="34" charset="-120"/>
              </a:rPr>
              <a:t>STEP 05  ·  OUR TECHNICAL DIFFERENTIATOR</a:t>
            </a:r>
            <a:endParaRPr lang="en-US" sz="1150" dirty="0"/>
          </a:p>
        </p:txBody>
      </p:sp>
      <p:sp>
        <p:nvSpPr>
          <p:cNvPr id="4" name="Text 2"/>
          <p:cNvSpPr/>
          <p:nvPr/>
        </p:nvSpPr>
        <p:spPr>
          <a:xfrm>
            <a:off x="640080" y="877824"/>
            <a:ext cx="10911535" cy="749808"/>
          </a:xfrm>
          <a:prstGeom prst="rect">
            <a:avLst/>
          </a:prstGeom>
          <a:noFill/>
          <a:ln/>
        </p:spPr>
        <p:txBody>
          <a:bodyPr wrap="square" lIns="0" tIns="0" rIns="0" bIns="0" rtlCol="0" anchor="t"/>
          <a:lstStyle/>
          <a:p>
            <a:pPr indent="0" marL="0">
              <a:buNone/>
            </a:pPr>
            <a:r>
              <a:rPr lang="en-US" sz="3400" b="1" dirty="0">
                <a:solidFill>
                  <a:srgbClr val="14532D"/>
                </a:solidFill>
                <a:latin typeface="Cambria" pitchFamily="34" charset="0"/>
                <a:ea typeface="Cambria" pitchFamily="34" charset="-122"/>
                <a:cs typeface="Cambria" pitchFamily="34" charset="-120"/>
              </a:rPr>
              <a:t>Catalytic infrared dehydration</a:t>
            </a:r>
            <a:endParaRPr lang="en-US" sz="3400" dirty="0"/>
          </a:p>
        </p:txBody>
      </p:sp>
      <p:pic>
        <p:nvPicPr>
          <p:cNvPr id="5" name="Image 0" descr="C:\Users\affla\OneDrive\Documents\Saas\Claude projects\COCOPALM\build\img\hall.jpg">    </p:cNvPr>
          <p:cNvPicPr>
            <a:picLocks noChangeAspect="1"/>
          </p:cNvPicPr>
          <p:nvPr/>
        </p:nvPicPr>
        <p:blipFill>
          <a:blip r:embed="rId1"/>
          <a:srcRect l="0" r="0" t="0" b="0"/>
          <a:stretch/>
        </p:blipFill>
        <p:spPr>
          <a:xfrm>
            <a:off x="640080" y="1810512"/>
            <a:ext cx="5230368" cy="2176272"/>
          </a:xfrm>
          <a:prstGeom prst="rect">
            <a:avLst/>
          </a:prstGeom>
        </p:spPr>
      </p:pic>
      <p:sp>
        <p:nvSpPr>
          <p:cNvPr id="6" name="Text 3"/>
          <p:cNvSpPr/>
          <p:nvPr/>
        </p:nvSpPr>
        <p:spPr>
          <a:xfrm>
            <a:off x="640080" y="4041648"/>
            <a:ext cx="5230368" cy="274320"/>
          </a:xfrm>
          <a:prstGeom prst="rect">
            <a:avLst/>
          </a:prstGeom>
          <a:noFill/>
          <a:ln/>
        </p:spPr>
        <p:txBody>
          <a:bodyPr wrap="square" lIns="0" tIns="0" rIns="0" bIns="0" rtlCol="0" anchor="ctr"/>
          <a:lstStyle/>
          <a:p>
            <a:pPr indent="0" marL="0">
              <a:buNone/>
            </a:pPr>
            <a:r>
              <a:rPr lang="en-US" sz="950" i="1" dirty="0">
                <a:solidFill>
                  <a:srgbClr val="6E7A6F"/>
                </a:solidFill>
                <a:latin typeface="Calibri" pitchFamily="34" charset="0"/>
                <a:ea typeface="Calibri" pitchFamily="34" charset="-122"/>
                <a:cs typeface="Calibri" pitchFamily="34" charset="-120"/>
              </a:rPr>
              <a:t>The dehydration chamber block inside the main hall</a:t>
            </a:r>
            <a:endParaRPr lang="en-US" sz="950" dirty="0"/>
          </a:p>
        </p:txBody>
      </p:sp>
      <p:pic>
        <p:nvPicPr>
          <p:cNvPr id="7" name="Image 1" descr="C:\Users\affla\OneDrive\Documents\Saas\Claude projects\COCOPALM\build\img\hmi.jpg">    </p:cNvPr>
          <p:cNvPicPr>
            <a:picLocks noChangeAspect="1"/>
          </p:cNvPicPr>
          <p:nvPr/>
        </p:nvPicPr>
        <p:blipFill>
          <a:blip r:embed="rId2"/>
          <a:srcRect l="0" r="0" t="0" b="0"/>
          <a:stretch/>
        </p:blipFill>
        <p:spPr>
          <a:xfrm>
            <a:off x="640080" y="4443984"/>
            <a:ext cx="5230368" cy="1371600"/>
          </a:xfrm>
          <a:prstGeom prst="rect">
            <a:avLst/>
          </a:prstGeom>
        </p:spPr>
      </p:pic>
      <p:sp>
        <p:nvSpPr>
          <p:cNvPr id="8" name="Text 4"/>
          <p:cNvSpPr/>
          <p:nvPr/>
        </p:nvSpPr>
        <p:spPr>
          <a:xfrm>
            <a:off x="640080" y="5870448"/>
            <a:ext cx="5230368" cy="274320"/>
          </a:xfrm>
          <a:prstGeom prst="rect">
            <a:avLst/>
          </a:prstGeom>
          <a:noFill/>
          <a:ln/>
        </p:spPr>
        <p:txBody>
          <a:bodyPr wrap="square" lIns="0" tIns="0" rIns="0" bIns="0" rtlCol="0" anchor="ctr"/>
          <a:lstStyle/>
          <a:p>
            <a:pPr indent="0" marL="0">
              <a:buNone/>
            </a:pPr>
            <a:r>
              <a:rPr lang="en-US" sz="950" i="1" dirty="0">
                <a:solidFill>
                  <a:srgbClr val="6E7A6F"/>
                </a:solidFill>
                <a:latin typeface="Calibri" pitchFamily="34" charset="0"/>
                <a:ea typeface="Calibri" pitchFamily="34" charset="-122"/>
                <a:cs typeface="Calibri" pitchFamily="34" charset="-120"/>
              </a:rPr>
              <a:t>PLC touchscreen holding chamber temperature in any climate</a:t>
            </a:r>
            <a:endParaRPr lang="en-US" sz="950" dirty="0"/>
          </a:p>
        </p:txBody>
      </p:sp>
      <p:sp>
        <p:nvSpPr>
          <p:cNvPr id="9" name="Text 5"/>
          <p:cNvSpPr/>
          <p:nvPr/>
        </p:nvSpPr>
        <p:spPr>
          <a:xfrm>
            <a:off x="6419088" y="1828800"/>
            <a:ext cx="5132527" cy="1243584"/>
          </a:xfrm>
          <a:prstGeom prst="rect">
            <a:avLst/>
          </a:prstGeom>
          <a:noFill/>
          <a:ln/>
        </p:spPr>
        <p:txBody>
          <a:bodyPr wrap="square" lIns="0" tIns="0" rIns="0" bIns="0" rtlCol="0" anchor="t"/>
          <a:lstStyle/>
          <a:p>
            <a:pPr indent="0" marL="0">
              <a:lnSpc>
                <a:spcPct val="126000"/>
              </a:lnSpc>
              <a:buNone/>
            </a:pPr>
            <a:r>
              <a:rPr lang="en-US" sz="1250" dirty="0">
                <a:solidFill>
                  <a:srgbClr val="232C24"/>
                </a:solidFill>
                <a:latin typeface="Calibri" pitchFamily="34" charset="0"/>
                <a:ea typeface="Calibri" pitchFamily="34" charset="-122"/>
                <a:cs typeface="Calibri" pitchFamily="34" charset="-120"/>
              </a:rPr>
              <a:t>Drying decides the quality of the finished oil, so it is the step we have engineered hardest. Instead of sun drying we use a European catalytic infrared dehydrator - one of the fastest and most efficient methods of coconut dehydration available.</a:t>
            </a:r>
            <a:endParaRPr lang="en-US" sz="1250" dirty="0"/>
          </a:p>
        </p:txBody>
      </p:sp>
      <p:sp>
        <p:nvSpPr>
          <p:cNvPr id="10" name="Shape 6"/>
          <p:cNvSpPr/>
          <p:nvPr/>
        </p:nvSpPr>
        <p:spPr>
          <a:xfrm>
            <a:off x="6419088" y="3163824"/>
            <a:ext cx="5132527" cy="2048256"/>
          </a:xfrm>
          <a:prstGeom prst="roundRect">
            <a:avLst>
              <a:gd name="adj" fmla="val 2679"/>
            </a:avLst>
          </a:prstGeom>
          <a:solidFill>
            <a:srgbClr val="F1F5EF"/>
          </a:solidFill>
          <a:ln w="12700">
            <a:solidFill>
              <a:srgbClr val="F1F5EF"/>
            </a:solidFill>
            <a:prstDash val="solid"/>
          </a:ln>
        </p:spPr>
      </p:sp>
      <p:sp>
        <p:nvSpPr>
          <p:cNvPr id="11" name="Text 7"/>
          <p:cNvSpPr/>
          <p:nvPr/>
        </p:nvSpPr>
        <p:spPr>
          <a:xfrm>
            <a:off x="6675120" y="3328416"/>
            <a:ext cx="4620463" cy="274320"/>
          </a:xfrm>
          <a:prstGeom prst="rect">
            <a:avLst/>
          </a:prstGeom>
          <a:noFill/>
          <a:ln/>
        </p:spPr>
        <p:txBody>
          <a:bodyPr wrap="square" lIns="0" tIns="0" rIns="0" bIns="0" rtlCol="0" anchor="ctr"/>
          <a:lstStyle/>
          <a:p>
            <a:pPr indent="0" marL="0">
              <a:buNone/>
            </a:pPr>
            <a:r>
              <a:rPr lang="en-US" sz="1100" b="1" spc="140" kern="0" dirty="0">
                <a:solidFill>
                  <a:srgbClr val="14532D"/>
                </a:solidFill>
                <a:latin typeface="Calibri" pitchFamily="34" charset="0"/>
                <a:ea typeface="Calibri" pitchFamily="34" charset="-122"/>
                <a:cs typeface="Calibri" pitchFamily="34" charset="-120"/>
              </a:rPr>
              <a:t>How the chamber works</a:t>
            </a:r>
            <a:endParaRPr lang="en-US" sz="1100" dirty="0"/>
          </a:p>
        </p:txBody>
      </p:sp>
      <p:sp>
        <p:nvSpPr>
          <p:cNvPr id="12" name="Text 8"/>
          <p:cNvSpPr/>
          <p:nvPr/>
        </p:nvSpPr>
        <p:spPr>
          <a:xfrm>
            <a:off x="6675120" y="3657600"/>
            <a:ext cx="4620463" cy="1481328"/>
          </a:xfrm>
          <a:prstGeom prst="rect">
            <a:avLst/>
          </a:prstGeom>
          <a:noFill/>
          <a:ln/>
        </p:spPr>
        <p:txBody>
          <a:bodyPr wrap="square" lIns="0" tIns="0" rIns="0" bIns="0" rtlCol="0" anchor="t"/>
          <a:lstStyle/>
          <a:p>
            <a:pPr marL="342900" indent="-342900">
              <a:lnSpc>
                <a:spcPct val="108000"/>
              </a:lnSpc>
              <a:spcAft>
                <a:spcPts val="400"/>
              </a:spcAft>
              <a:buSzPct val="100000"/>
              <a:buChar char="•"/>
            </a:pPr>
            <a:r>
              <a:rPr lang="en-US" sz="1100" dirty="0">
                <a:solidFill>
                  <a:srgbClr val="232C24"/>
                </a:solidFill>
                <a:latin typeface="Calibri" pitchFamily="34" charset="0"/>
                <a:ea typeface="Calibri" pitchFamily="34" charset="-122"/>
                <a:cs typeface="Calibri" pitchFamily="34" charset="-120"/>
              </a:rPr>
              <a:t>Infrared-radiating metal infusors generate controlled heat waves</a:t>
            </a:r>
            <a:endParaRPr lang="en-US" sz="1100" dirty="0"/>
          </a:p>
          <a:p>
            <a:pPr marL="342900" indent="-342900">
              <a:lnSpc>
                <a:spcPct val="108000"/>
              </a:lnSpc>
              <a:spcAft>
                <a:spcPts val="400"/>
              </a:spcAft>
              <a:buSzPct val="100000"/>
              <a:buChar char="•"/>
            </a:pPr>
            <a:r>
              <a:rPr lang="en-US" sz="1100" dirty="0">
                <a:solidFill>
                  <a:srgbClr val="232C24"/>
                </a:solidFill>
                <a:latin typeface="Calibri" pitchFamily="34" charset="0"/>
                <a:ea typeface="Calibri" pitchFamily="34" charset="-122"/>
                <a:cs typeface="Calibri" pitchFamily="34" charset="-120"/>
              </a:rPr>
              <a:t>Platinum metal-plated walls, ceiling and doors reflect heat from every direction</a:t>
            </a:r>
            <a:endParaRPr lang="en-US" sz="1100" dirty="0"/>
          </a:p>
          <a:p>
            <a:pPr marL="342900" indent="-342900">
              <a:lnSpc>
                <a:spcPct val="108000"/>
              </a:lnSpc>
              <a:spcAft>
                <a:spcPts val="400"/>
              </a:spcAft>
              <a:buSzPct val="100000"/>
              <a:buChar char="•"/>
            </a:pPr>
            <a:r>
              <a:rPr lang="en-US" sz="1100" dirty="0">
                <a:solidFill>
                  <a:srgbClr val="232C24"/>
                </a:solidFill>
                <a:latin typeface="Calibri" pitchFamily="34" charset="0"/>
                <a:ea typeface="Calibri" pitchFamily="34" charset="-122"/>
                <a:cs typeface="Calibri" pitchFamily="34" charset="-120"/>
              </a:rPr>
              <a:t>A compressor draws atmospheric air through a dehumidification system</a:t>
            </a:r>
            <a:endParaRPr lang="en-US" sz="1100" dirty="0"/>
          </a:p>
          <a:p>
            <a:pPr marL="342900" indent="-342900">
              <a:lnSpc>
                <a:spcPct val="108000"/>
              </a:lnSpc>
              <a:spcAft>
                <a:spcPts val="400"/>
              </a:spcAft>
              <a:buSzPct val="100000"/>
              <a:buChar char="•"/>
            </a:pPr>
            <a:r>
              <a:rPr lang="en-US" sz="1100" dirty="0">
                <a:solidFill>
                  <a:srgbClr val="232C24"/>
                </a:solidFill>
                <a:latin typeface="Calibri" pitchFamily="34" charset="0"/>
                <a:ea typeface="Calibri" pitchFamily="34" charset="-122"/>
                <a:cs typeface="Calibri" pitchFamily="34" charset="-120"/>
              </a:rPr>
              <a:t>Roughly 3,300 sq ft of drying area</a:t>
            </a:r>
            <a:endParaRPr lang="en-US" sz="1100" dirty="0"/>
          </a:p>
        </p:txBody>
      </p:sp>
      <p:sp>
        <p:nvSpPr>
          <p:cNvPr id="13" name="Shape 9"/>
          <p:cNvSpPr/>
          <p:nvPr/>
        </p:nvSpPr>
        <p:spPr>
          <a:xfrm>
            <a:off x="6419088" y="5358384"/>
            <a:ext cx="5132527" cy="749808"/>
          </a:xfrm>
          <a:prstGeom prst="roundRect">
            <a:avLst>
              <a:gd name="adj" fmla="val 7317"/>
            </a:avLst>
          </a:prstGeom>
          <a:solidFill>
            <a:srgbClr val="14532D"/>
          </a:solidFill>
          <a:ln w="12700">
            <a:solidFill>
              <a:srgbClr val="14532D"/>
            </a:solidFill>
            <a:prstDash val="solid"/>
          </a:ln>
        </p:spPr>
      </p:sp>
      <p:sp>
        <p:nvSpPr>
          <p:cNvPr id="14" name="Text 10"/>
          <p:cNvSpPr/>
          <p:nvPr/>
        </p:nvSpPr>
        <p:spPr>
          <a:xfrm>
            <a:off x="6675120" y="5358384"/>
            <a:ext cx="4620463" cy="749808"/>
          </a:xfrm>
          <a:prstGeom prst="rect">
            <a:avLst/>
          </a:prstGeom>
          <a:noFill/>
          <a:ln/>
        </p:spPr>
        <p:txBody>
          <a:bodyPr wrap="square" lIns="0" tIns="0" rIns="0" bIns="0" rtlCol="0" anchor="ctr"/>
          <a:lstStyle/>
          <a:p>
            <a:pPr indent="0" marL="0">
              <a:lnSpc>
                <a:spcPct val="114000"/>
              </a:lnSpc>
              <a:buNone/>
            </a:pPr>
            <a:r>
              <a:rPr lang="en-US" sz="1300" b="1" dirty="0">
                <a:solidFill>
                  <a:srgbClr val="FFFFFF"/>
                </a:solidFill>
                <a:latin typeface="Cambria" pitchFamily="34" charset="0"/>
                <a:ea typeface="Cambria" pitchFamily="34" charset="-122"/>
                <a:cs typeface="Cambria" pitchFamily="34" charset="-120"/>
              </a:rPr>
              <a:t>10 tonnes in 12 hours, to below 10% moisture</a:t>
            </a:r>
            <a:endParaRPr lang="en-US" sz="1300" dirty="0"/>
          </a:p>
          <a:p>
            <a:pPr indent="0" marL="0">
              <a:lnSpc>
                <a:spcPct val="114000"/>
              </a:lnSpc>
              <a:buNone/>
            </a:pPr>
            <a:r>
              <a:rPr lang="en-US" sz="1050" dirty="0">
                <a:solidFill>
                  <a:srgbClr val="E3C171"/>
                </a:solidFill>
                <a:latin typeface="Calibri" pitchFamily="34" charset="0"/>
                <a:ea typeface="Calibri" pitchFamily="34" charset="-122"/>
                <a:cs typeface="Calibri" pitchFamily="34" charset="-120"/>
              </a:rPr>
              <a:t>Sun drying needs five days to reach only 20%</a:t>
            </a:r>
            <a:endParaRPr lang="en-US" sz="1300" dirty="0"/>
          </a:p>
        </p:txBody>
      </p:sp>
      <p:sp>
        <p:nvSpPr>
          <p:cNvPr id="15" name="Text 11"/>
          <p:cNvSpPr/>
          <p:nvPr/>
        </p:nvSpPr>
        <p:spPr>
          <a:xfrm>
            <a:off x="640080" y="6382512"/>
            <a:ext cx="5486400" cy="237744"/>
          </a:xfrm>
          <a:prstGeom prst="rect">
            <a:avLst/>
          </a:prstGeom>
          <a:noFill/>
          <a:ln/>
        </p:spPr>
        <p:txBody>
          <a:bodyPr wrap="square" lIns="0" tIns="0" rIns="0" bIns="0" rtlCol="0" anchor="ctr"/>
          <a:lstStyle/>
          <a:p>
            <a:pPr indent="0" marL="0">
              <a:buNone/>
            </a:pPr>
            <a:r>
              <a:rPr lang="en-US" sz="900" spc="60" kern="0" dirty="0">
                <a:solidFill>
                  <a:srgbClr val="6E7A6F"/>
                </a:solidFill>
                <a:latin typeface="Calibri" pitchFamily="34" charset="0"/>
                <a:ea typeface="Calibri" pitchFamily="34" charset="-122"/>
                <a:cs typeface="Calibri" pitchFamily="34" charset="-120"/>
              </a:rPr>
              <a:t>Coco Palms Skylanes and Allied Products</a:t>
            </a:r>
            <a:endParaRPr lang="en-US" sz="900" dirty="0"/>
          </a:p>
        </p:txBody>
      </p:sp>
      <p:sp>
        <p:nvSpPr>
          <p:cNvPr id="16" name="Text 12"/>
          <p:cNvSpPr/>
          <p:nvPr/>
        </p:nvSpPr>
        <p:spPr>
          <a:xfrm>
            <a:off x="10637215" y="6382512"/>
            <a:ext cx="914400" cy="237744"/>
          </a:xfrm>
          <a:prstGeom prst="rect">
            <a:avLst/>
          </a:prstGeom>
          <a:noFill/>
          <a:ln/>
        </p:spPr>
        <p:txBody>
          <a:bodyPr wrap="square" lIns="0" tIns="0" rIns="0" bIns="0" rtlCol="0" anchor="ctr"/>
          <a:lstStyle/>
          <a:p>
            <a:pPr algn="r" indent="0" marL="0">
              <a:buNone/>
            </a:pPr>
            <a:r>
              <a:rPr lang="en-US" sz="900" dirty="0">
                <a:solidFill>
                  <a:srgbClr val="6E7A6F"/>
                </a:solidFill>
                <a:latin typeface="Calibri" pitchFamily="34" charset="0"/>
                <a:ea typeface="Calibri" pitchFamily="34" charset="-122"/>
                <a:cs typeface="Calibri" pitchFamily="34" charset="-120"/>
              </a:rPr>
              <a:t>6</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FFFFF"/>
          </a:solidFill>
          <a:ln w="12700">
            <a:solidFill>
              <a:srgbClr val="FFFFFF"/>
            </a:solidFill>
            <a:prstDash val="solid"/>
          </a:ln>
        </p:spPr>
      </p:sp>
      <p:sp>
        <p:nvSpPr>
          <p:cNvPr id="3" name="Text 1"/>
          <p:cNvSpPr/>
          <p:nvPr/>
        </p:nvSpPr>
        <p:spPr>
          <a:xfrm>
            <a:off x="640080" y="566928"/>
            <a:ext cx="10911535" cy="256032"/>
          </a:xfrm>
          <a:prstGeom prst="rect">
            <a:avLst/>
          </a:prstGeom>
          <a:noFill/>
          <a:ln/>
        </p:spPr>
        <p:txBody>
          <a:bodyPr wrap="square" lIns="0" tIns="0" rIns="0" bIns="0" rtlCol="0" anchor="ctr"/>
          <a:lstStyle/>
          <a:p>
            <a:pPr indent="0" marL="0">
              <a:buNone/>
            </a:pPr>
            <a:r>
              <a:rPr lang="en-US" sz="1150" b="1" spc="240" kern="0" dirty="0">
                <a:solidFill>
                  <a:srgbClr val="B8860F"/>
                </a:solidFill>
                <a:latin typeface="Calibri" pitchFamily="34" charset="0"/>
                <a:ea typeface="Calibri" pitchFamily="34" charset="-122"/>
                <a:cs typeface="Calibri" pitchFamily="34" charset="-120"/>
              </a:rPr>
              <a:t>STEPS 04 AND 06</a:t>
            </a:r>
            <a:endParaRPr lang="en-US" sz="1150" dirty="0"/>
          </a:p>
        </p:txBody>
      </p:sp>
      <p:sp>
        <p:nvSpPr>
          <p:cNvPr id="4" name="Text 2"/>
          <p:cNvSpPr/>
          <p:nvPr/>
        </p:nvSpPr>
        <p:spPr>
          <a:xfrm>
            <a:off x="640080" y="877824"/>
            <a:ext cx="10911535" cy="749808"/>
          </a:xfrm>
          <a:prstGeom prst="rect">
            <a:avLst/>
          </a:prstGeom>
          <a:noFill/>
          <a:ln/>
        </p:spPr>
        <p:txBody>
          <a:bodyPr wrap="square" lIns="0" tIns="0" rIns="0" bIns="0" rtlCol="0" anchor="t"/>
          <a:lstStyle/>
          <a:p>
            <a:pPr indent="0" marL="0">
              <a:buNone/>
            </a:pPr>
            <a:r>
              <a:rPr lang="en-US" sz="3400" b="1" dirty="0">
                <a:solidFill>
                  <a:srgbClr val="14532D"/>
                </a:solidFill>
                <a:latin typeface="Cambria" pitchFamily="34" charset="0"/>
                <a:ea typeface="Cambria" pitchFamily="34" charset="-122"/>
                <a:cs typeface="Cambria" pitchFamily="34" charset="-120"/>
              </a:rPr>
              <a:t>Washing and inspection</a:t>
            </a:r>
            <a:endParaRPr lang="en-US" sz="3400" dirty="0"/>
          </a:p>
        </p:txBody>
      </p:sp>
      <p:pic>
        <p:nvPicPr>
          <p:cNvPr id="5" name="Image 0" descr="C:\Users\affla\OneDrive\Documents\Saas\Claude projects\COCOPALM\build\img\wash.jpg">    </p:cNvPr>
          <p:cNvPicPr>
            <a:picLocks noChangeAspect="1"/>
          </p:cNvPicPr>
          <p:nvPr/>
        </p:nvPicPr>
        <p:blipFill>
          <a:blip r:embed="rId1"/>
          <a:srcRect l="0" r="0" t="0" b="0"/>
          <a:stretch/>
        </p:blipFill>
        <p:spPr>
          <a:xfrm>
            <a:off x="640080" y="1810512"/>
            <a:ext cx="5263744" cy="2286000"/>
          </a:xfrm>
          <a:prstGeom prst="rect">
            <a:avLst/>
          </a:prstGeom>
        </p:spPr>
      </p:pic>
      <p:sp>
        <p:nvSpPr>
          <p:cNvPr id="6" name="Text 3"/>
          <p:cNvSpPr/>
          <p:nvPr/>
        </p:nvSpPr>
        <p:spPr>
          <a:xfrm>
            <a:off x="640080" y="4169664"/>
            <a:ext cx="5263744" cy="274320"/>
          </a:xfrm>
          <a:prstGeom prst="rect">
            <a:avLst/>
          </a:prstGeom>
          <a:noFill/>
          <a:ln/>
        </p:spPr>
        <p:txBody>
          <a:bodyPr wrap="square" lIns="0" tIns="0" rIns="0" bIns="0" rtlCol="0" anchor="ctr"/>
          <a:lstStyle/>
          <a:p>
            <a:pPr indent="0" marL="0">
              <a:buNone/>
            </a:pPr>
            <a:r>
              <a:rPr lang="en-US" sz="950" i="1" dirty="0">
                <a:solidFill>
                  <a:srgbClr val="6E7A6F"/>
                </a:solidFill>
                <a:latin typeface="Calibri" pitchFamily="34" charset="0"/>
                <a:ea typeface="Calibri" pitchFamily="34" charset="-122"/>
                <a:cs typeface="Calibri" pitchFamily="34" charset="-120"/>
              </a:rPr>
              <a:t>High-pressure water spray wash, before dehydration</a:t>
            </a:r>
            <a:endParaRPr lang="en-US" sz="950" dirty="0"/>
          </a:p>
        </p:txBody>
      </p:sp>
      <p:pic>
        <p:nvPicPr>
          <p:cNvPr id="7" name="Image 1" descr="C:\Users\affla\OneDrive\Documents\Saas\Claude projects\COCOPALM\build\img\qc.jpg">    </p:cNvPr>
          <p:cNvPicPr>
            <a:picLocks noChangeAspect="1"/>
          </p:cNvPicPr>
          <p:nvPr/>
        </p:nvPicPr>
        <p:blipFill>
          <a:blip r:embed="rId2"/>
          <a:srcRect l="0" r="0" t="0" b="0"/>
          <a:stretch/>
        </p:blipFill>
        <p:spPr>
          <a:xfrm>
            <a:off x="6287872" y="1810512"/>
            <a:ext cx="5263744" cy="2286000"/>
          </a:xfrm>
          <a:prstGeom prst="rect">
            <a:avLst/>
          </a:prstGeom>
        </p:spPr>
      </p:pic>
      <p:sp>
        <p:nvSpPr>
          <p:cNvPr id="8" name="Text 4"/>
          <p:cNvSpPr/>
          <p:nvPr/>
        </p:nvSpPr>
        <p:spPr>
          <a:xfrm>
            <a:off x="6287872" y="4169664"/>
            <a:ext cx="5263744" cy="274320"/>
          </a:xfrm>
          <a:prstGeom prst="rect">
            <a:avLst/>
          </a:prstGeom>
          <a:noFill/>
          <a:ln/>
        </p:spPr>
        <p:txBody>
          <a:bodyPr wrap="square" lIns="0" tIns="0" rIns="0" bIns="0" rtlCol="0" anchor="ctr"/>
          <a:lstStyle/>
          <a:p>
            <a:pPr indent="0" marL="0">
              <a:buNone/>
            </a:pPr>
            <a:r>
              <a:rPr lang="en-US" sz="950" i="1" dirty="0">
                <a:solidFill>
                  <a:srgbClr val="6E7A6F"/>
                </a:solidFill>
                <a:latin typeface="Calibri" pitchFamily="34" charset="0"/>
                <a:ea typeface="Calibri" pitchFamily="34" charset="-122"/>
                <a:cs typeface="Calibri" pitchFamily="34" charset="-120"/>
              </a:rPr>
              <a:t>Every tray inspected by trained staff and supervisors</a:t>
            </a:r>
            <a:endParaRPr lang="en-US" sz="950" dirty="0"/>
          </a:p>
        </p:txBody>
      </p:sp>
      <p:sp>
        <p:nvSpPr>
          <p:cNvPr id="9" name="Shape 5"/>
          <p:cNvSpPr/>
          <p:nvPr/>
        </p:nvSpPr>
        <p:spPr>
          <a:xfrm>
            <a:off x="640080" y="4608576"/>
            <a:ext cx="5263744" cy="1572768"/>
          </a:xfrm>
          <a:prstGeom prst="roundRect">
            <a:avLst>
              <a:gd name="adj" fmla="val 3488"/>
            </a:avLst>
          </a:prstGeom>
          <a:solidFill>
            <a:srgbClr val="F1F5EF"/>
          </a:solidFill>
          <a:ln w="12700">
            <a:solidFill>
              <a:srgbClr val="F1F5EF"/>
            </a:solidFill>
            <a:prstDash val="solid"/>
          </a:ln>
        </p:spPr>
      </p:sp>
      <p:sp>
        <p:nvSpPr>
          <p:cNvPr id="10" name="Text 6"/>
          <p:cNvSpPr/>
          <p:nvPr/>
        </p:nvSpPr>
        <p:spPr>
          <a:xfrm>
            <a:off x="896112" y="4754880"/>
            <a:ext cx="4751680" cy="274320"/>
          </a:xfrm>
          <a:prstGeom prst="rect">
            <a:avLst/>
          </a:prstGeom>
          <a:noFill/>
          <a:ln/>
        </p:spPr>
        <p:txBody>
          <a:bodyPr wrap="square" lIns="0" tIns="0" rIns="0" bIns="0" rtlCol="0" anchor="ctr"/>
          <a:lstStyle/>
          <a:p>
            <a:pPr indent="0" marL="0">
              <a:buNone/>
            </a:pPr>
            <a:r>
              <a:rPr lang="en-US" sz="1100" b="1" spc="140" kern="0" dirty="0">
                <a:solidFill>
                  <a:srgbClr val="14532D"/>
                </a:solidFill>
                <a:latin typeface="Calibri" pitchFamily="34" charset="0"/>
                <a:ea typeface="Calibri" pitchFamily="34" charset="-122"/>
                <a:cs typeface="Calibri" pitchFamily="34" charset="-120"/>
              </a:rPr>
              <a:t>Personnel hygiene</a:t>
            </a:r>
            <a:endParaRPr lang="en-US" sz="1100" dirty="0"/>
          </a:p>
        </p:txBody>
      </p:sp>
      <p:sp>
        <p:nvSpPr>
          <p:cNvPr id="11" name="Text 7"/>
          <p:cNvSpPr/>
          <p:nvPr/>
        </p:nvSpPr>
        <p:spPr>
          <a:xfrm>
            <a:off x="896112" y="5084064"/>
            <a:ext cx="4751680" cy="1005840"/>
          </a:xfrm>
          <a:prstGeom prst="rect">
            <a:avLst/>
          </a:prstGeom>
          <a:noFill/>
          <a:ln/>
        </p:spPr>
        <p:txBody>
          <a:bodyPr wrap="square" lIns="0" tIns="0" rIns="0" bIns="0" rtlCol="0" anchor="t"/>
          <a:lstStyle/>
          <a:p>
            <a:pPr marL="342900" indent="-342900">
              <a:lnSpc>
                <a:spcPct val="108000"/>
              </a:lnSpc>
              <a:spcAft>
                <a:spcPts val="400"/>
              </a:spcAft>
              <a:buSzPct val="100000"/>
              <a:buChar char="•"/>
            </a:pPr>
            <a:r>
              <a:rPr lang="en-US" sz="1150" dirty="0">
                <a:solidFill>
                  <a:srgbClr val="232C24"/>
                </a:solidFill>
                <a:latin typeface="Calibri" pitchFamily="34" charset="0"/>
                <a:ea typeface="Calibri" pitchFamily="34" charset="-122"/>
                <a:cs typeface="Calibri" pitchFamily="34" charset="-120"/>
              </a:rPr>
              <a:t>Hairnets, face masks and gloves on the line</a:t>
            </a:r>
            <a:endParaRPr lang="en-US" sz="1150" dirty="0"/>
          </a:p>
          <a:p>
            <a:pPr marL="342900" indent="-342900">
              <a:lnSpc>
                <a:spcPct val="108000"/>
              </a:lnSpc>
              <a:spcAft>
                <a:spcPts val="400"/>
              </a:spcAft>
              <a:buSzPct val="100000"/>
              <a:buChar char="•"/>
            </a:pPr>
            <a:r>
              <a:rPr lang="en-US" sz="1150" dirty="0">
                <a:solidFill>
                  <a:srgbClr val="232C24"/>
                </a:solidFill>
                <a:latin typeface="Calibri" pitchFamily="34" charset="0"/>
                <a:ea typeface="Calibri" pitchFamily="34" charset="-122"/>
                <a:cs typeface="Calibri" pitchFamily="34" charset="-120"/>
              </a:rPr>
              <a:t>Company-issued uniforms throughout</a:t>
            </a:r>
            <a:endParaRPr lang="en-US" sz="1150" dirty="0"/>
          </a:p>
          <a:p>
            <a:pPr marL="342900" indent="-342900">
              <a:lnSpc>
                <a:spcPct val="108000"/>
              </a:lnSpc>
              <a:spcAft>
                <a:spcPts val="400"/>
              </a:spcAft>
              <a:buSzPct val="100000"/>
              <a:buChar char="•"/>
            </a:pPr>
            <a:r>
              <a:rPr lang="en-US" sz="1150" dirty="0">
                <a:solidFill>
                  <a:srgbClr val="232C24"/>
                </a:solidFill>
                <a:latin typeface="Calibri" pitchFamily="34" charset="0"/>
                <a:ea typeface="Calibri" pitchFamily="34" charset="-122"/>
                <a:cs typeface="Calibri" pitchFamily="34" charset="-120"/>
              </a:rPr>
              <a:t>Food-contact surfaces in stainless steel</a:t>
            </a:r>
            <a:endParaRPr lang="en-US" sz="1150" dirty="0"/>
          </a:p>
        </p:txBody>
      </p:sp>
      <p:sp>
        <p:nvSpPr>
          <p:cNvPr id="12" name="Shape 8"/>
          <p:cNvSpPr/>
          <p:nvPr/>
        </p:nvSpPr>
        <p:spPr>
          <a:xfrm>
            <a:off x="6287872" y="4608576"/>
            <a:ext cx="5263744" cy="1572768"/>
          </a:xfrm>
          <a:prstGeom prst="roundRect">
            <a:avLst>
              <a:gd name="adj" fmla="val 3488"/>
            </a:avLst>
          </a:prstGeom>
          <a:solidFill>
            <a:srgbClr val="F1F5EF"/>
          </a:solidFill>
          <a:ln w="12700">
            <a:solidFill>
              <a:srgbClr val="F1F5EF"/>
            </a:solidFill>
            <a:prstDash val="solid"/>
          </a:ln>
        </p:spPr>
      </p:sp>
      <p:sp>
        <p:nvSpPr>
          <p:cNvPr id="13" name="Text 9"/>
          <p:cNvSpPr/>
          <p:nvPr/>
        </p:nvSpPr>
        <p:spPr>
          <a:xfrm>
            <a:off x="6543904" y="4754880"/>
            <a:ext cx="4751680" cy="274320"/>
          </a:xfrm>
          <a:prstGeom prst="rect">
            <a:avLst/>
          </a:prstGeom>
          <a:noFill/>
          <a:ln/>
        </p:spPr>
        <p:txBody>
          <a:bodyPr wrap="square" lIns="0" tIns="0" rIns="0" bIns="0" rtlCol="0" anchor="ctr"/>
          <a:lstStyle/>
          <a:p>
            <a:pPr indent="0" marL="0">
              <a:buNone/>
            </a:pPr>
            <a:r>
              <a:rPr lang="en-US" sz="1100" b="1" spc="140" kern="0" dirty="0">
                <a:solidFill>
                  <a:srgbClr val="14532D"/>
                </a:solidFill>
                <a:latin typeface="Calibri" pitchFamily="34" charset="0"/>
                <a:ea typeface="Calibri" pitchFamily="34" charset="-122"/>
                <a:cs typeface="Calibri" pitchFamily="34" charset="-120"/>
              </a:rPr>
              <a:t>Plant and surfaces</a:t>
            </a:r>
            <a:endParaRPr lang="en-US" sz="1100" dirty="0"/>
          </a:p>
        </p:txBody>
      </p:sp>
      <p:sp>
        <p:nvSpPr>
          <p:cNvPr id="14" name="Text 10"/>
          <p:cNvSpPr/>
          <p:nvPr/>
        </p:nvSpPr>
        <p:spPr>
          <a:xfrm>
            <a:off x="6543904" y="5084064"/>
            <a:ext cx="4751680" cy="1005840"/>
          </a:xfrm>
          <a:prstGeom prst="rect">
            <a:avLst/>
          </a:prstGeom>
          <a:noFill/>
          <a:ln/>
        </p:spPr>
        <p:txBody>
          <a:bodyPr wrap="square" lIns="0" tIns="0" rIns="0" bIns="0" rtlCol="0" anchor="t"/>
          <a:lstStyle/>
          <a:p>
            <a:pPr marL="342900" indent="-342900">
              <a:lnSpc>
                <a:spcPct val="108000"/>
              </a:lnSpc>
              <a:spcAft>
                <a:spcPts val="400"/>
              </a:spcAft>
              <a:buSzPct val="100000"/>
              <a:buChar char="•"/>
            </a:pPr>
            <a:r>
              <a:rPr lang="en-US" sz="1150" dirty="0">
                <a:solidFill>
                  <a:srgbClr val="232C24"/>
                </a:solidFill>
                <a:latin typeface="Calibri" pitchFamily="34" charset="0"/>
                <a:ea typeface="Calibri" pitchFamily="34" charset="-122"/>
                <a:cs typeface="Calibri" pitchFamily="34" charset="-120"/>
              </a:rPr>
              <a:t>Enclosed drying rooms, not open-air yards</a:t>
            </a:r>
            <a:endParaRPr lang="en-US" sz="1150" dirty="0"/>
          </a:p>
          <a:p>
            <a:pPr marL="342900" indent="-342900">
              <a:lnSpc>
                <a:spcPct val="108000"/>
              </a:lnSpc>
              <a:spcAft>
                <a:spcPts val="400"/>
              </a:spcAft>
              <a:buSzPct val="100000"/>
              <a:buChar char="•"/>
            </a:pPr>
            <a:r>
              <a:rPr lang="en-US" sz="1150" dirty="0">
                <a:solidFill>
                  <a:srgbClr val="232C24"/>
                </a:solidFill>
                <a:latin typeface="Calibri" pitchFamily="34" charset="0"/>
                <a:ea typeface="Calibri" pitchFamily="34" charset="-122"/>
                <a:cs typeface="Calibri" pitchFamily="34" charset="-120"/>
              </a:rPr>
              <a:t>Stainless trays and troughs at every wet stage</a:t>
            </a:r>
            <a:endParaRPr lang="en-US" sz="1150" dirty="0"/>
          </a:p>
          <a:p>
            <a:pPr marL="342900" indent="-342900">
              <a:lnSpc>
                <a:spcPct val="108000"/>
              </a:lnSpc>
              <a:spcAft>
                <a:spcPts val="400"/>
              </a:spcAft>
              <a:buSzPct val="100000"/>
              <a:buChar char="•"/>
            </a:pPr>
            <a:r>
              <a:rPr lang="en-US" sz="1150" dirty="0">
                <a:solidFill>
                  <a:srgbClr val="232C24"/>
                </a:solidFill>
                <a:latin typeface="Calibri" pitchFamily="34" charset="0"/>
                <a:ea typeface="Calibri" pitchFamily="34" charset="-122"/>
                <a:cs typeface="Calibri" pitchFamily="34" charset="-120"/>
              </a:rPr>
              <a:t>Sealed washable floors and strip-curtain barriers</a:t>
            </a:r>
            <a:endParaRPr lang="en-US" sz="1150" dirty="0"/>
          </a:p>
        </p:txBody>
      </p:sp>
      <p:sp>
        <p:nvSpPr>
          <p:cNvPr id="15" name="Text 11"/>
          <p:cNvSpPr/>
          <p:nvPr/>
        </p:nvSpPr>
        <p:spPr>
          <a:xfrm>
            <a:off x="640080" y="6382512"/>
            <a:ext cx="5486400" cy="237744"/>
          </a:xfrm>
          <a:prstGeom prst="rect">
            <a:avLst/>
          </a:prstGeom>
          <a:noFill/>
          <a:ln/>
        </p:spPr>
        <p:txBody>
          <a:bodyPr wrap="square" lIns="0" tIns="0" rIns="0" bIns="0" rtlCol="0" anchor="ctr"/>
          <a:lstStyle/>
          <a:p>
            <a:pPr indent="0" marL="0">
              <a:buNone/>
            </a:pPr>
            <a:r>
              <a:rPr lang="en-US" sz="900" spc="60" kern="0" dirty="0">
                <a:solidFill>
                  <a:srgbClr val="6E7A6F"/>
                </a:solidFill>
                <a:latin typeface="Calibri" pitchFamily="34" charset="0"/>
                <a:ea typeface="Calibri" pitchFamily="34" charset="-122"/>
                <a:cs typeface="Calibri" pitchFamily="34" charset="-120"/>
              </a:rPr>
              <a:t>Coco Palms Skylanes and Allied Products</a:t>
            </a:r>
            <a:endParaRPr lang="en-US" sz="900" dirty="0"/>
          </a:p>
        </p:txBody>
      </p:sp>
      <p:sp>
        <p:nvSpPr>
          <p:cNvPr id="16" name="Text 12"/>
          <p:cNvSpPr/>
          <p:nvPr/>
        </p:nvSpPr>
        <p:spPr>
          <a:xfrm>
            <a:off x="10637215" y="6382512"/>
            <a:ext cx="914400" cy="237744"/>
          </a:xfrm>
          <a:prstGeom prst="rect">
            <a:avLst/>
          </a:prstGeom>
          <a:noFill/>
          <a:ln/>
        </p:spPr>
        <p:txBody>
          <a:bodyPr wrap="square" lIns="0" tIns="0" rIns="0" bIns="0" rtlCol="0" anchor="ctr"/>
          <a:lstStyle/>
          <a:p>
            <a:pPr algn="r" indent="0" marL="0">
              <a:buNone/>
            </a:pPr>
            <a:r>
              <a:rPr lang="en-US" sz="900" dirty="0">
                <a:solidFill>
                  <a:srgbClr val="6E7A6F"/>
                </a:solidFill>
                <a:latin typeface="Calibri" pitchFamily="34" charset="0"/>
                <a:ea typeface="Calibri" pitchFamily="34" charset="-122"/>
                <a:cs typeface="Calibri" pitchFamily="34" charset="-120"/>
              </a:rPr>
              <a:t>7</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FFFFF"/>
          </a:solidFill>
          <a:ln w="12700">
            <a:solidFill>
              <a:srgbClr val="FFFFFF"/>
            </a:solidFill>
            <a:prstDash val="solid"/>
          </a:ln>
        </p:spPr>
      </p:sp>
      <p:sp>
        <p:nvSpPr>
          <p:cNvPr id="3" name="Text 1"/>
          <p:cNvSpPr/>
          <p:nvPr/>
        </p:nvSpPr>
        <p:spPr>
          <a:xfrm>
            <a:off x="640080" y="566928"/>
            <a:ext cx="10911535" cy="256032"/>
          </a:xfrm>
          <a:prstGeom prst="rect">
            <a:avLst/>
          </a:prstGeom>
          <a:noFill/>
          <a:ln/>
        </p:spPr>
        <p:txBody>
          <a:bodyPr wrap="square" lIns="0" tIns="0" rIns="0" bIns="0" rtlCol="0" anchor="ctr"/>
          <a:lstStyle/>
          <a:p>
            <a:pPr indent="0" marL="0">
              <a:buNone/>
            </a:pPr>
            <a:r>
              <a:rPr lang="en-US" sz="1150" b="1" spc="240" kern="0" dirty="0">
                <a:solidFill>
                  <a:srgbClr val="B8860F"/>
                </a:solidFill>
                <a:latin typeface="Calibri" pitchFamily="34" charset="0"/>
                <a:ea typeface="Calibri" pitchFamily="34" charset="-122"/>
                <a:cs typeface="Calibri" pitchFamily="34" charset="-120"/>
              </a:rPr>
              <a:t>STEPS 07 AND 08</a:t>
            </a:r>
            <a:endParaRPr lang="en-US" sz="1150" dirty="0"/>
          </a:p>
        </p:txBody>
      </p:sp>
      <p:sp>
        <p:nvSpPr>
          <p:cNvPr id="4" name="Text 2"/>
          <p:cNvSpPr/>
          <p:nvPr/>
        </p:nvSpPr>
        <p:spPr>
          <a:xfrm>
            <a:off x="640080" y="877824"/>
            <a:ext cx="10911535" cy="749808"/>
          </a:xfrm>
          <a:prstGeom prst="rect">
            <a:avLst/>
          </a:prstGeom>
          <a:noFill/>
          <a:ln/>
        </p:spPr>
        <p:txBody>
          <a:bodyPr wrap="square" lIns="0" tIns="0" rIns="0" bIns="0" rtlCol="0" anchor="t"/>
          <a:lstStyle/>
          <a:p>
            <a:pPr indent="0" marL="0">
              <a:buNone/>
            </a:pPr>
            <a:r>
              <a:rPr lang="en-US" sz="3400" b="1" dirty="0">
                <a:solidFill>
                  <a:srgbClr val="14532D"/>
                </a:solidFill>
                <a:latin typeface="Cambria" pitchFamily="34" charset="0"/>
                <a:ea typeface="Cambria" pitchFamily="34" charset="-122"/>
                <a:cs typeface="Cambria" pitchFamily="34" charset="-120"/>
              </a:rPr>
              <a:t>From dried kernel to filtered oil</a:t>
            </a:r>
            <a:endParaRPr lang="en-US" sz="3400" dirty="0"/>
          </a:p>
        </p:txBody>
      </p:sp>
      <p:sp>
        <p:nvSpPr>
          <p:cNvPr id="5" name="Shape 3"/>
          <p:cNvSpPr/>
          <p:nvPr/>
        </p:nvSpPr>
        <p:spPr>
          <a:xfrm>
            <a:off x="640080" y="1810512"/>
            <a:ext cx="5263744" cy="4224528"/>
          </a:xfrm>
          <a:prstGeom prst="roundRect">
            <a:avLst>
              <a:gd name="adj" fmla="val 1299"/>
            </a:avLst>
          </a:prstGeom>
          <a:solidFill>
            <a:srgbClr val="F1F5EF"/>
          </a:solidFill>
          <a:ln w="12700">
            <a:solidFill>
              <a:srgbClr val="F1F5EF"/>
            </a:solidFill>
            <a:prstDash val="solid"/>
          </a:ln>
          <a:effectLst>
            <a:outerShdw sx="100000" sy="100000" kx="0" ky="0" algn="bl" rotWithShape="0" blurRad="152400" dist="25400" dir="5400000">
              <a:srgbClr val="000000">
                <a:alpha val="8000"/>
              </a:srgbClr>
            </a:outerShdw>
          </a:effectLst>
        </p:spPr>
      </p:sp>
      <p:pic>
        <p:nvPicPr>
          <p:cNvPr id="6" name="Image 0" descr="C:\Users\affla\OneDrive\Documents\Saas\Claude projects\COCOPALM\build\img\shred.jpg">    </p:cNvPr>
          <p:cNvPicPr>
            <a:picLocks noChangeAspect="1"/>
          </p:cNvPicPr>
          <p:nvPr/>
        </p:nvPicPr>
        <p:blipFill>
          <a:blip r:embed="rId1"/>
          <a:srcRect l="0" r="0" t="0" b="0"/>
          <a:stretch/>
        </p:blipFill>
        <p:spPr>
          <a:xfrm>
            <a:off x="640080" y="1810512"/>
            <a:ext cx="5263744" cy="1847088"/>
          </a:xfrm>
          <a:prstGeom prst="rect">
            <a:avLst/>
          </a:prstGeom>
        </p:spPr>
      </p:pic>
      <p:sp>
        <p:nvSpPr>
          <p:cNvPr id="7" name="Shape 4"/>
          <p:cNvSpPr/>
          <p:nvPr/>
        </p:nvSpPr>
        <p:spPr>
          <a:xfrm>
            <a:off x="914400" y="3803904"/>
            <a:ext cx="493776" cy="493776"/>
          </a:xfrm>
          <a:prstGeom prst="ellipse">
            <a:avLst/>
          </a:prstGeom>
          <a:solidFill>
            <a:srgbClr val="B8860F"/>
          </a:solidFill>
          <a:ln w="12700">
            <a:solidFill>
              <a:srgbClr val="B8860F"/>
            </a:solidFill>
            <a:prstDash val="solid"/>
          </a:ln>
        </p:spPr>
      </p:sp>
      <p:sp>
        <p:nvSpPr>
          <p:cNvPr id="8" name="Text 5"/>
          <p:cNvSpPr/>
          <p:nvPr/>
        </p:nvSpPr>
        <p:spPr>
          <a:xfrm>
            <a:off x="914400" y="3803904"/>
            <a:ext cx="493776" cy="493776"/>
          </a:xfrm>
          <a:prstGeom prst="rect">
            <a:avLst/>
          </a:prstGeom>
          <a:noFill/>
          <a:ln/>
        </p:spPr>
        <p:txBody>
          <a:bodyPr wrap="square" lIns="0" tIns="0" rIns="0" bIns="0" rtlCol="0" anchor="ctr"/>
          <a:lstStyle/>
          <a:p>
            <a:pPr algn="ctr" indent="0" marL="0">
              <a:buNone/>
            </a:pPr>
            <a:r>
              <a:rPr lang="en-US" sz="1200" b="1" dirty="0">
                <a:solidFill>
                  <a:srgbClr val="FFFFFF"/>
                </a:solidFill>
                <a:latin typeface="Cambria" pitchFamily="34" charset="0"/>
                <a:ea typeface="Cambria" pitchFamily="34" charset="-122"/>
                <a:cs typeface="Cambria" pitchFamily="34" charset="-120"/>
              </a:rPr>
              <a:t>07</a:t>
            </a:r>
            <a:endParaRPr lang="en-US" sz="1200" dirty="0"/>
          </a:p>
        </p:txBody>
      </p:sp>
      <p:sp>
        <p:nvSpPr>
          <p:cNvPr id="9" name="Text 6"/>
          <p:cNvSpPr/>
          <p:nvPr/>
        </p:nvSpPr>
        <p:spPr>
          <a:xfrm>
            <a:off x="1536192" y="3803904"/>
            <a:ext cx="4093312" cy="493776"/>
          </a:xfrm>
          <a:prstGeom prst="rect">
            <a:avLst/>
          </a:prstGeom>
          <a:noFill/>
          <a:ln/>
        </p:spPr>
        <p:txBody>
          <a:bodyPr wrap="square" lIns="0" tIns="0" rIns="0" bIns="0" rtlCol="0" anchor="ctr"/>
          <a:lstStyle/>
          <a:p>
            <a:pPr indent="0" marL="0">
              <a:buNone/>
            </a:pPr>
            <a:r>
              <a:rPr lang="en-US" sz="1700" b="1" dirty="0">
                <a:solidFill>
                  <a:srgbClr val="14532D"/>
                </a:solidFill>
                <a:latin typeface="Cambria" pitchFamily="34" charset="0"/>
                <a:ea typeface="Cambria" pitchFamily="34" charset="-122"/>
                <a:cs typeface="Cambria" pitchFamily="34" charset="-120"/>
              </a:rPr>
              <a:t>Scooping and pulverising</a:t>
            </a:r>
            <a:endParaRPr lang="en-US" sz="1700" dirty="0"/>
          </a:p>
        </p:txBody>
      </p:sp>
      <p:sp>
        <p:nvSpPr>
          <p:cNvPr id="10" name="Text 7"/>
          <p:cNvSpPr/>
          <p:nvPr/>
        </p:nvSpPr>
        <p:spPr>
          <a:xfrm>
            <a:off x="914400" y="4443984"/>
            <a:ext cx="4715104" cy="914400"/>
          </a:xfrm>
          <a:prstGeom prst="rect">
            <a:avLst/>
          </a:prstGeom>
          <a:noFill/>
          <a:ln/>
        </p:spPr>
        <p:txBody>
          <a:bodyPr wrap="square" lIns="0" tIns="0" rIns="0" bIns="0" rtlCol="0" anchor="t"/>
          <a:lstStyle/>
          <a:p>
            <a:pPr indent="0" marL="0">
              <a:lnSpc>
                <a:spcPct val="124000"/>
              </a:lnSpc>
              <a:buNone/>
            </a:pPr>
            <a:r>
              <a:rPr lang="en-US" sz="1200" dirty="0">
                <a:solidFill>
                  <a:srgbClr val="232C24"/>
                </a:solidFill>
                <a:latin typeface="Calibri" pitchFamily="34" charset="0"/>
                <a:ea typeface="Calibri" pitchFamily="34" charset="-122"/>
                <a:cs typeface="Calibri" pitchFamily="34" charset="-120"/>
              </a:rPr>
              <a:t>Once dehydration is complete the kernel lifts cleanly away from the shell and is scooped out, then pulverised into smaller pieces ready for pressing.</a:t>
            </a:r>
            <a:endParaRPr lang="en-US" sz="1200" dirty="0"/>
          </a:p>
        </p:txBody>
      </p:sp>
      <p:sp>
        <p:nvSpPr>
          <p:cNvPr id="11" name="Text 8"/>
          <p:cNvSpPr/>
          <p:nvPr/>
        </p:nvSpPr>
        <p:spPr>
          <a:xfrm>
            <a:off x="914400" y="5413248"/>
            <a:ext cx="1920240" cy="274320"/>
          </a:xfrm>
          <a:prstGeom prst="rect">
            <a:avLst/>
          </a:prstGeom>
          <a:noFill/>
          <a:ln/>
        </p:spPr>
        <p:txBody>
          <a:bodyPr wrap="square" lIns="0" tIns="0" rIns="0" bIns="0" rtlCol="0" anchor="ctr"/>
          <a:lstStyle/>
          <a:p>
            <a:pPr indent="0" marL="0">
              <a:buNone/>
            </a:pPr>
            <a:r>
              <a:rPr lang="en-US" sz="1150" b="1" spc="80" kern="0" dirty="0">
                <a:solidFill>
                  <a:srgbClr val="6E7A6F"/>
                </a:solidFill>
                <a:latin typeface="Calibri" pitchFamily="34" charset="0"/>
                <a:ea typeface="Calibri" pitchFamily="34" charset="-122"/>
                <a:cs typeface="Calibri" pitchFamily="34" charset="-120"/>
              </a:rPr>
              <a:t>Moisture at scooping</a:t>
            </a:r>
            <a:endParaRPr lang="en-US" sz="1150" dirty="0"/>
          </a:p>
        </p:txBody>
      </p:sp>
      <p:sp>
        <p:nvSpPr>
          <p:cNvPr id="12" name="Text 9"/>
          <p:cNvSpPr/>
          <p:nvPr/>
        </p:nvSpPr>
        <p:spPr>
          <a:xfrm>
            <a:off x="2834640" y="5413248"/>
            <a:ext cx="2794864" cy="274320"/>
          </a:xfrm>
          <a:prstGeom prst="rect">
            <a:avLst/>
          </a:prstGeom>
          <a:noFill/>
          <a:ln/>
        </p:spPr>
        <p:txBody>
          <a:bodyPr wrap="square" lIns="0" tIns="0" rIns="0" bIns="0" rtlCol="0" anchor="ctr"/>
          <a:lstStyle/>
          <a:p>
            <a:pPr indent="0" marL="0">
              <a:buNone/>
            </a:pPr>
            <a:r>
              <a:rPr lang="en-US" sz="1250" dirty="0">
                <a:solidFill>
                  <a:srgbClr val="232C24"/>
                </a:solidFill>
                <a:latin typeface="Calibri" pitchFamily="34" charset="0"/>
                <a:ea typeface="Calibri" pitchFamily="34" charset="-122"/>
                <a:cs typeface="Calibri" pitchFamily="34" charset="-120"/>
              </a:rPr>
              <a:t>below 10%</a:t>
            </a:r>
            <a:endParaRPr lang="en-US" sz="1250" dirty="0"/>
          </a:p>
        </p:txBody>
      </p:sp>
      <p:sp>
        <p:nvSpPr>
          <p:cNvPr id="13" name="Text 10"/>
          <p:cNvSpPr/>
          <p:nvPr/>
        </p:nvSpPr>
        <p:spPr>
          <a:xfrm>
            <a:off x="914400" y="5742432"/>
            <a:ext cx="1920240" cy="274320"/>
          </a:xfrm>
          <a:prstGeom prst="rect">
            <a:avLst/>
          </a:prstGeom>
          <a:noFill/>
          <a:ln/>
        </p:spPr>
        <p:txBody>
          <a:bodyPr wrap="square" lIns="0" tIns="0" rIns="0" bIns="0" rtlCol="0" anchor="ctr"/>
          <a:lstStyle/>
          <a:p>
            <a:pPr indent="0" marL="0">
              <a:buNone/>
            </a:pPr>
            <a:r>
              <a:rPr lang="en-US" sz="1150" b="1" spc="80" kern="0" dirty="0">
                <a:solidFill>
                  <a:srgbClr val="6E7A6F"/>
                </a:solidFill>
                <a:latin typeface="Calibri" pitchFamily="34" charset="0"/>
                <a:ea typeface="Calibri" pitchFamily="34" charset="-122"/>
                <a:cs typeface="Calibri" pitchFamily="34" charset="-120"/>
              </a:rPr>
              <a:t>Batch size</a:t>
            </a:r>
            <a:endParaRPr lang="en-US" sz="1150" dirty="0"/>
          </a:p>
        </p:txBody>
      </p:sp>
      <p:sp>
        <p:nvSpPr>
          <p:cNvPr id="14" name="Text 11"/>
          <p:cNvSpPr/>
          <p:nvPr/>
        </p:nvSpPr>
        <p:spPr>
          <a:xfrm>
            <a:off x="2834640" y="5742432"/>
            <a:ext cx="2794864" cy="274320"/>
          </a:xfrm>
          <a:prstGeom prst="rect">
            <a:avLst/>
          </a:prstGeom>
          <a:noFill/>
          <a:ln/>
        </p:spPr>
        <p:txBody>
          <a:bodyPr wrap="square" lIns="0" tIns="0" rIns="0" bIns="0" rtlCol="0" anchor="ctr"/>
          <a:lstStyle/>
          <a:p>
            <a:pPr indent="0" marL="0">
              <a:buNone/>
            </a:pPr>
            <a:r>
              <a:rPr lang="en-US" sz="1250" dirty="0">
                <a:solidFill>
                  <a:srgbClr val="232C24"/>
                </a:solidFill>
                <a:latin typeface="Calibri" pitchFamily="34" charset="0"/>
                <a:ea typeface="Calibri" pitchFamily="34" charset="-122"/>
                <a:cs typeface="Calibri" pitchFamily="34" charset="-120"/>
              </a:rPr>
              <a:t>10 tonnes per 12 h</a:t>
            </a:r>
            <a:endParaRPr lang="en-US" sz="1250" dirty="0"/>
          </a:p>
        </p:txBody>
      </p:sp>
      <p:sp>
        <p:nvSpPr>
          <p:cNvPr id="15" name="Shape 12"/>
          <p:cNvSpPr/>
          <p:nvPr/>
        </p:nvSpPr>
        <p:spPr>
          <a:xfrm>
            <a:off x="6287872" y="1810512"/>
            <a:ext cx="5263744" cy="4224528"/>
          </a:xfrm>
          <a:prstGeom prst="roundRect">
            <a:avLst>
              <a:gd name="adj" fmla="val 1299"/>
            </a:avLst>
          </a:prstGeom>
          <a:solidFill>
            <a:srgbClr val="F1F5EF"/>
          </a:solidFill>
          <a:ln w="12700">
            <a:solidFill>
              <a:srgbClr val="F1F5EF"/>
            </a:solidFill>
            <a:prstDash val="solid"/>
          </a:ln>
          <a:effectLst>
            <a:outerShdw sx="100000" sy="100000" kx="0" ky="0" algn="bl" rotWithShape="0" blurRad="152400" dist="25400" dir="5400000">
              <a:srgbClr val="000000">
                <a:alpha val="8000"/>
              </a:srgbClr>
            </a:outerShdw>
          </a:effectLst>
        </p:spPr>
      </p:sp>
      <p:pic>
        <p:nvPicPr>
          <p:cNvPr id="16" name="Image 1" descr="C:\Users\affla\OneDrive\Documents\Saas\Claude projects\COCOPALM\build\img\oil.jpg">    </p:cNvPr>
          <p:cNvPicPr>
            <a:picLocks noChangeAspect="1"/>
          </p:cNvPicPr>
          <p:nvPr/>
        </p:nvPicPr>
        <p:blipFill>
          <a:blip r:embed="rId2"/>
          <a:srcRect l="0" r="0" t="0" b="0"/>
          <a:stretch/>
        </p:blipFill>
        <p:spPr>
          <a:xfrm>
            <a:off x="6287872" y="1810512"/>
            <a:ext cx="5263744" cy="1847088"/>
          </a:xfrm>
          <a:prstGeom prst="rect">
            <a:avLst/>
          </a:prstGeom>
        </p:spPr>
      </p:pic>
      <p:sp>
        <p:nvSpPr>
          <p:cNvPr id="17" name="Shape 13"/>
          <p:cNvSpPr/>
          <p:nvPr/>
        </p:nvSpPr>
        <p:spPr>
          <a:xfrm>
            <a:off x="6562192" y="3803904"/>
            <a:ext cx="493776" cy="493776"/>
          </a:xfrm>
          <a:prstGeom prst="ellipse">
            <a:avLst/>
          </a:prstGeom>
          <a:solidFill>
            <a:srgbClr val="B8860F"/>
          </a:solidFill>
          <a:ln w="12700">
            <a:solidFill>
              <a:srgbClr val="B8860F"/>
            </a:solidFill>
            <a:prstDash val="solid"/>
          </a:ln>
        </p:spPr>
      </p:sp>
      <p:sp>
        <p:nvSpPr>
          <p:cNvPr id="18" name="Text 14"/>
          <p:cNvSpPr/>
          <p:nvPr/>
        </p:nvSpPr>
        <p:spPr>
          <a:xfrm>
            <a:off x="6562192" y="3803904"/>
            <a:ext cx="493776" cy="493776"/>
          </a:xfrm>
          <a:prstGeom prst="rect">
            <a:avLst/>
          </a:prstGeom>
          <a:noFill/>
          <a:ln/>
        </p:spPr>
        <p:txBody>
          <a:bodyPr wrap="square" lIns="0" tIns="0" rIns="0" bIns="0" rtlCol="0" anchor="ctr"/>
          <a:lstStyle/>
          <a:p>
            <a:pPr algn="ctr" indent="0" marL="0">
              <a:buNone/>
            </a:pPr>
            <a:r>
              <a:rPr lang="en-US" sz="1200" b="1" dirty="0">
                <a:solidFill>
                  <a:srgbClr val="FFFFFF"/>
                </a:solidFill>
                <a:latin typeface="Cambria" pitchFamily="34" charset="0"/>
                <a:ea typeface="Cambria" pitchFamily="34" charset="-122"/>
                <a:cs typeface="Cambria" pitchFamily="34" charset="-120"/>
              </a:rPr>
              <a:t>08</a:t>
            </a:r>
            <a:endParaRPr lang="en-US" sz="1200" dirty="0"/>
          </a:p>
        </p:txBody>
      </p:sp>
      <p:sp>
        <p:nvSpPr>
          <p:cNvPr id="19" name="Text 15"/>
          <p:cNvSpPr/>
          <p:nvPr/>
        </p:nvSpPr>
        <p:spPr>
          <a:xfrm>
            <a:off x="7183984" y="3803904"/>
            <a:ext cx="4093312" cy="493776"/>
          </a:xfrm>
          <a:prstGeom prst="rect">
            <a:avLst/>
          </a:prstGeom>
          <a:noFill/>
          <a:ln/>
        </p:spPr>
        <p:txBody>
          <a:bodyPr wrap="square" lIns="0" tIns="0" rIns="0" bIns="0" rtlCol="0" anchor="ctr"/>
          <a:lstStyle/>
          <a:p>
            <a:pPr indent="0" marL="0">
              <a:buNone/>
            </a:pPr>
            <a:r>
              <a:rPr lang="en-US" sz="1700" b="1" dirty="0">
                <a:solidFill>
                  <a:srgbClr val="14532D"/>
                </a:solidFill>
                <a:latin typeface="Cambria" pitchFamily="34" charset="0"/>
                <a:ea typeface="Cambria" pitchFamily="34" charset="-122"/>
                <a:cs typeface="Cambria" pitchFamily="34" charset="-120"/>
              </a:rPr>
              <a:t>Expelling and filtration</a:t>
            </a:r>
            <a:endParaRPr lang="en-US" sz="1700" dirty="0"/>
          </a:p>
        </p:txBody>
      </p:sp>
      <p:sp>
        <p:nvSpPr>
          <p:cNvPr id="20" name="Text 16"/>
          <p:cNvSpPr/>
          <p:nvPr/>
        </p:nvSpPr>
        <p:spPr>
          <a:xfrm>
            <a:off x="6562192" y="4443984"/>
            <a:ext cx="4715104" cy="914400"/>
          </a:xfrm>
          <a:prstGeom prst="rect">
            <a:avLst/>
          </a:prstGeom>
          <a:noFill/>
          <a:ln/>
        </p:spPr>
        <p:txBody>
          <a:bodyPr wrap="square" lIns="0" tIns="0" rIns="0" bIns="0" rtlCol="0" anchor="t"/>
          <a:lstStyle/>
          <a:p>
            <a:pPr indent="0" marL="0">
              <a:lnSpc>
                <a:spcPct val="124000"/>
              </a:lnSpc>
              <a:buNone/>
            </a:pPr>
            <a:r>
              <a:rPr lang="en-US" sz="1200" dirty="0">
                <a:solidFill>
                  <a:srgbClr val="232C24"/>
                </a:solidFill>
                <a:latin typeface="Calibri" pitchFamily="34" charset="0"/>
                <a:ea typeface="Calibri" pitchFamily="34" charset="-122"/>
                <a:cs typeface="Calibri" pitchFamily="34" charset="-120"/>
              </a:rPr>
              <a:t>The pulverised kernel is fed into an expeller and pressed mechanically. The extracted oil then passes through advanced filtration to finished grade.</a:t>
            </a:r>
            <a:endParaRPr lang="en-US" sz="1200" dirty="0"/>
          </a:p>
        </p:txBody>
      </p:sp>
      <p:sp>
        <p:nvSpPr>
          <p:cNvPr id="21" name="Text 17"/>
          <p:cNvSpPr/>
          <p:nvPr/>
        </p:nvSpPr>
        <p:spPr>
          <a:xfrm>
            <a:off x="6562192" y="5413248"/>
            <a:ext cx="1920240" cy="274320"/>
          </a:xfrm>
          <a:prstGeom prst="rect">
            <a:avLst/>
          </a:prstGeom>
          <a:noFill/>
          <a:ln/>
        </p:spPr>
        <p:txBody>
          <a:bodyPr wrap="square" lIns="0" tIns="0" rIns="0" bIns="0" rtlCol="0" anchor="ctr"/>
          <a:lstStyle/>
          <a:p>
            <a:pPr indent="0" marL="0">
              <a:buNone/>
            </a:pPr>
            <a:r>
              <a:rPr lang="en-US" sz="1150" b="1" spc="80" kern="0" dirty="0">
                <a:solidFill>
                  <a:srgbClr val="6E7A6F"/>
                </a:solidFill>
                <a:latin typeface="Calibri" pitchFamily="34" charset="0"/>
                <a:ea typeface="Calibri" pitchFamily="34" charset="-122"/>
                <a:cs typeface="Calibri" pitchFamily="34" charset="-120"/>
              </a:rPr>
              <a:t>FFA at despatch</a:t>
            </a:r>
            <a:endParaRPr lang="en-US" sz="1150" dirty="0"/>
          </a:p>
        </p:txBody>
      </p:sp>
      <p:sp>
        <p:nvSpPr>
          <p:cNvPr id="22" name="Text 18"/>
          <p:cNvSpPr/>
          <p:nvPr/>
        </p:nvSpPr>
        <p:spPr>
          <a:xfrm>
            <a:off x="8482432" y="5413248"/>
            <a:ext cx="2794864" cy="274320"/>
          </a:xfrm>
          <a:prstGeom prst="rect">
            <a:avLst/>
          </a:prstGeom>
          <a:noFill/>
          <a:ln/>
        </p:spPr>
        <p:txBody>
          <a:bodyPr wrap="square" lIns="0" tIns="0" rIns="0" bIns="0" rtlCol="0" anchor="ctr"/>
          <a:lstStyle/>
          <a:p>
            <a:pPr indent="0" marL="0">
              <a:buNone/>
            </a:pPr>
            <a:r>
              <a:rPr lang="en-US" sz="1250" dirty="0">
                <a:solidFill>
                  <a:srgbClr val="232C24"/>
                </a:solidFill>
                <a:latin typeface="Calibri" pitchFamily="34" charset="0"/>
                <a:ea typeface="Calibri" pitchFamily="34" charset="-122"/>
                <a:cs typeface="Calibri" pitchFamily="34" charset="-120"/>
              </a:rPr>
              <a:t>below 0.5%</a:t>
            </a:r>
            <a:endParaRPr lang="en-US" sz="1250" dirty="0"/>
          </a:p>
        </p:txBody>
      </p:sp>
      <p:sp>
        <p:nvSpPr>
          <p:cNvPr id="23" name="Text 19"/>
          <p:cNvSpPr/>
          <p:nvPr/>
        </p:nvSpPr>
        <p:spPr>
          <a:xfrm>
            <a:off x="6562192" y="5742432"/>
            <a:ext cx="1920240" cy="274320"/>
          </a:xfrm>
          <a:prstGeom prst="rect">
            <a:avLst/>
          </a:prstGeom>
          <a:noFill/>
          <a:ln/>
        </p:spPr>
        <p:txBody>
          <a:bodyPr wrap="square" lIns="0" tIns="0" rIns="0" bIns="0" rtlCol="0" anchor="ctr"/>
          <a:lstStyle/>
          <a:p>
            <a:pPr indent="0" marL="0">
              <a:buNone/>
            </a:pPr>
            <a:r>
              <a:rPr lang="en-US" sz="1150" b="1" spc="80" kern="0" dirty="0">
                <a:solidFill>
                  <a:srgbClr val="6E7A6F"/>
                </a:solidFill>
                <a:latin typeface="Calibri" pitchFamily="34" charset="0"/>
                <a:ea typeface="Calibri" pitchFamily="34" charset="-122"/>
                <a:cs typeface="Calibri" pitchFamily="34" charset="-120"/>
              </a:rPr>
              <a:t>Chemical use</a:t>
            </a:r>
            <a:endParaRPr lang="en-US" sz="1150" dirty="0"/>
          </a:p>
        </p:txBody>
      </p:sp>
      <p:sp>
        <p:nvSpPr>
          <p:cNvPr id="24" name="Text 20"/>
          <p:cNvSpPr/>
          <p:nvPr/>
        </p:nvSpPr>
        <p:spPr>
          <a:xfrm>
            <a:off x="8482432" y="5742432"/>
            <a:ext cx="2794864" cy="274320"/>
          </a:xfrm>
          <a:prstGeom prst="rect">
            <a:avLst/>
          </a:prstGeom>
          <a:noFill/>
          <a:ln/>
        </p:spPr>
        <p:txBody>
          <a:bodyPr wrap="square" lIns="0" tIns="0" rIns="0" bIns="0" rtlCol="0" anchor="ctr"/>
          <a:lstStyle/>
          <a:p>
            <a:pPr indent="0" marL="0">
              <a:buNone/>
            </a:pPr>
            <a:r>
              <a:rPr lang="en-US" sz="1250" dirty="0">
                <a:solidFill>
                  <a:srgbClr val="232C24"/>
                </a:solidFill>
                <a:latin typeface="Calibri" pitchFamily="34" charset="0"/>
                <a:ea typeface="Calibri" pitchFamily="34" charset="-122"/>
                <a:cs typeface="Calibri" pitchFamily="34" charset="-120"/>
              </a:rPr>
              <a:t>None - sulfur-free</a:t>
            </a:r>
            <a:endParaRPr lang="en-US" sz="1250" dirty="0"/>
          </a:p>
        </p:txBody>
      </p:sp>
      <p:sp>
        <p:nvSpPr>
          <p:cNvPr id="25" name="Text 21"/>
          <p:cNvSpPr/>
          <p:nvPr/>
        </p:nvSpPr>
        <p:spPr>
          <a:xfrm>
            <a:off x="640080" y="6382512"/>
            <a:ext cx="5486400" cy="237744"/>
          </a:xfrm>
          <a:prstGeom prst="rect">
            <a:avLst/>
          </a:prstGeom>
          <a:noFill/>
          <a:ln/>
        </p:spPr>
        <p:txBody>
          <a:bodyPr wrap="square" lIns="0" tIns="0" rIns="0" bIns="0" rtlCol="0" anchor="ctr"/>
          <a:lstStyle/>
          <a:p>
            <a:pPr indent="0" marL="0">
              <a:buNone/>
            </a:pPr>
            <a:r>
              <a:rPr lang="en-US" sz="900" spc="60" kern="0" dirty="0">
                <a:solidFill>
                  <a:srgbClr val="6E7A6F"/>
                </a:solidFill>
                <a:latin typeface="Calibri" pitchFamily="34" charset="0"/>
                <a:ea typeface="Calibri" pitchFamily="34" charset="-122"/>
                <a:cs typeface="Calibri" pitchFamily="34" charset="-120"/>
              </a:rPr>
              <a:t>Coco Palms Skylanes and Allied Products</a:t>
            </a:r>
            <a:endParaRPr lang="en-US" sz="900" dirty="0"/>
          </a:p>
        </p:txBody>
      </p:sp>
      <p:sp>
        <p:nvSpPr>
          <p:cNvPr id="26" name="Text 22"/>
          <p:cNvSpPr/>
          <p:nvPr/>
        </p:nvSpPr>
        <p:spPr>
          <a:xfrm>
            <a:off x="10637215" y="6382512"/>
            <a:ext cx="914400" cy="237744"/>
          </a:xfrm>
          <a:prstGeom prst="rect">
            <a:avLst/>
          </a:prstGeom>
          <a:noFill/>
          <a:ln/>
        </p:spPr>
        <p:txBody>
          <a:bodyPr wrap="square" lIns="0" tIns="0" rIns="0" bIns="0" rtlCol="0" anchor="ctr"/>
          <a:lstStyle/>
          <a:p>
            <a:pPr algn="r" indent="0" marL="0">
              <a:buNone/>
            </a:pPr>
            <a:r>
              <a:rPr lang="en-US" sz="900" dirty="0">
                <a:solidFill>
                  <a:srgbClr val="6E7A6F"/>
                </a:solidFill>
                <a:latin typeface="Calibri" pitchFamily="34" charset="0"/>
                <a:ea typeface="Calibri" pitchFamily="34" charset="-122"/>
                <a:cs typeface="Calibri" pitchFamily="34" charset="-120"/>
              </a:rPr>
              <a:t>8</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FFFFF"/>
          </a:solidFill>
          <a:ln w="12700">
            <a:solidFill>
              <a:srgbClr val="FFFFFF"/>
            </a:solidFill>
            <a:prstDash val="solid"/>
          </a:ln>
        </p:spPr>
      </p:sp>
      <p:sp>
        <p:nvSpPr>
          <p:cNvPr id="3" name="Text 1"/>
          <p:cNvSpPr/>
          <p:nvPr/>
        </p:nvSpPr>
        <p:spPr>
          <a:xfrm>
            <a:off x="640080" y="566928"/>
            <a:ext cx="10911535" cy="256032"/>
          </a:xfrm>
          <a:prstGeom prst="rect">
            <a:avLst/>
          </a:prstGeom>
          <a:noFill/>
          <a:ln/>
        </p:spPr>
        <p:txBody>
          <a:bodyPr wrap="square" lIns="0" tIns="0" rIns="0" bIns="0" rtlCol="0" anchor="ctr"/>
          <a:lstStyle/>
          <a:p>
            <a:pPr indent="0" marL="0">
              <a:buNone/>
            </a:pPr>
            <a:r>
              <a:rPr lang="en-US" sz="1150" b="1" spc="240" kern="0" dirty="0">
                <a:solidFill>
                  <a:srgbClr val="B8860F"/>
                </a:solidFill>
                <a:latin typeface="Calibri" pitchFamily="34" charset="0"/>
                <a:ea typeface="Calibri" pitchFamily="34" charset="-122"/>
                <a:cs typeface="Calibri" pitchFamily="34" charset="-120"/>
              </a:rPr>
              <a:t>QUALITY ASSURANCE</a:t>
            </a:r>
            <a:endParaRPr lang="en-US" sz="1150" dirty="0"/>
          </a:p>
        </p:txBody>
      </p:sp>
      <p:sp>
        <p:nvSpPr>
          <p:cNvPr id="4" name="Text 2"/>
          <p:cNvSpPr/>
          <p:nvPr/>
        </p:nvSpPr>
        <p:spPr>
          <a:xfrm>
            <a:off x="640080" y="877824"/>
            <a:ext cx="10911535" cy="749808"/>
          </a:xfrm>
          <a:prstGeom prst="rect">
            <a:avLst/>
          </a:prstGeom>
          <a:noFill/>
          <a:ln/>
        </p:spPr>
        <p:txBody>
          <a:bodyPr wrap="square" lIns="0" tIns="0" rIns="0" bIns="0" rtlCol="0" anchor="t"/>
          <a:lstStyle/>
          <a:p>
            <a:pPr indent="0" marL="0">
              <a:buNone/>
            </a:pPr>
            <a:r>
              <a:rPr lang="en-US" sz="3400" b="1" dirty="0">
                <a:solidFill>
                  <a:srgbClr val="14532D"/>
                </a:solidFill>
                <a:latin typeface="Cambria" pitchFamily="34" charset="0"/>
                <a:ea typeface="Cambria" pitchFamily="34" charset="-122"/>
                <a:cs typeface="Cambria" pitchFamily="34" charset="-120"/>
              </a:rPr>
              <a:t>Tested, not assumed</a:t>
            </a:r>
            <a:endParaRPr lang="en-US" sz="3400" dirty="0"/>
          </a:p>
        </p:txBody>
      </p:sp>
      <p:sp>
        <p:nvSpPr>
          <p:cNvPr id="5" name="Text 3"/>
          <p:cNvSpPr/>
          <p:nvPr/>
        </p:nvSpPr>
        <p:spPr>
          <a:xfrm>
            <a:off x="640080" y="1828800"/>
            <a:ext cx="5029200" cy="1572768"/>
          </a:xfrm>
          <a:prstGeom prst="rect">
            <a:avLst/>
          </a:prstGeom>
          <a:noFill/>
          <a:ln/>
        </p:spPr>
        <p:txBody>
          <a:bodyPr wrap="square" lIns="0" tIns="0" rIns="0" bIns="0" rtlCol="0" anchor="t"/>
          <a:lstStyle/>
          <a:p>
            <a:pPr indent="0" marL="0">
              <a:lnSpc>
                <a:spcPct val="126000"/>
              </a:lnSpc>
              <a:buNone/>
            </a:pPr>
            <a:r>
              <a:rPr lang="en-US" sz="1300" dirty="0">
                <a:solidFill>
                  <a:srgbClr val="232C24"/>
                </a:solidFill>
                <a:latin typeface="Calibri" pitchFamily="34" charset="0"/>
                <a:ea typeface="Calibri" pitchFamily="34" charset="-122"/>
                <a:cs typeface="Calibri" pitchFamily="34" charset="-120"/>
              </a:rPr>
              <a:t>Quality is managed under an ISO 9001 system, the plant is FSSAI licensed, and testing is backed by NABL accreditation - the Indian national standard for laboratory competence. Every manufacturing batch is tested by our quality assurance team in our own in-house laboratory before it reaches a customer.</a:t>
            </a:r>
            <a:endParaRPr lang="en-US" sz="1300" dirty="0"/>
          </a:p>
        </p:txBody>
      </p:sp>
      <p:sp>
        <p:nvSpPr>
          <p:cNvPr id="6" name="Shape 4"/>
          <p:cNvSpPr/>
          <p:nvPr/>
        </p:nvSpPr>
        <p:spPr>
          <a:xfrm>
            <a:off x="640080" y="3346704"/>
            <a:ext cx="5029200" cy="749808"/>
          </a:xfrm>
          <a:prstGeom prst="roundRect">
            <a:avLst>
              <a:gd name="adj" fmla="val 7317"/>
            </a:avLst>
          </a:prstGeom>
          <a:solidFill>
            <a:srgbClr val="F1F5EF"/>
          </a:solidFill>
          <a:ln w="12700">
            <a:solidFill>
              <a:srgbClr val="F1F5EF"/>
            </a:solidFill>
            <a:prstDash val="solid"/>
          </a:ln>
        </p:spPr>
      </p:sp>
      <p:sp>
        <p:nvSpPr>
          <p:cNvPr id="7" name="Shape 5"/>
          <p:cNvSpPr/>
          <p:nvPr/>
        </p:nvSpPr>
        <p:spPr>
          <a:xfrm>
            <a:off x="859536" y="3502152"/>
            <a:ext cx="438912" cy="438912"/>
          </a:xfrm>
          <a:prstGeom prst="ellipse">
            <a:avLst/>
          </a:prstGeom>
          <a:solidFill>
            <a:srgbClr val="B8860F"/>
          </a:solidFill>
          <a:ln w="12700">
            <a:solidFill>
              <a:srgbClr val="B8860F"/>
            </a:solidFill>
            <a:prstDash val="solid"/>
          </a:ln>
        </p:spPr>
      </p:sp>
      <p:sp>
        <p:nvSpPr>
          <p:cNvPr id="8" name="Text 6"/>
          <p:cNvSpPr/>
          <p:nvPr/>
        </p:nvSpPr>
        <p:spPr>
          <a:xfrm>
            <a:off x="859536" y="3502152"/>
            <a:ext cx="438912" cy="438912"/>
          </a:xfrm>
          <a:prstGeom prst="rect">
            <a:avLst/>
          </a:prstGeom>
          <a:noFill/>
          <a:ln/>
        </p:spPr>
        <p:txBody>
          <a:bodyPr wrap="square" lIns="0" tIns="0" rIns="0" bIns="0" rtlCol="0" anchor="ctr"/>
          <a:lstStyle/>
          <a:p>
            <a:pPr algn="ctr" indent="0" marL="0">
              <a:buNone/>
            </a:pPr>
            <a:r>
              <a:rPr lang="en-US" sz="1200" b="1" dirty="0">
                <a:solidFill>
                  <a:srgbClr val="FFFFFF"/>
                </a:solidFill>
                <a:latin typeface="Cambria" pitchFamily="34" charset="0"/>
                <a:ea typeface="Cambria" pitchFamily="34" charset="-122"/>
                <a:cs typeface="Cambria" pitchFamily="34" charset="-120"/>
              </a:rPr>
              <a:t>1</a:t>
            </a:r>
            <a:endParaRPr lang="en-US" sz="1200" dirty="0"/>
          </a:p>
        </p:txBody>
      </p:sp>
      <p:sp>
        <p:nvSpPr>
          <p:cNvPr id="9" name="Text 7"/>
          <p:cNvSpPr/>
          <p:nvPr/>
        </p:nvSpPr>
        <p:spPr>
          <a:xfrm>
            <a:off x="1463040" y="3438144"/>
            <a:ext cx="3977640" cy="310896"/>
          </a:xfrm>
          <a:prstGeom prst="rect">
            <a:avLst/>
          </a:prstGeom>
          <a:noFill/>
          <a:ln/>
        </p:spPr>
        <p:txBody>
          <a:bodyPr wrap="square" lIns="0" tIns="0" rIns="0" bIns="0" rtlCol="0" anchor="ctr"/>
          <a:lstStyle/>
          <a:p>
            <a:pPr indent="0" marL="0">
              <a:buNone/>
            </a:pPr>
            <a:r>
              <a:rPr lang="en-US" sz="1400" b="1" dirty="0">
                <a:solidFill>
                  <a:srgbClr val="14532D"/>
                </a:solidFill>
                <a:latin typeface="Cambria" pitchFamily="34" charset="0"/>
                <a:ea typeface="Cambria" pitchFamily="34" charset="-122"/>
                <a:cs typeface="Cambria" pitchFamily="34" charset="-120"/>
              </a:rPr>
              <a:t>ISO 9001</a:t>
            </a:r>
            <a:endParaRPr lang="en-US" sz="1400" dirty="0"/>
          </a:p>
        </p:txBody>
      </p:sp>
      <p:sp>
        <p:nvSpPr>
          <p:cNvPr id="10" name="Text 8"/>
          <p:cNvSpPr/>
          <p:nvPr/>
        </p:nvSpPr>
        <p:spPr>
          <a:xfrm>
            <a:off x="1463040" y="3730752"/>
            <a:ext cx="3977640" cy="274320"/>
          </a:xfrm>
          <a:prstGeom prst="rect">
            <a:avLst/>
          </a:prstGeom>
          <a:noFill/>
          <a:ln/>
        </p:spPr>
        <p:txBody>
          <a:bodyPr wrap="square" lIns="0" tIns="0" rIns="0" bIns="0" rtlCol="0" anchor="ctr"/>
          <a:lstStyle/>
          <a:p>
            <a:pPr indent="0" marL="0">
              <a:buNone/>
            </a:pPr>
            <a:r>
              <a:rPr lang="en-US" sz="1050" dirty="0">
                <a:solidFill>
                  <a:srgbClr val="6E7A6F"/>
                </a:solidFill>
                <a:latin typeface="Calibri" pitchFamily="34" charset="0"/>
                <a:ea typeface="Calibri" pitchFamily="34" charset="-122"/>
                <a:cs typeface="Calibri" pitchFamily="34" charset="-120"/>
              </a:rPr>
              <a:t>Quality management system</a:t>
            </a:r>
            <a:endParaRPr lang="en-US" sz="1050" dirty="0"/>
          </a:p>
        </p:txBody>
      </p:sp>
      <p:sp>
        <p:nvSpPr>
          <p:cNvPr id="11" name="Shape 9"/>
          <p:cNvSpPr/>
          <p:nvPr/>
        </p:nvSpPr>
        <p:spPr>
          <a:xfrm>
            <a:off x="640080" y="4206240"/>
            <a:ext cx="5029200" cy="749808"/>
          </a:xfrm>
          <a:prstGeom prst="roundRect">
            <a:avLst>
              <a:gd name="adj" fmla="val 7317"/>
            </a:avLst>
          </a:prstGeom>
          <a:solidFill>
            <a:srgbClr val="F1F5EF"/>
          </a:solidFill>
          <a:ln w="12700">
            <a:solidFill>
              <a:srgbClr val="F1F5EF"/>
            </a:solidFill>
            <a:prstDash val="solid"/>
          </a:ln>
        </p:spPr>
      </p:sp>
      <p:sp>
        <p:nvSpPr>
          <p:cNvPr id="12" name="Shape 10"/>
          <p:cNvSpPr/>
          <p:nvPr/>
        </p:nvSpPr>
        <p:spPr>
          <a:xfrm>
            <a:off x="859536" y="4361688"/>
            <a:ext cx="438912" cy="438912"/>
          </a:xfrm>
          <a:prstGeom prst="ellipse">
            <a:avLst/>
          </a:prstGeom>
          <a:solidFill>
            <a:srgbClr val="B8860F"/>
          </a:solidFill>
          <a:ln w="12700">
            <a:solidFill>
              <a:srgbClr val="B8860F"/>
            </a:solidFill>
            <a:prstDash val="solid"/>
          </a:ln>
        </p:spPr>
      </p:sp>
      <p:sp>
        <p:nvSpPr>
          <p:cNvPr id="13" name="Text 11"/>
          <p:cNvSpPr/>
          <p:nvPr/>
        </p:nvSpPr>
        <p:spPr>
          <a:xfrm>
            <a:off x="859536" y="4361688"/>
            <a:ext cx="438912" cy="438912"/>
          </a:xfrm>
          <a:prstGeom prst="rect">
            <a:avLst/>
          </a:prstGeom>
          <a:noFill/>
          <a:ln/>
        </p:spPr>
        <p:txBody>
          <a:bodyPr wrap="square" lIns="0" tIns="0" rIns="0" bIns="0" rtlCol="0" anchor="ctr"/>
          <a:lstStyle/>
          <a:p>
            <a:pPr algn="ctr" indent="0" marL="0">
              <a:buNone/>
            </a:pPr>
            <a:r>
              <a:rPr lang="en-US" sz="1200" b="1" dirty="0">
                <a:solidFill>
                  <a:srgbClr val="FFFFFF"/>
                </a:solidFill>
                <a:latin typeface="Cambria" pitchFamily="34" charset="0"/>
                <a:ea typeface="Cambria" pitchFamily="34" charset="-122"/>
                <a:cs typeface="Cambria" pitchFamily="34" charset="-120"/>
              </a:rPr>
              <a:t>2</a:t>
            </a:r>
            <a:endParaRPr lang="en-US" sz="1200" dirty="0"/>
          </a:p>
        </p:txBody>
      </p:sp>
      <p:sp>
        <p:nvSpPr>
          <p:cNvPr id="14" name="Text 12"/>
          <p:cNvSpPr/>
          <p:nvPr/>
        </p:nvSpPr>
        <p:spPr>
          <a:xfrm>
            <a:off x="1463040" y="4297680"/>
            <a:ext cx="3977640" cy="310896"/>
          </a:xfrm>
          <a:prstGeom prst="rect">
            <a:avLst/>
          </a:prstGeom>
          <a:noFill/>
          <a:ln/>
        </p:spPr>
        <p:txBody>
          <a:bodyPr wrap="square" lIns="0" tIns="0" rIns="0" bIns="0" rtlCol="0" anchor="ctr"/>
          <a:lstStyle/>
          <a:p>
            <a:pPr indent="0" marL="0">
              <a:buNone/>
            </a:pPr>
            <a:r>
              <a:rPr lang="en-US" sz="1400" b="1" dirty="0">
                <a:solidFill>
                  <a:srgbClr val="14532D"/>
                </a:solidFill>
                <a:latin typeface="Cambria" pitchFamily="34" charset="0"/>
                <a:ea typeface="Cambria" pitchFamily="34" charset="-122"/>
                <a:cs typeface="Cambria" pitchFamily="34" charset="-120"/>
              </a:rPr>
              <a:t>FSSAI</a:t>
            </a:r>
            <a:endParaRPr lang="en-US" sz="1400" dirty="0"/>
          </a:p>
        </p:txBody>
      </p:sp>
      <p:sp>
        <p:nvSpPr>
          <p:cNvPr id="15" name="Text 13"/>
          <p:cNvSpPr/>
          <p:nvPr/>
        </p:nvSpPr>
        <p:spPr>
          <a:xfrm>
            <a:off x="1463040" y="4590288"/>
            <a:ext cx="3977640" cy="274320"/>
          </a:xfrm>
          <a:prstGeom prst="rect">
            <a:avLst/>
          </a:prstGeom>
          <a:noFill/>
          <a:ln/>
        </p:spPr>
        <p:txBody>
          <a:bodyPr wrap="square" lIns="0" tIns="0" rIns="0" bIns="0" rtlCol="0" anchor="ctr"/>
          <a:lstStyle/>
          <a:p>
            <a:pPr indent="0" marL="0">
              <a:buNone/>
            </a:pPr>
            <a:r>
              <a:rPr lang="en-US" sz="1050" dirty="0">
                <a:solidFill>
                  <a:srgbClr val="6E7A6F"/>
                </a:solidFill>
                <a:latin typeface="Calibri" pitchFamily="34" charset="0"/>
                <a:ea typeface="Calibri" pitchFamily="34" charset="-122"/>
                <a:cs typeface="Calibri" pitchFamily="34" charset="-120"/>
              </a:rPr>
              <a:t>Indian food safety licence</a:t>
            </a:r>
            <a:endParaRPr lang="en-US" sz="1050" dirty="0"/>
          </a:p>
        </p:txBody>
      </p:sp>
      <p:sp>
        <p:nvSpPr>
          <p:cNvPr id="16" name="Shape 14"/>
          <p:cNvSpPr/>
          <p:nvPr/>
        </p:nvSpPr>
        <p:spPr>
          <a:xfrm>
            <a:off x="640080" y="5065776"/>
            <a:ext cx="5029200" cy="749808"/>
          </a:xfrm>
          <a:prstGeom prst="roundRect">
            <a:avLst>
              <a:gd name="adj" fmla="val 7317"/>
            </a:avLst>
          </a:prstGeom>
          <a:solidFill>
            <a:srgbClr val="F1F5EF"/>
          </a:solidFill>
          <a:ln w="12700">
            <a:solidFill>
              <a:srgbClr val="F1F5EF"/>
            </a:solidFill>
            <a:prstDash val="solid"/>
          </a:ln>
        </p:spPr>
      </p:sp>
      <p:sp>
        <p:nvSpPr>
          <p:cNvPr id="17" name="Shape 15"/>
          <p:cNvSpPr/>
          <p:nvPr/>
        </p:nvSpPr>
        <p:spPr>
          <a:xfrm>
            <a:off x="859536" y="5221224"/>
            <a:ext cx="438912" cy="438912"/>
          </a:xfrm>
          <a:prstGeom prst="ellipse">
            <a:avLst/>
          </a:prstGeom>
          <a:solidFill>
            <a:srgbClr val="B8860F"/>
          </a:solidFill>
          <a:ln w="12700">
            <a:solidFill>
              <a:srgbClr val="B8860F"/>
            </a:solidFill>
            <a:prstDash val="solid"/>
          </a:ln>
        </p:spPr>
      </p:sp>
      <p:sp>
        <p:nvSpPr>
          <p:cNvPr id="18" name="Text 16"/>
          <p:cNvSpPr/>
          <p:nvPr/>
        </p:nvSpPr>
        <p:spPr>
          <a:xfrm>
            <a:off x="859536" y="5221224"/>
            <a:ext cx="438912" cy="438912"/>
          </a:xfrm>
          <a:prstGeom prst="rect">
            <a:avLst/>
          </a:prstGeom>
          <a:noFill/>
          <a:ln/>
        </p:spPr>
        <p:txBody>
          <a:bodyPr wrap="square" lIns="0" tIns="0" rIns="0" bIns="0" rtlCol="0" anchor="ctr"/>
          <a:lstStyle/>
          <a:p>
            <a:pPr algn="ctr" indent="0" marL="0">
              <a:buNone/>
            </a:pPr>
            <a:r>
              <a:rPr lang="en-US" sz="1200" b="1" dirty="0">
                <a:solidFill>
                  <a:srgbClr val="FFFFFF"/>
                </a:solidFill>
                <a:latin typeface="Cambria" pitchFamily="34" charset="0"/>
                <a:ea typeface="Cambria" pitchFamily="34" charset="-122"/>
                <a:cs typeface="Cambria" pitchFamily="34" charset="-120"/>
              </a:rPr>
              <a:t>3</a:t>
            </a:r>
            <a:endParaRPr lang="en-US" sz="1200" dirty="0"/>
          </a:p>
        </p:txBody>
      </p:sp>
      <p:sp>
        <p:nvSpPr>
          <p:cNvPr id="19" name="Text 17"/>
          <p:cNvSpPr/>
          <p:nvPr/>
        </p:nvSpPr>
        <p:spPr>
          <a:xfrm>
            <a:off x="1463040" y="5157216"/>
            <a:ext cx="3977640" cy="310896"/>
          </a:xfrm>
          <a:prstGeom prst="rect">
            <a:avLst/>
          </a:prstGeom>
          <a:noFill/>
          <a:ln/>
        </p:spPr>
        <p:txBody>
          <a:bodyPr wrap="square" lIns="0" tIns="0" rIns="0" bIns="0" rtlCol="0" anchor="ctr"/>
          <a:lstStyle/>
          <a:p>
            <a:pPr indent="0" marL="0">
              <a:buNone/>
            </a:pPr>
            <a:r>
              <a:rPr lang="en-US" sz="1400" b="1" dirty="0">
                <a:solidFill>
                  <a:srgbClr val="14532D"/>
                </a:solidFill>
                <a:latin typeface="Cambria" pitchFamily="34" charset="0"/>
                <a:ea typeface="Cambria" pitchFamily="34" charset="-122"/>
                <a:cs typeface="Cambria" pitchFamily="34" charset="-120"/>
              </a:rPr>
              <a:t>NABL</a:t>
            </a:r>
            <a:endParaRPr lang="en-US" sz="1400" dirty="0"/>
          </a:p>
        </p:txBody>
      </p:sp>
      <p:sp>
        <p:nvSpPr>
          <p:cNvPr id="20" name="Text 18"/>
          <p:cNvSpPr/>
          <p:nvPr/>
        </p:nvSpPr>
        <p:spPr>
          <a:xfrm>
            <a:off x="1463040" y="5449824"/>
            <a:ext cx="3977640" cy="274320"/>
          </a:xfrm>
          <a:prstGeom prst="rect">
            <a:avLst/>
          </a:prstGeom>
          <a:noFill/>
          <a:ln/>
        </p:spPr>
        <p:txBody>
          <a:bodyPr wrap="square" lIns="0" tIns="0" rIns="0" bIns="0" rtlCol="0" anchor="ctr"/>
          <a:lstStyle/>
          <a:p>
            <a:pPr indent="0" marL="0">
              <a:buNone/>
            </a:pPr>
            <a:r>
              <a:rPr lang="en-US" sz="1050" dirty="0">
                <a:solidFill>
                  <a:srgbClr val="6E7A6F"/>
                </a:solidFill>
                <a:latin typeface="Calibri" pitchFamily="34" charset="0"/>
                <a:ea typeface="Calibri" pitchFamily="34" charset="-122"/>
                <a:cs typeface="Calibri" pitchFamily="34" charset="-120"/>
              </a:rPr>
              <a:t>Accredited laboratory testing</a:t>
            </a:r>
            <a:endParaRPr lang="en-US" sz="1050" dirty="0"/>
          </a:p>
        </p:txBody>
      </p:sp>
      <p:sp>
        <p:nvSpPr>
          <p:cNvPr id="21" name="Text 19"/>
          <p:cNvSpPr/>
          <p:nvPr/>
        </p:nvSpPr>
        <p:spPr>
          <a:xfrm>
            <a:off x="6236208" y="1828800"/>
            <a:ext cx="5315407" cy="292608"/>
          </a:xfrm>
          <a:prstGeom prst="rect">
            <a:avLst/>
          </a:prstGeom>
          <a:noFill/>
          <a:ln/>
        </p:spPr>
        <p:txBody>
          <a:bodyPr wrap="square" lIns="0" tIns="0" rIns="0" bIns="0" rtlCol="0" anchor="ctr"/>
          <a:lstStyle/>
          <a:p>
            <a:pPr indent="0" marL="0">
              <a:buNone/>
            </a:pPr>
            <a:r>
              <a:rPr lang="en-US" sz="1100" b="1" spc="140" kern="0" dirty="0">
                <a:solidFill>
                  <a:srgbClr val="14532D"/>
                </a:solidFill>
                <a:latin typeface="Calibri" pitchFamily="34" charset="0"/>
                <a:ea typeface="Calibri" pitchFamily="34" charset="-122"/>
                <a:cs typeface="Calibri" pitchFamily="34" charset="-120"/>
              </a:rPr>
              <a:t>Release specification per batch</a:t>
            </a:r>
            <a:endParaRPr lang="en-US" sz="1100" dirty="0"/>
          </a:p>
        </p:txBody>
      </p:sp>
      <p:graphicFrame>
        <p:nvGraphicFramePr>
          <p:cNvPr id="10" name="Table 0"/>
          <p:cNvGraphicFramePr>
            <a:graphicFrameLocks noGrp="1"/>
          </p:cNvGraphicFramePr>
          <p:nvPr>
            <p:extLst>
              <p:ext uri="{D42A27DB-BD31-4B8C-83A1-F6EECF244321}">
                <p14:modId xmlns:p14="http://schemas.microsoft.com/office/powerpoint/2010/main" val="1579011935"/>
              </p:ext>
            </p:extLst>
          </p:nvPr>
        </p:nvGraphicFramePr>
        <p:xfrm>
          <a:off x="6236208" y="2212848"/>
          <a:ext cx="5315407" cy="914400"/>
        </p:xfrm>
        <a:graphic>
          <a:graphicData uri="http://schemas.openxmlformats.org/drawingml/2006/table">
            <a:tbl>
              <a:tblPr/>
              <a:tblGrid>
                <a:gridCol w="1966701"/>
                <a:gridCol w="1700930"/>
                <a:gridCol w="1647776"/>
              </a:tblGrid>
              <a:tr h="384048">
                <a:tc>
                  <a:txBody>
                    <a:bodyPr/>
                    <a:lstStyle/>
                    <a:p>
                      <a:pPr indent="0" marL="0">
                        <a:buNone/>
                      </a:pPr>
                      <a:r>
                        <a:rPr lang="en-US" sz="1100" b="1" dirty="0">
                          <a:solidFill>
                            <a:srgbClr val="232C24"/>
                          </a:solidFill>
                          <a:latin typeface="Calibri" pitchFamily="34" charset="0"/>
                          <a:ea typeface="Calibri" pitchFamily="34" charset="-122"/>
                          <a:cs typeface="Calibri" pitchFamily="34" charset="-120"/>
                        </a:rPr>
                        <a:t>Parameter</a:t>
                      </a:r>
                      <a:endParaRPr lang="en-US" sz="1100" dirty="0">
                        <a:latin typeface="Calibri" charset="0"/>
                        <a:ea typeface="Calibri" charset="0"/>
                        <a:cs typeface="Calibri" charset="0"/>
                      </a:endParaRPr>
                    </a:p>
                  </a:txBody>
                  <a:tcPr marL="109728" marR="109728" marT="0" marB="0" anchor="ctr">
                    <a:lnL w="9525" cap="flat" cmpd="sng" algn="ctr">
                      <a:solidFill>
                        <a:srgbClr val="DDE5DB"/>
                      </a:solidFill>
                      <a:prstDash val="solid"/>
                      <a:round/>
                      <a:headEnd type="none" w="med" len="med"/>
                      <a:tailEnd type="none" w="med" len="med"/>
                    </a:lnL>
                    <a:lnR w="9525" cap="flat" cmpd="sng" algn="ctr">
                      <a:solidFill>
                        <a:srgbClr val="DDE5DB"/>
                      </a:solidFill>
                      <a:prstDash val="solid"/>
                      <a:round/>
                      <a:headEnd type="none" w="med" len="med"/>
                      <a:tailEnd type="none" w="med" len="med"/>
                    </a:lnR>
                    <a:lnT w="9525" cap="flat" cmpd="sng" algn="ctr">
                      <a:solidFill>
                        <a:srgbClr val="DDE5DB"/>
                      </a:solidFill>
                      <a:prstDash val="solid"/>
                      <a:round/>
                      <a:headEnd type="none" w="med" len="med"/>
                      <a:tailEnd type="none" w="med" len="med"/>
                    </a:lnT>
                    <a:lnB w="9525" cap="flat" cmpd="sng" algn="ctr">
                      <a:solidFill>
                        <a:srgbClr val="DDE5DB"/>
                      </a:solidFill>
                      <a:prstDash val="solid"/>
                      <a:round/>
                      <a:headEnd type="none" w="med" len="med"/>
                      <a:tailEnd type="none" w="med" len="med"/>
                    </a:lnB>
                    <a:solidFill>
                      <a:srgbClr val="FFFFFF"/>
                    </a:solidFill>
                  </a:tcPr>
                </a:tc>
                <a:tc>
                  <a:txBody>
                    <a:bodyPr/>
                    <a:lstStyle/>
                    <a:p>
                      <a:pPr indent="0" marL="0">
                        <a:buNone/>
                      </a:pPr>
                      <a:r>
                        <a:rPr lang="en-US" sz="1100" b="1" dirty="0">
                          <a:solidFill>
                            <a:srgbClr val="232C24"/>
                          </a:solidFill>
                          <a:latin typeface="Calibri" pitchFamily="34" charset="0"/>
                          <a:ea typeface="Calibri" pitchFamily="34" charset="-122"/>
                          <a:cs typeface="Calibri" pitchFamily="34" charset="-120"/>
                        </a:rPr>
                        <a:t>Method</a:t>
                      </a:r>
                      <a:endParaRPr lang="en-US" sz="1100" dirty="0">
                        <a:latin typeface="Calibri" charset="0"/>
                        <a:ea typeface="Calibri" charset="0"/>
                        <a:cs typeface="Calibri" charset="0"/>
                      </a:endParaRPr>
                    </a:p>
                  </a:txBody>
                  <a:tcPr marL="109728" marR="109728" marT="0" marB="0" anchor="ctr">
                    <a:lnL w="9525" cap="flat" cmpd="sng" algn="ctr">
                      <a:solidFill>
                        <a:srgbClr val="DDE5DB"/>
                      </a:solidFill>
                      <a:prstDash val="solid"/>
                      <a:round/>
                      <a:headEnd type="none" w="med" len="med"/>
                      <a:tailEnd type="none" w="med" len="med"/>
                    </a:lnL>
                    <a:lnR w="9525" cap="flat" cmpd="sng" algn="ctr">
                      <a:solidFill>
                        <a:srgbClr val="DDE5DB"/>
                      </a:solidFill>
                      <a:prstDash val="solid"/>
                      <a:round/>
                      <a:headEnd type="none" w="med" len="med"/>
                      <a:tailEnd type="none" w="med" len="med"/>
                    </a:lnR>
                    <a:lnT w="9525" cap="flat" cmpd="sng" algn="ctr">
                      <a:solidFill>
                        <a:srgbClr val="DDE5DB"/>
                      </a:solidFill>
                      <a:prstDash val="solid"/>
                      <a:round/>
                      <a:headEnd type="none" w="med" len="med"/>
                      <a:tailEnd type="none" w="med" len="med"/>
                    </a:lnT>
                    <a:lnB w="9525" cap="flat" cmpd="sng" algn="ctr">
                      <a:solidFill>
                        <a:srgbClr val="DDE5DB"/>
                      </a:solidFill>
                      <a:prstDash val="solid"/>
                      <a:round/>
                      <a:headEnd type="none" w="med" len="med"/>
                      <a:tailEnd type="none" w="med" len="med"/>
                    </a:lnB>
                    <a:solidFill>
                      <a:srgbClr val="FFFFFF"/>
                    </a:solidFill>
                  </a:tcPr>
                </a:tc>
                <a:tc>
                  <a:txBody>
                    <a:bodyPr/>
                    <a:lstStyle/>
                    <a:p>
                      <a:pPr indent="0" marL="0">
                        <a:buNone/>
                      </a:pPr>
                      <a:r>
                        <a:rPr lang="en-US" sz="1100" b="1" dirty="0">
                          <a:solidFill>
                            <a:srgbClr val="232C24"/>
                          </a:solidFill>
                          <a:latin typeface="Calibri" pitchFamily="34" charset="0"/>
                          <a:ea typeface="Calibri" pitchFamily="34" charset="-122"/>
                          <a:cs typeface="Calibri" pitchFamily="34" charset="-120"/>
                        </a:rPr>
                        <a:t>Limit</a:t>
                      </a:r>
                      <a:endParaRPr lang="en-US" sz="1100" dirty="0">
                        <a:latin typeface="Calibri" charset="0"/>
                        <a:ea typeface="Calibri" charset="0"/>
                        <a:cs typeface="Calibri" charset="0"/>
                      </a:endParaRPr>
                    </a:p>
                  </a:txBody>
                  <a:tcPr marL="109728" marR="109728" marT="0" marB="0" anchor="ctr">
                    <a:lnL w="9525" cap="flat" cmpd="sng" algn="ctr">
                      <a:solidFill>
                        <a:srgbClr val="DDE5DB"/>
                      </a:solidFill>
                      <a:prstDash val="solid"/>
                      <a:round/>
                      <a:headEnd type="none" w="med" len="med"/>
                      <a:tailEnd type="none" w="med" len="med"/>
                    </a:lnL>
                    <a:lnR w="9525" cap="flat" cmpd="sng" algn="ctr">
                      <a:solidFill>
                        <a:srgbClr val="DDE5DB"/>
                      </a:solidFill>
                      <a:prstDash val="solid"/>
                      <a:round/>
                      <a:headEnd type="none" w="med" len="med"/>
                      <a:tailEnd type="none" w="med" len="med"/>
                    </a:lnR>
                    <a:lnT w="9525" cap="flat" cmpd="sng" algn="ctr">
                      <a:solidFill>
                        <a:srgbClr val="DDE5DB"/>
                      </a:solidFill>
                      <a:prstDash val="solid"/>
                      <a:round/>
                      <a:headEnd type="none" w="med" len="med"/>
                      <a:tailEnd type="none" w="med" len="med"/>
                    </a:lnT>
                    <a:lnB w="9525" cap="flat" cmpd="sng" algn="ctr">
                      <a:solidFill>
                        <a:srgbClr val="DDE5DB"/>
                      </a:solidFill>
                      <a:prstDash val="solid"/>
                      <a:round/>
                      <a:headEnd type="none" w="med" len="med"/>
                      <a:tailEnd type="none" w="med" len="med"/>
                    </a:lnB>
                    <a:solidFill>
                      <a:srgbClr val="FFFFFF"/>
                    </a:solidFill>
                  </a:tcPr>
                </a:tc>
              </a:tr>
              <a:tr h="384048">
                <a:tc>
                  <a:txBody>
                    <a:bodyPr/>
                    <a:lstStyle/>
                    <a:p>
                      <a:pPr indent="0" marL="0">
                        <a:buNone/>
                      </a:pPr>
                      <a:r>
                        <a:rPr lang="en-US" sz="1100" dirty="0">
                          <a:solidFill>
                            <a:srgbClr val="232C24"/>
                          </a:solidFill>
                          <a:latin typeface="Calibri" pitchFamily="34" charset="0"/>
                          <a:ea typeface="Calibri" pitchFamily="34" charset="-122"/>
                          <a:cs typeface="Calibri" pitchFamily="34" charset="-120"/>
                        </a:rPr>
                        <a:t>Moisture</a:t>
                      </a:r>
                      <a:endParaRPr lang="en-US" sz="1100" dirty="0">
                        <a:latin typeface="Calibri" charset="0"/>
                        <a:ea typeface="Calibri" charset="0"/>
                        <a:cs typeface="Calibri" charset="0"/>
                      </a:endParaRPr>
                    </a:p>
                  </a:txBody>
                  <a:tcPr marL="109728" marR="109728" marT="0" marB="0" anchor="ctr">
                    <a:lnL w="9525" cap="flat" cmpd="sng" algn="ctr">
                      <a:solidFill>
                        <a:srgbClr val="DDE5DB"/>
                      </a:solidFill>
                      <a:prstDash val="solid"/>
                      <a:round/>
                      <a:headEnd type="none" w="med" len="med"/>
                      <a:tailEnd type="none" w="med" len="med"/>
                    </a:lnL>
                    <a:lnR w="9525" cap="flat" cmpd="sng" algn="ctr">
                      <a:solidFill>
                        <a:srgbClr val="DDE5DB"/>
                      </a:solidFill>
                      <a:prstDash val="solid"/>
                      <a:round/>
                      <a:headEnd type="none" w="med" len="med"/>
                      <a:tailEnd type="none" w="med" len="med"/>
                    </a:lnR>
                    <a:lnT w="9525" cap="flat" cmpd="sng" algn="ctr">
                      <a:solidFill>
                        <a:srgbClr val="DDE5DB"/>
                      </a:solidFill>
                      <a:prstDash val="solid"/>
                      <a:round/>
                      <a:headEnd type="none" w="med" len="med"/>
                      <a:tailEnd type="none" w="med" len="med"/>
                    </a:lnT>
                    <a:lnB w="9525" cap="flat" cmpd="sng" algn="ctr">
                      <a:solidFill>
                        <a:srgbClr val="DDE5DB"/>
                      </a:solidFill>
                      <a:prstDash val="solid"/>
                      <a:round/>
                      <a:headEnd type="none" w="med" len="med"/>
                      <a:tailEnd type="none" w="med" len="med"/>
                    </a:lnB>
                    <a:solidFill>
                      <a:srgbClr val="FFFFFF"/>
                    </a:solidFill>
                  </a:tcPr>
                </a:tc>
                <a:tc>
                  <a:txBody>
                    <a:bodyPr/>
                    <a:lstStyle/>
                    <a:p>
                      <a:pPr indent="0" marL="0">
                        <a:buNone/>
                      </a:pPr>
                      <a:r>
                        <a:rPr lang="en-US" sz="1100" dirty="0">
                          <a:solidFill>
                            <a:srgbClr val="232C24"/>
                          </a:solidFill>
                          <a:latin typeface="Calibri" pitchFamily="34" charset="0"/>
                          <a:ea typeface="Calibri" pitchFamily="34" charset="-122"/>
                          <a:cs typeface="Calibri" pitchFamily="34" charset="-120"/>
                        </a:rPr>
                        <a:t>IS 548</a:t>
                      </a:r>
                      <a:endParaRPr lang="en-US" sz="1100" dirty="0">
                        <a:latin typeface="Calibri" charset="0"/>
                        <a:ea typeface="Calibri" charset="0"/>
                        <a:cs typeface="Calibri" charset="0"/>
                      </a:endParaRPr>
                    </a:p>
                  </a:txBody>
                  <a:tcPr marL="109728" marR="109728" marT="0" marB="0" anchor="ctr">
                    <a:lnL w="9525" cap="flat" cmpd="sng" algn="ctr">
                      <a:solidFill>
                        <a:srgbClr val="DDE5DB"/>
                      </a:solidFill>
                      <a:prstDash val="solid"/>
                      <a:round/>
                      <a:headEnd type="none" w="med" len="med"/>
                      <a:tailEnd type="none" w="med" len="med"/>
                    </a:lnL>
                    <a:lnR w="9525" cap="flat" cmpd="sng" algn="ctr">
                      <a:solidFill>
                        <a:srgbClr val="DDE5DB"/>
                      </a:solidFill>
                      <a:prstDash val="solid"/>
                      <a:round/>
                      <a:headEnd type="none" w="med" len="med"/>
                      <a:tailEnd type="none" w="med" len="med"/>
                    </a:lnR>
                    <a:lnT w="9525" cap="flat" cmpd="sng" algn="ctr">
                      <a:solidFill>
                        <a:srgbClr val="DDE5DB"/>
                      </a:solidFill>
                      <a:prstDash val="solid"/>
                      <a:round/>
                      <a:headEnd type="none" w="med" len="med"/>
                      <a:tailEnd type="none" w="med" len="med"/>
                    </a:lnT>
                    <a:lnB w="9525" cap="flat" cmpd="sng" algn="ctr">
                      <a:solidFill>
                        <a:srgbClr val="DDE5DB"/>
                      </a:solidFill>
                      <a:prstDash val="solid"/>
                      <a:round/>
                      <a:headEnd type="none" w="med" len="med"/>
                      <a:tailEnd type="none" w="med" len="med"/>
                    </a:lnB>
                    <a:solidFill>
                      <a:srgbClr val="FFFFFF"/>
                    </a:solidFill>
                  </a:tcPr>
                </a:tc>
                <a:tc>
                  <a:txBody>
                    <a:bodyPr/>
                    <a:lstStyle/>
                    <a:p>
                      <a:pPr indent="0" marL="0">
                        <a:buNone/>
                      </a:pPr>
                      <a:r>
                        <a:rPr lang="en-US" sz="1100" dirty="0">
                          <a:solidFill>
                            <a:srgbClr val="232C24"/>
                          </a:solidFill>
                          <a:latin typeface="Calibri" pitchFamily="34" charset="0"/>
                          <a:ea typeface="Calibri" pitchFamily="34" charset="-122"/>
                          <a:cs typeface="Calibri" pitchFamily="34" charset="-120"/>
                        </a:rPr>
                        <a:t>0.10% max</a:t>
                      </a:r>
                      <a:endParaRPr lang="en-US" sz="1100" dirty="0">
                        <a:latin typeface="Calibri" charset="0"/>
                        <a:ea typeface="Calibri" charset="0"/>
                        <a:cs typeface="Calibri" charset="0"/>
                      </a:endParaRPr>
                    </a:p>
                  </a:txBody>
                  <a:tcPr marL="109728" marR="109728" marT="0" marB="0" anchor="ctr">
                    <a:lnL w="9525" cap="flat" cmpd="sng" algn="ctr">
                      <a:solidFill>
                        <a:srgbClr val="DDE5DB"/>
                      </a:solidFill>
                      <a:prstDash val="solid"/>
                      <a:round/>
                      <a:headEnd type="none" w="med" len="med"/>
                      <a:tailEnd type="none" w="med" len="med"/>
                    </a:lnL>
                    <a:lnR w="9525" cap="flat" cmpd="sng" algn="ctr">
                      <a:solidFill>
                        <a:srgbClr val="DDE5DB"/>
                      </a:solidFill>
                      <a:prstDash val="solid"/>
                      <a:round/>
                      <a:headEnd type="none" w="med" len="med"/>
                      <a:tailEnd type="none" w="med" len="med"/>
                    </a:lnR>
                    <a:lnT w="9525" cap="flat" cmpd="sng" algn="ctr">
                      <a:solidFill>
                        <a:srgbClr val="DDE5DB"/>
                      </a:solidFill>
                      <a:prstDash val="solid"/>
                      <a:round/>
                      <a:headEnd type="none" w="med" len="med"/>
                      <a:tailEnd type="none" w="med" len="med"/>
                    </a:lnT>
                    <a:lnB w="9525" cap="flat" cmpd="sng" algn="ctr">
                      <a:solidFill>
                        <a:srgbClr val="DDE5DB"/>
                      </a:solidFill>
                      <a:prstDash val="solid"/>
                      <a:round/>
                      <a:headEnd type="none" w="med" len="med"/>
                      <a:tailEnd type="none" w="med" len="med"/>
                    </a:lnB>
                    <a:solidFill>
                      <a:srgbClr val="FFFFFF"/>
                    </a:solidFill>
                  </a:tcPr>
                </a:tc>
              </a:tr>
              <a:tr h="384048">
                <a:tc>
                  <a:txBody>
                    <a:bodyPr/>
                    <a:lstStyle/>
                    <a:p>
                      <a:pPr indent="0" marL="0">
                        <a:buNone/>
                      </a:pPr>
                      <a:r>
                        <a:rPr lang="en-US" sz="1100" dirty="0">
                          <a:solidFill>
                            <a:srgbClr val="232C24"/>
                          </a:solidFill>
                          <a:latin typeface="Calibri" pitchFamily="34" charset="0"/>
                          <a:ea typeface="Calibri" pitchFamily="34" charset="-122"/>
                          <a:cs typeface="Calibri" pitchFamily="34" charset="-120"/>
                        </a:rPr>
                        <a:t>Free fatty acid</a:t>
                      </a:r>
                      <a:endParaRPr lang="en-US" sz="1100" dirty="0">
                        <a:latin typeface="Calibri" charset="0"/>
                        <a:ea typeface="Calibri" charset="0"/>
                        <a:cs typeface="Calibri" charset="0"/>
                      </a:endParaRPr>
                    </a:p>
                  </a:txBody>
                  <a:tcPr marL="109728" marR="109728" marT="0" marB="0" anchor="ctr">
                    <a:lnL w="9525" cap="flat" cmpd="sng" algn="ctr">
                      <a:solidFill>
                        <a:srgbClr val="DDE5DB"/>
                      </a:solidFill>
                      <a:prstDash val="solid"/>
                      <a:round/>
                      <a:headEnd type="none" w="med" len="med"/>
                      <a:tailEnd type="none" w="med" len="med"/>
                    </a:lnL>
                    <a:lnR w="9525" cap="flat" cmpd="sng" algn="ctr">
                      <a:solidFill>
                        <a:srgbClr val="DDE5DB"/>
                      </a:solidFill>
                      <a:prstDash val="solid"/>
                      <a:round/>
                      <a:headEnd type="none" w="med" len="med"/>
                      <a:tailEnd type="none" w="med" len="med"/>
                    </a:lnR>
                    <a:lnT w="9525" cap="flat" cmpd="sng" algn="ctr">
                      <a:solidFill>
                        <a:srgbClr val="DDE5DB"/>
                      </a:solidFill>
                      <a:prstDash val="solid"/>
                      <a:round/>
                      <a:headEnd type="none" w="med" len="med"/>
                      <a:tailEnd type="none" w="med" len="med"/>
                    </a:lnT>
                    <a:lnB w="9525" cap="flat" cmpd="sng" algn="ctr">
                      <a:solidFill>
                        <a:srgbClr val="DDE5DB"/>
                      </a:solidFill>
                      <a:prstDash val="solid"/>
                      <a:round/>
                      <a:headEnd type="none" w="med" len="med"/>
                      <a:tailEnd type="none" w="med" len="med"/>
                    </a:lnB>
                    <a:solidFill>
                      <a:srgbClr val="FFFFFF"/>
                    </a:solidFill>
                  </a:tcPr>
                </a:tc>
                <a:tc>
                  <a:txBody>
                    <a:bodyPr/>
                    <a:lstStyle/>
                    <a:p>
                      <a:pPr indent="0" marL="0">
                        <a:buNone/>
                      </a:pPr>
                      <a:r>
                        <a:rPr lang="en-US" sz="1100" dirty="0">
                          <a:solidFill>
                            <a:srgbClr val="232C24"/>
                          </a:solidFill>
                          <a:latin typeface="Calibri" pitchFamily="34" charset="0"/>
                          <a:ea typeface="Calibri" pitchFamily="34" charset="-122"/>
                          <a:cs typeface="Calibri" pitchFamily="34" charset="-120"/>
                        </a:rPr>
                        <a:t>AOCS Ca 5a-40</a:t>
                      </a:r>
                      <a:endParaRPr lang="en-US" sz="1100" dirty="0">
                        <a:latin typeface="Calibri" charset="0"/>
                        <a:ea typeface="Calibri" charset="0"/>
                        <a:cs typeface="Calibri" charset="0"/>
                      </a:endParaRPr>
                    </a:p>
                  </a:txBody>
                  <a:tcPr marL="109728" marR="109728" marT="0" marB="0" anchor="ctr">
                    <a:lnL w="9525" cap="flat" cmpd="sng" algn="ctr">
                      <a:solidFill>
                        <a:srgbClr val="DDE5DB"/>
                      </a:solidFill>
                      <a:prstDash val="solid"/>
                      <a:round/>
                      <a:headEnd type="none" w="med" len="med"/>
                      <a:tailEnd type="none" w="med" len="med"/>
                    </a:lnL>
                    <a:lnR w="9525" cap="flat" cmpd="sng" algn="ctr">
                      <a:solidFill>
                        <a:srgbClr val="DDE5DB"/>
                      </a:solidFill>
                      <a:prstDash val="solid"/>
                      <a:round/>
                      <a:headEnd type="none" w="med" len="med"/>
                      <a:tailEnd type="none" w="med" len="med"/>
                    </a:lnR>
                    <a:lnT w="9525" cap="flat" cmpd="sng" algn="ctr">
                      <a:solidFill>
                        <a:srgbClr val="DDE5DB"/>
                      </a:solidFill>
                      <a:prstDash val="solid"/>
                      <a:round/>
                      <a:headEnd type="none" w="med" len="med"/>
                      <a:tailEnd type="none" w="med" len="med"/>
                    </a:lnT>
                    <a:lnB w="9525" cap="flat" cmpd="sng" algn="ctr">
                      <a:solidFill>
                        <a:srgbClr val="DDE5DB"/>
                      </a:solidFill>
                      <a:prstDash val="solid"/>
                      <a:round/>
                      <a:headEnd type="none" w="med" len="med"/>
                      <a:tailEnd type="none" w="med" len="med"/>
                    </a:lnB>
                    <a:solidFill>
                      <a:srgbClr val="FFFFFF"/>
                    </a:solidFill>
                  </a:tcPr>
                </a:tc>
                <a:tc>
                  <a:txBody>
                    <a:bodyPr/>
                    <a:lstStyle/>
                    <a:p>
                      <a:pPr indent="0" marL="0">
                        <a:buNone/>
                      </a:pPr>
                      <a:r>
                        <a:rPr lang="en-US" sz="1100" dirty="0">
                          <a:solidFill>
                            <a:srgbClr val="232C24"/>
                          </a:solidFill>
                          <a:latin typeface="Calibri" pitchFamily="34" charset="0"/>
                          <a:ea typeface="Calibri" pitchFamily="34" charset="-122"/>
                          <a:cs typeface="Calibri" pitchFamily="34" charset="-120"/>
                        </a:rPr>
                        <a:t>0.5% max</a:t>
                      </a:r>
                      <a:endParaRPr lang="en-US" sz="1100" dirty="0">
                        <a:latin typeface="Calibri" charset="0"/>
                        <a:ea typeface="Calibri" charset="0"/>
                        <a:cs typeface="Calibri" charset="0"/>
                      </a:endParaRPr>
                    </a:p>
                  </a:txBody>
                  <a:tcPr marL="109728" marR="109728" marT="0" marB="0" anchor="ctr">
                    <a:lnL w="9525" cap="flat" cmpd="sng" algn="ctr">
                      <a:solidFill>
                        <a:srgbClr val="DDE5DB"/>
                      </a:solidFill>
                      <a:prstDash val="solid"/>
                      <a:round/>
                      <a:headEnd type="none" w="med" len="med"/>
                      <a:tailEnd type="none" w="med" len="med"/>
                    </a:lnL>
                    <a:lnR w="9525" cap="flat" cmpd="sng" algn="ctr">
                      <a:solidFill>
                        <a:srgbClr val="DDE5DB"/>
                      </a:solidFill>
                      <a:prstDash val="solid"/>
                      <a:round/>
                      <a:headEnd type="none" w="med" len="med"/>
                      <a:tailEnd type="none" w="med" len="med"/>
                    </a:lnR>
                    <a:lnT w="9525" cap="flat" cmpd="sng" algn="ctr">
                      <a:solidFill>
                        <a:srgbClr val="DDE5DB"/>
                      </a:solidFill>
                      <a:prstDash val="solid"/>
                      <a:round/>
                      <a:headEnd type="none" w="med" len="med"/>
                      <a:tailEnd type="none" w="med" len="med"/>
                    </a:lnT>
                    <a:lnB w="9525" cap="flat" cmpd="sng" algn="ctr">
                      <a:solidFill>
                        <a:srgbClr val="DDE5DB"/>
                      </a:solidFill>
                      <a:prstDash val="solid"/>
                      <a:round/>
                      <a:headEnd type="none" w="med" len="med"/>
                      <a:tailEnd type="none" w="med" len="med"/>
                    </a:lnB>
                    <a:solidFill>
                      <a:srgbClr val="FFFFFF"/>
                    </a:solidFill>
                  </a:tcPr>
                </a:tc>
              </a:tr>
              <a:tr h="384048">
                <a:tc>
                  <a:txBody>
                    <a:bodyPr/>
                    <a:lstStyle/>
                    <a:p>
                      <a:pPr indent="0" marL="0">
                        <a:buNone/>
                      </a:pPr>
                      <a:r>
                        <a:rPr lang="en-US" sz="1100" dirty="0">
                          <a:solidFill>
                            <a:srgbClr val="232C24"/>
                          </a:solidFill>
                          <a:latin typeface="Calibri" pitchFamily="34" charset="0"/>
                          <a:ea typeface="Calibri" pitchFamily="34" charset="-122"/>
                          <a:cs typeface="Calibri" pitchFamily="34" charset="-120"/>
                        </a:rPr>
                        <a:t>Peroxide value</a:t>
                      </a:r>
                      <a:endParaRPr lang="en-US" sz="1100" dirty="0">
                        <a:latin typeface="Calibri" charset="0"/>
                        <a:ea typeface="Calibri" charset="0"/>
                        <a:cs typeface="Calibri" charset="0"/>
                      </a:endParaRPr>
                    </a:p>
                  </a:txBody>
                  <a:tcPr marL="109728" marR="109728" marT="0" marB="0" anchor="ctr">
                    <a:lnL w="9525" cap="flat" cmpd="sng" algn="ctr">
                      <a:solidFill>
                        <a:srgbClr val="DDE5DB"/>
                      </a:solidFill>
                      <a:prstDash val="solid"/>
                      <a:round/>
                      <a:headEnd type="none" w="med" len="med"/>
                      <a:tailEnd type="none" w="med" len="med"/>
                    </a:lnL>
                    <a:lnR w="9525" cap="flat" cmpd="sng" algn="ctr">
                      <a:solidFill>
                        <a:srgbClr val="DDE5DB"/>
                      </a:solidFill>
                      <a:prstDash val="solid"/>
                      <a:round/>
                      <a:headEnd type="none" w="med" len="med"/>
                      <a:tailEnd type="none" w="med" len="med"/>
                    </a:lnR>
                    <a:lnT w="9525" cap="flat" cmpd="sng" algn="ctr">
                      <a:solidFill>
                        <a:srgbClr val="DDE5DB"/>
                      </a:solidFill>
                      <a:prstDash val="solid"/>
                      <a:round/>
                      <a:headEnd type="none" w="med" len="med"/>
                      <a:tailEnd type="none" w="med" len="med"/>
                    </a:lnT>
                    <a:lnB w="9525" cap="flat" cmpd="sng" algn="ctr">
                      <a:solidFill>
                        <a:srgbClr val="DDE5DB"/>
                      </a:solidFill>
                      <a:prstDash val="solid"/>
                      <a:round/>
                      <a:headEnd type="none" w="med" len="med"/>
                      <a:tailEnd type="none" w="med" len="med"/>
                    </a:lnB>
                    <a:solidFill>
                      <a:srgbClr val="FFFFFF"/>
                    </a:solidFill>
                  </a:tcPr>
                </a:tc>
                <a:tc>
                  <a:txBody>
                    <a:bodyPr/>
                    <a:lstStyle/>
                    <a:p>
                      <a:pPr indent="0" marL="0">
                        <a:buNone/>
                      </a:pPr>
                      <a:r>
                        <a:rPr lang="en-US" sz="1100" dirty="0">
                          <a:solidFill>
                            <a:srgbClr val="232C24"/>
                          </a:solidFill>
                          <a:latin typeface="Calibri" pitchFamily="34" charset="0"/>
                          <a:ea typeface="Calibri" pitchFamily="34" charset="-122"/>
                          <a:cs typeface="Calibri" pitchFamily="34" charset="-120"/>
                        </a:rPr>
                        <a:t>AOCS Cd 8-53</a:t>
                      </a:r>
                      <a:endParaRPr lang="en-US" sz="1100" dirty="0">
                        <a:latin typeface="Calibri" charset="0"/>
                        <a:ea typeface="Calibri" charset="0"/>
                        <a:cs typeface="Calibri" charset="0"/>
                      </a:endParaRPr>
                    </a:p>
                  </a:txBody>
                  <a:tcPr marL="109728" marR="109728" marT="0" marB="0" anchor="ctr">
                    <a:lnL w="9525" cap="flat" cmpd="sng" algn="ctr">
                      <a:solidFill>
                        <a:srgbClr val="DDE5DB"/>
                      </a:solidFill>
                      <a:prstDash val="solid"/>
                      <a:round/>
                      <a:headEnd type="none" w="med" len="med"/>
                      <a:tailEnd type="none" w="med" len="med"/>
                    </a:lnL>
                    <a:lnR w="9525" cap="flat" cmpd="sng" algn="ctr">
                      <a:solidFill>
                        <a:srgbClr val="DDE5DB"/>
                      </a:solidFill>
                      <a:prstDash val="solid"/>
                      <a:round/>
                      <a:headEnd type="none" w="med" len="med"/>
                      <a:tailEnd type="none" w="med" len="med"/>
                    </a:lnR>
                    <a:lnT w="9525" cap="flat" cmpd="sng" algn="ctr">
                      <a:solidFill>
                        <a:srgbClr val="DDE5DB"/>
                      </a:solidFill>
                      <a:prstDash val="solid"/>
                      <a:round/>
                      <a:headEnd type="none" w="med" len="med"/>
                      <a:tailEnd type="none" w="med" len="med"/>
                    </a:lnT>
                    <a:lnB w="9525" cap="flat" cmpd="sng" algn="ctr">
                      <a:solidFill>
                        <a:srgbClr val="DDE5DB"/>
                      </a:solidFill>
                      <a:prstDash val="solid"/>
                      <a:round/>
                      <a:headEnd type="none" w="med" len="med"/>
                      <a:tailEnd type="none" w="med" len="med"/>
                    </a:lnB>
                    <a:solidFill>
                      <a:srgbClr val="FFFFFF"/>
                    </a:solidFill>
                  </a:tcPr>
                </a:tc>
                <a:tc>
                  <a:txBody>
                    <a:bodyPr/>
                    <a:lstStyle/>
                    <a:p>
                      <a:pPr indent="0" marL="0">
                        <a:buNone/>
                      </a:pPr>
                      <a:r>
                        <a:rPr lang="en-US" sz="1100" dirty="0">
                          <a:solidFill>
                            <a:srgbClr val="232C24"/>
                          </a:solidFill>
                          <a:latin typeface="Calibri" pitchFamily="34" charset="0"/>
                          <a:ea typeface="Calibri" pitchFamily="34" charset="-122"/>
                          <a:cs typeface="Calibri" pitchFamily="34" charset="-120"/>
                        </a:rPr>
                        <a:t>10 meq/kg max</a:t>
                      </a:r>
                      <a:endParaRPr lang="en-US" sz="1100" dirty="0">
                        <a:latin typeface="Calibri" charset="0"/>
                        <a:ea typeface="Calibri" charset="0"/>
                        <a:cs typeface="Calibri" charset="0"/>
                      </a:endParaRPr>
                    </a:p>
                  </a:txBody>
                  <a:tcPr marL="109728" marR="109728" marT="0" marB="0" anchor="ctr">
                    <a:lnL w="9525" cap="flat" cmpd="sng" algn="ctr">
                      <a:solidFill>
                        <a:srgbClr val="DDE5DB"/>
                      </a:solidFill>
                      <a:prstDash val="solid"/>
                      <a:round/>
                      <a:headEnd type="none" w="med" len="med"/>
                      <a:tailEnd type="none" w="med" len="med"/>
                    </a:lnL>
                    <a:lnR w="9525" cap="flat" cmpd="sng" algn="ctr">
                      <a:solidFill>
                        <a:srgbClr val="DDE5DB"/>
                      </a:solidFill>
                      <a:prstDash val="solid"/>
                      <a:round/>
                      <a:headEnd type="none" w="med" len="med"/>
                      <a:tailEnd type="none" w="med" len="med"/>
                    </a:lnR>
                    <a:lnT w="9525" cap="flat" cmpd="sng" algn="ctr">
                      <a:solidFill>
                        <a:srgbClr val="DDE5DB"/>
                      </a:solidFill>
                      <a:prstDash val="solid"/>
                      <a:round/>
                      <a:headEnd type="none" w="med" len="med"/>
                      <a:tailEnd type="none" w="med" len="med"/>
                    </a:lnT>
                    <a:lnB w="9525" cap="flat" cmpd="sng" algn="ctr">
                      <a:solidFill>
                        <a:srgbClr val="DDE5DB"/>
                      </a:solidFill>
                      <a:prstDash val="solid"/>
                      <a:round/>
                      <a:headEnd type="none" w="med" len="med"/>
                      <a:tailEnd type="none" w="med" len="med"/>
                    </a:lnB>
                    <a:solidFill>
                      <a:srgbClr val="FFFFFF"/>
                    </a:solidFill>
                  </a:tcPr>
                </a:tc>
              </a:tr>
              <a:tr h="384048">
                <a:tc>
                  <a:txBody>
                    <a:bodyPr/>
                    <a:lstStyle/>
                    <a:p>
                      <a:pPr indent="0" marL="0">
                        <a:buNone/>
                      </a:pPr>
                      <a:r>
                        <a:rPr lang="en-US" sz="1100" dirty="0">
                          <a:solidFill>
                            <a:srgbClr val="232C24"/>
                          </a:solidFill>
                          <a:latin typeface="Calibri" pitchFamily="34" charset="0"/>
                          <a:ea typeface="Calibri" pitchFamily="34" charset="-122"/>
                          <a:cs typeface="Calibri" pitchFamily="34" charset="-120"/>
                        </a:rPr>
                        <a:t>Total plate count</a:t>
                      </a:r>
                      <a:endParaRPr lang="en-US" sz="1100" dirty="0">
                        <a:latin typeface="Calibri" charset="0"/>
                        <a:ea typeface="Calibri" charset="0"/>
                        <a:cs typeface="Calibri" charset="0"/>
                      </a:endParaRPr>
                    </a:p>
                  </a:txBody>
                  <a:tcPr marL="109728" marR="109728" marT="0" marB="0" anchor="ctr">
                    <a:lnL w="9525" cap="flat" cmpd="sng" algn="ctr">
                      <a:solidFill>
                        <a:srgbClr val="DDE5DB"/>
                      </a:solidFill>
                      <a:prstDash val="solid"/>
                      <a:round/>
                      <a:headEnd type="none" w="med" len="med"/>
                      <a:tailEnd type="none" w="med" len="med"/>
                    </a:lnL>
                    <a:lnR w="9525" cap="flat" cmpd="sng" algn="ctr">
                      <a:solidFill>
                        <a:srgbClr val="DDE5DB"/>
                      </a:solidFill>
                      <a:prstDash val="solid"/>
                      <a:round/>
                      <a:headEnd type="none" w="med" len="med"/>
                      <a:tailEnd type="none" w="med" len="med"/>
                    </a:lnR>
                    <a:lnT w="9525" cap="flat" cmpd="sng" algn="ctr">
                      <a:solidFill>
                        <a:srgbClr val="DDE5DB"/>
                      </a:solidFill>
                      <a:prstDash val="solid"/>
                      <a:round/>
                      <a:headEnd type="none" w="med" len="med"/>
                      <a:tailEnd type="none" w="med" len="med"/>
                    </a:lnT>
                    <a:lnB w="9525" cap="flat" cmpd="sng" algn="ctr">
                      <a:solidFill>
                        <a:srgbClr val="DDE5DB"/>
                      </a:solidFill>
                      <a:prstDash val="solid"/>
                      <a:round/>
                      <a:headEnd type="none" w="med" len="med"/>
                      <a:tailEnd type="none" w="med" len="med"/>
                    </a:lnB>
                    <a:solidFill>
                      <a:srgbClr val="FFFFFF"/>
                    </a:solidFill>
                  </a:tcPr>
                </a:tc>
                <a:tc>
                  <a:txBody>
                    <a:bodyPr/>
                    <a:lstStyle/>
                    <a:p>
                      <a:pPr indent="0" marL="0">
                        <a:buNone/>
                      </a:pPr>
                      <a:r>
                        <a:rPr lang="en-US" sz="1100" dirty="0">
                          <a:solidFill>
                            <a:srgbClr val="232C24"/>
                          </a:solidFill>
                          <a:latin typeface="Calibri" pitchFamily="34" charset="0"/>
                          <a:ea typeface="Calibri" pitchFamily="34" charset="-122"/>
                          <a:cs typeface="Calibri" pitchFamily="34" charset="-120"/>
                        </a:rPr>
                        <a:t>ISO 4833</a:t>
                      </a:r>
                      <a:endParaRPr lang="en-US" sz="1100" dirty="0">
                        <a:latin typeface="Calibri" charset="0"/>
                        <a:ea typeface="Calibri" charset="0"/>
                        <a:cs typeface="Calibri" charset="0"/>
                      </a:endParaRPr>
                    </a:p>
                  </a:txBody>
                  <a:tcPr marL="109728" marR="109728" marT="0" marB="0" anchor="ctr">
                    <a:lnL w="9525" cap="flat" cmpd="sng" algn="ctr">
                      <a:solidFill>
                        <a:srgbClr val="DDE5DB"/>
                      </a:solidFill>
                      <a:prstDash val="solid"/>
                      <a:round/>
                      <a:headEnd type="none" w="med" len="med"/>
                      <a:tailEnd type="none" w="med" len="med"/>
                    </a:lnL>
                    <a:lnR w="9525" cap="flat" cmpd="sng" algn="ctr">
                      <a:solidFill>
                        <a:srgbClr val="DDE5DB"/>
                      </a:solidFill>
                      <a:prstDash val="solid"/>
                      <a:round/>
                      <a:headEnd type="none" w="med" len="med"/>
                      <a:tailEnd type="none" w="med" len="med"/>
                    </a:lnR>
                    <a:lnT w="9525" cap="flat" cmpd="sng" algn="ctr">
                      <a:solidFill>
                        <a:srgbClr val="DDE5DB"/>
                      </a:solidFill>
                      <a:prstDash val="solid"/>
                      <a:round/>
                      <a:headEnd type="none" w="med" len="med"/>
                      <a:tailEnd type="none" w="med" len="med"/>
                    </a:lnT>
                    <a:lnB w="9525" cap="flat" cmpd="sng" algn="ctr">
                      <a:solidFill>
                        <a:srgbClr val="DDE5DB"/>
                      </a:solidFill>
                      <a:prstDash val="solid"/>
                      <a:round/>
                      <a:headEnd type="none" w="med" len="med"/>
                      <a:tailEnd type="none" w="med" len="med"/>
                    </a:lnB>
                    <a:solidFill>
                      <a:srgbClr val="FFFFFF"/>
                    </a:solidFill>
                  </a:tcPr>
                </a:tc>
                <a:tc>
                  <a:txBody>
                    <a:bodyPr/>
                    <a:lstStyle/>
                    <a:p>
                      <a:pPr indent="0" marL="0">
                        <a:buNone/>
                      </a:pPr>
                      <a:r>
                        <a:rPr lang="en-US" sz="1100" dirty="0">
                          <a:solidFill>
                            <a:srgbClr val="232C24"/>
                          </a:solidFill>
                          <a:latin typeface="Calibri" pitchFamily="34" charset="0"/>
                          <a:ea typeface="Calibri" pitchFamily="34" charset="-122"/>
                          <a:cs typeface="Calibri" pitchFamily="34" charset="-120"/>
                        </a:rPr>
                        <a:t>10,000 cfu/g</a:t>
                      </a:r>
                      <a:endParaRPr lang="en-US" sz="1100" dirty="0">
                        <a:latin typeface="Calibri" charset="0"/>
                        <a:ea typeface="Calibri" charset="0"/>
                        <a:cs typeface="Calibri" charset="0"/>
                      </a:endParaRPr>
                    </a:p>
                  </a:txBody>
                  <a:tcPr marL="109728" marR="109728" marT="0" marB="0" anchor="ctr">
                    <a:lnL w="9525" cap="flat" cmpd="sng" algn="ctr">
                      <a:solidFill>
                        <a:srgbClr val="DDE5DB"/>
                      </a:solidFill>
                      <a:prstDash val="solid"/>
                      <a:round/>
                      <a:headEnd type="none" w="med" len="med"/>
                      <a:tailEnd type="none" w="med" len="med"/>
                    </a:lnL>
                    <a:lnR w="9525" cap="flat" cmpd="sng" algn="ctr">
                      <a:solidFill>
                        <a:srgbClr val="DDE5DB"/>
                      </a:solidFill>
                      <a:prstDash val="solid"/>
                      <a:round/>
                      <a:headEnd type="none" w="med" len="med"/>
                      <a:tailEnd type="none" w="med" len="med"/>
                    </a:lnR>
                    <a:lnT w="9525" cap="flat" cmpd="sng" algn="ctr">
                      <a:solidFill>
                        <a:srgbClr val="DDE5DB"/>
                      </a:solidFill>
                      <a:prstDash val="solid"/>
                      <a:round/>
                      <a:headEnd type="none" w="med" len="med"/>
                      <a:tailEnd type="none" w="med" len="med"/>
                    </a:lnT>
                    <a:lnB w="9525" cap="flat" cmpd="sng" algn="ctr">
                      <a:solidFill>
                        <a:srgbClr val="DDE5DB"/>
                      </a:solidFill>
                      <a:prstDash val="solid"/>
                      <a:round/>
                      <a:headEnd type="none" w="med" len="med"/>
                      <a:tailEnd type="none" w="med" len="med"/>
                    </a:lnB>
                    <a:solidFill>
                      <a:srgbClr val="FFFFFF"/>
                    </a:solidFill>
                  </a:tcPr>
                </a:tc>
              </a:tr>
              <a:tr h="384048">
                <a:tc>
                  <a:txBody>
                    <a:bodyPr/>
                    <a:lstStyle/>
                    <a:p>
                      <a:pPr indent="0" marL="0">
                        <a:buNone/>
                      </a:pPr>
                      <a:r>
                        <a:rPr lang="en-US" sz="1100" dirty="0">
                          <a:solidFill>
                            <a:srgbClr val="232C24"/>
                          </a:solidFill>
                          <a:latin typeface="Calibri" pitchFamily="34" charset="0"/>
                          <a:ea typeface="Calibri" pitchFamily="34" charset="-122"/>
                          <a:cs typeface="Calibri" pitchFamily="34" charset="-120"/>
                        </a:rPr>
                        <a:t>Yeast and mould</a:t>
                      </a:r>
                      <a:endParaRPr lang="en-US" sz="1100" dirty="0">
                        <a:latin typeface="Calibri" charset="0"/>
                        <a:ea typeface="Calibri" charset="0"/>
                        <a:cs typeface="Calibri" charset="0"/>
                      </a:endParaRPr>
                    </a:p>
                  </a:txBody>
                  <a:tcPr marL="109728" marR="109728" marT="0" marB="0" anchor="ctr">
                    <a:lnL w="9525" cap="flat" cmpd="sng" algn="ctr">
                      <a:solidFill>
                        <a:srgbClr val="DDE5DB"/>
                      </a:solidFill>
                      <a:prstDash val="solid"/>
                      <a:round/>
                      <a:headEnd type="none" w="med" len="med"/>
                      <a:tailEnd type="none" w="med" len="med"/>
                    </a:lnL>
                    <a:lnR w="9525" cap="flat" cmpd="sng" algn="ctr">
                      <a:solidFill>
                        <a:srgbClr val="DDE5DB"/>
                      </a:solidFill>
                      <a:prstDash val="solid"/>
                      <a:round/>
                      <a:headEnd type="none" w="med" len="med"/>
                      <a:tailEnd type="none" w="med" len="med"/>
                    </a:lnR>
                    <a:lnT w="9525" cap="flat" cmpd="sng" algn="ctr">
                      <a:solidFill>
                        <a:srgbClr val="DDE5DB"/>
                      </a:solidFill>
                      <a:prstDash val="solid"/>
                      <a:round/>
                      <a:headEnd type="none" w="med" len="med"/>
                      <a:tailEnd type="none" w="med" len="med"/>
                    </a:lnT>
                    <a:lnB w="9525" cap="flat" cmpd="sng" algn="ctr">
                      <a:solidFill>
                        <a:srgbClr val="DDE5DB"/>
                      </a:solidFill>
                      <a:prstDash val="solid"/>
                      <a:round/>
                      <a:headEnd type="none" w="med" len="med"/>
                      <a:tailEnd type="none" w="med" len="med"/>
                    </a:lnB>
                    <a:solidFill>
                      <a:srgbClr val="FFFFFF"/>
                    </a:solidFill>
                  </a:tcPr>
                </a:tc>
                <a:tc>
                  <a:txBody>
                    <a:bodyPr/>
                    <a:lstStyle/>
                    <a:p>
                      <a:pPr indent="0" marL="0">
                        <a:buNone/>
                      </a:pPr>
                      <a:r>
                        <a:rPr lang="en-US" sz="1100" dirty="0">
                          <a:solidFill>
                            <a:srgbClr val="232C24"/>
                          </a:solidFill>
                          <a:latin typeface="Calibri" pitchFamily="34" charset="0"/>
                          <a:ea typeface="Calibri" pitchFamily="34" charset="-122"/>
                          <a:cs typeface="Calibri" pitchFamily="34" charset="-120"/>
                        </a:rPr>
                        <a:t>ISO 21527</a:t>
                      </a:r>
                      <a:endParaRPr lang="en-US" sz="1100" dirty="0">
                        <a:latin typeface="Calibri" charset="0"/>
                        <a:ea typeface="Calibri" charset="0"/>
                        <a:cs typeface="Calibri" charset="0"/>
                      </a:endParaRPr>
                    </a:p>
                  </a:txBody>
                  <a:tcPr marL="109728" marR="109728" marT="0" marB="0" anchor="ctr">
                    <a:lnL w="9525" cap="flat" cmpd="sng" algn="ctr">
                      <a:solidFill>
                        <a:srgbClr val="DDE5DB"/>
                      </a:solidFill>
                      <a:prstDash val="solid"/>
                      <a:round/>
                      <a:headEnd type="none" w="med" len="med"/>
                      <a:tailEnd type="none" w="med" len="med"/>
                    </a:lnL>
                    <a:lnR w="9525" cap="flat" cmpd="sng" algn="ctr">
                      <a:solidFill>
                        <a:srgbClr val="DDE5DB"/>
                      </a:solidFill>
                      <a:prstDash val="solid"/>
                      <a:round/>
                      <a:headEnd type="none" w="med" len="med"/>
                      <a:tailEnd type="none" w="med" len="med"/>
                    </a:lnR>
                    <a:lnT w="9525" cap="flat" cmpd="sng" algn="ctr">
                      <a:solidFill>
                        <a:srgbClr val="DDE5DB"/>
                      </a:solidFill>
                      <a:prstDash val="solid"/>
                      <a:round/>
                      <a:headEnd type="none" w="med" len="med"/>
                      <a:tailEnd type="none" w="med" len="med"/>
                    </a:lnT>
                    <a:lnB w="9525" cap="flat" cmpd="sng" algn="ctr">
                      <a:solidFill>
                        <a:srgbClr val="DDE5DB"/>
                      </a:solidFill>
                      <a:prstDash val="solid"/>
                      <a:round/>
                      <a:headEnd type="none" w="med" len="med"/>
                      <a:tailEnd type="none" w="med" len="med"/>
                    </a:lnB>
                    <a:solidFill>
                      <a:srgbClr val="FFFFFF"/>
                    </a:solidFill>
                  </a:tcPr>
                </a:tc>
                <a:tc>
                  <a:txBody>
                    <a:bodyPr/>
                    <a:lstStyle/>
                    <a:p>
                      <a:pPr indent="0" marL="0">
                        <a:buNone/>
                      </a:pPr>
                      <a:r>
                        <a:rPr lang="en-US" sz="1100" dirty="0">
                          <a:solidFill>
                            <a:srgbClr val="232C24"/>
                          </a:solidFill>
                          <a:latin typeface="Calibri" pitchFamily="34" charset="0"/>
                          <a:ea typeface="Calibri" pitchFamily="34" charset="-122"/>
                          <a:cs typeface="Calibri" pitchFamily="34" charset="-120"/>
                        </a:rPr>
                        <a:t>100 cfu/g max</a:t>
                      </a:r>
                      <a:endParaRPr lang="en-US" sz="1100" dirty="0">
                        <a:latin typeface="Calibri" charset="0"/>
                        <a:ea typeface="Calibri" charset="0"/>
                        <a:cs typeface="Calibri" charset="0"/>
                      </a:endParaRPr>
                    </a:p>
                  </a:txBody>
                  <a:tcPr marL="109728" marR="109728" marT="0" marB="0" anchor="ctr">
                    <a:lnL w="9525" cap="flat" cmpd="sng" algn="ctr">
                      <a:solidFill>
                        <a:srgbClr val="DDE5DB"/>
                      </a:solidFill>
                      <a:prstDash val="solid"/>
                      <a:round/>
                      <a:headEnd type="none" w="med" len="med"/>
                      <a:tailEnd type="none" w="med" len="med"/>
                    </a:lnL>
                    <a:lnR w="9525" cap="flat" cmpd="sng" algn="ctr">
                      <a:solidFill>
                        <a:srgbClr val="DDE5DB"/>
                      </a:solidFill>
                      <a:prstDash val="solid"/>
                      <a:round/>
                      <a:headEnd type="none" w="med" len="med"/>
                      <a:tailEnd type="none" w="med" len="med"/>
                    </a:lnR>
                    <a:lnT w="9525" cap="flat" cmpd="sng" algn="ctr">
                      <a:solidFill>
                        <a:srgbClr val="DDE5DB"/>
                      </a:solidFill>
                      <a:prstDash val="solid"/>
                      <a:round/>
                      <a:headEnd type="none" w="med" len="med"/>
                      <a:tailEnd type="none" w="med" len="med"/>
                    </a:lnT>
                    <a:lnB w="9525" cap="flat" cmpd="sng" algn="ctr">
                      <a:solidFill>
                        <a:srgbClr val="DDE5DB"/>
                      </a:solidFill>
                      <a:prstDash val="solid"/>
                      <a:round/>
                      <a:headEnd type="none" w="med" len="med"/>
                      <a:tailEnd type="none" w="med" len="med"/>
                    </a:lnB>
                    <a:solidFill>
                      <a:srgbClr val="FFFFFF"/>
                    </a:solidFill>
                  </a:tcPr>
                </a:tc>
              </a:tr>
              <a:tr h="384048">
                <a:tc>
                  <a:txBody>
                    <a:bodyPr/>
                    <a:lstStyle/>
                    <a:p>
                      <a:pPr indent="0" marL="0">
                        <a:buNone/>
                      </a:pPr>
                      <a:r>
                        <a:rPr lang="en-US" sz="1100" dirty="0">
                          <a:solidFill>
                            <a:srgbClr val="232C24"/>
                          </a:solidFill>
                          <a:latin typeface="Calibri" pitchFamily="34" charset="0"/>
                          <a:ea typeface="Calibri" pitchFamily="34" charset="-122"/>
                          <a:cs typeface="Calibri" pitchFamily="34" charset="-120"/>
                        </a:rPr>
                        <a:t>Foreign matter</a:t>
                      </a:r>
                      <a:endParaRPr lang="en-US" sz="1100" dirty="0">
                        <a:latin typeface="Calibri" charset="0"/>
                        <a:ea typeface="Calibri" charset="0"/>
                        <a:cs typeface="Calibri" charset="0"/>
                      </a:endParaRPr>
                    </a:p>
                  </a:txBody>
                  <a:tcPr marL="109728" marR="109728" marT="0" marB="0" anchor="ctr">
                    <a:lnL w="9525" cap="flat" cmpd="sng" algn="ctr">
                      <a:solidFill>
                        <a:srgbClr val="DDE5DB"/>
                      </a:solidFill>
                      <a:prstDash val="solid"/>
                      <a:round/>
                      <a:headEnd type="none" w="med" len="med"/>
                      <a:tailEnd type="none" w="med" len="med"/>
                    </a:lnL>
                    <a:lnR w="9525" cap="flat" cmpd="sng" algn="ctr">
                      <a:solidFill>
                        <a:srgbClr val="DDE5DB"/>
                      </a:solidFill>
                      <a:prstDash val="solid"/>
                      <a:round/>
                      <a:headEnd type="none" w="med" len="med"/>
                      <a:tailEnd type="none" w="med" len="med"/>
                    </a:lnR>
                    <a:lnT w="9525" cap="flat" cmpd="sng" algn="ctr">
                      <a:solidFill>
                        <a:srgbClr val="DDE5DB"/>
                      </a:solidFill>
                      <a:prstDash val="solid"/>
                      <a:round/>
                      <a:headEnd type="none" w="med" len="med"/>
                      <a:tailEnd type="none" w="med" len="med"/>
                    </a:lnT>
                    <a:lnB w="9525" cap="flat" cmpd="sng" algn="ctr">
                      <a:solidFill>
                        <a:srgbClr val="DDE5DB"/>
                      </a:solidFill>
                      <a:prstDash val="solid"/>
                      <a:round/>
                      <a:headEnd type="none" w="med" len="med"/>
                      <a:tailEnd type="none" w="med" len="med"/>
                    </a:lnB>
                    <a:solidFill>
                      <a:srgbClr val="FFFFFF"/>
                    </a:solidFill>
                  </a:tcPr>
                </a:tc>
                <a:tc>
                  <a:txBody>
                    <a:bodyPr/>
                    <a:lstStyle/>
                    <a:p>
                      <a:pPr indent="0" marL="0">
                        <a:buNone/>
                      </a:pPr>
                      <a:r>
                        <a:rPr lang="en-US" sz="1100" dirty="0">
                          <a:solidFill>
                            <a:srgbClr val="232C24"/>
                          </a:solidFill>
                          <a:latin typeface="Calibri" pitchFamily="34" charset="0"/>
                          <a:ea typeface="Calibri" pitchFamily="34" charset="-122"/>
                          <a:cs typeface="Calibri" pitchFamily="34" charset="-120"/>
                        </a:rPr>
                        <a:t>Visual</a:t>
                      </a:r>
                      <a:endParaRPr lang="en-US" sz="1100" dirty="0">
                        <a:latin typeface="Calibri" charset="0"/>
                        <a:ea typeface="Calibri" charset="0"/>
                        <a:cs typeface="Calibri" charset="0"/>
                      </a:endParaRPr>
                    </a:p>
                  </a:txBody>
                  <a:tcPr marL="109728" marR="109728" marT="0" marB="0" anchor="ctr">
                    <a:lnL w="9525" cap="flat" cmpd="sng" algn="ctr">
                      <a:solidFill>
                        <a:srgbClr val="DDE5DB"/>
                      </a:solidFill>
                      <a:prstDash val="solid"/>
                      <a:round/>
                      <a:headEnd type="none" w="med" len="med"/>
                      <a:tailEnd type="none" w="med" len="med"/>
                    </a:lnL>
                    <a:lnR w="9525" cap="flat" cmpd="sng" algn="ctr">
                      <a:solidFill>
                        <a:srgbClr val="DDE5DB"/>
                      </a:solidFill>
                      <a:prstDash val="solid"/>
                      <a:round/>
                      <a:headEnd type="none" w="med" len="med"/>
                      <a:tailEnd type="none" w="med" len="med"/>
                    </a:lnR>
                    <a:lnT w="9525" cap="flat" cmpd="sng" algn="ctr">
                      <a:solidFill>
                        <a:srgbClr val="DDE5DB"/>
                      </a:solidFill>
                      <a:prstDash val="solid"/>
                      <a:round/>
                      <a:headEnd type="none" w="med" len="med"/>
                      <a:tailEnd type="none" w="med" len="med"/>
                    </a:lnT>
                    <a:lnB w="9525" cap="flat" cmpd="sng" algn="ctr">
                      <a:solidFill>
                        <a:srgbClr val="DDE5DB"/>
                      </a:solidFill>
                      <a:prstDash val="solid"/>
                      <a:round/>
                      <a:headEnd type="none" w="med" len="med"/>
                      <a:tailEnd type="none" w="med" len="med"/>
                    </a:lnB>
                    <a:solidFill>
                      <a:srgbClr val="FFFFFF"/>
                    </a:solidFill>
                  </a:tcPr>
                </a:tc>
                <a:tc>
                  <a:txBody>
                    <a:bodyPr/>
                    <a:lstStyle/>
                    <a:p>
                      <a:pPr indent="0" marL="0">
                        <a:buNone/>
                      </a:pPr>
                      <a:r>
                        <a:rPr lang="en-US" sz="1100" dirty="0">
                          <a:solidFill>
                            <a:srgbClr val="232C24"/>
                          </a:solidFill>
                          <a:latin typeface="Calibri" pitchFamily="34" charset="0"/>
                          <a:ea typeface="Calibri" pitchFamily="34" charset="-122"/>
                          <a:cs typeface="Calibri" pitchFamily="34" charset="-120"/>
                        </a:rPr>
                        <a:t>Absent</a:t>
                      </a:r>
                      <a:endParaRPr lang="en-US" sz="1100" dirty="0">
                        <a:latin typeface="Calibri" charset="0"/>
                        <a:ea typeface="Calibri" charset="0"/>
                        <a:cs typeface="Calibri" charset="0"/>
                      </a:endParaRPr>
                    </a:p>
                  </a:txBody>
                  <a:tcPr marL="109728" marR="109728" marT="0" marB="0" anchor="ctr">
                    <a:lnL w="9525" cap="flat" cmpd="sng" algn="ctr">
                      <a:solidFill>
                        <a:srgbClr val="DDE5DB"/>
                      </a:solidFill>
                      <a:prstDash val="solid"/>
                      <a:round/>
                      <a:headEnd type="none" w="med" len="med"/>
                      <a:tailEnd type="none" w="med" len="med"/>
                    </a:lnL>
                    <a:lnR w="9525" cap="flat" cmpd="sng" algn="ctr">
                      <a:solidFill>
                        <a:srgbClr val="DDE5DB"/>
                      </a:solidFill>
                      <a:prstDash val="solid"/>
                      <a:round/>
                      <a:headEnd type="none" w="med" len="med"/>
                      <a:tailEnd type="none" w="med" len="med"/>
                    </a:lnR>
                    <a:lnT w="9525" cap="flat" cmpd="sng" algn="ctr">
                      <a:solidFill>
                        <a:srgbClr val="DDE5DB"/>
                      </a:solidFill>
                      <a:prstDash val="solid"/>
                      <a:round/>
                      <a:headEnd type="none" w="med" len="med"/>
                      <a:tailEnd type="none" w="med" len="med"/>
                    </a:lnT>
                    <a:lnB w="9525" cap="flat" cmpd="sng" algn="ctr">
                      <a:solidFill>
                        <a:srgbClr val="DDE5DB"/>
                      </a:solidFill>
                      <a:prstDash val="solid"/>
                      <a:round/>
                      <a:headEnd type="none" w="med" len="med"/>
                      <a:tailEnd type="none" w="med" len="med"/>
                    </a:lnB>
                    <a:solidFill>
                      <a:srgbClr val="FFFFFF"/>
                    </a:solidFill>
                  </a:tcPr>
                </a:tc>
              </a:tr>
            </a:tbl>
          </a:graphicData>
        </a:graphic>
      </p:graphicFrame>
      <p:sp>
        <p:nvSpPr>
          <p:cNvPr id="23" name="Text 20"/>
          <p:cNvSpPr/>
          <p:nvPr/>
        </p:nvSpPr>
        <p:spPr>
          <a:xfrm>
            <a:off x="6236208" y="5193792"/>
            <a:ext cx="5315407" cy="731520"/>
          </a:xfrm>
          <a:prstGeom prst="rect">
            <a:avLst/>
          </a:prstGeom>
          <a:noFill/>
          <a:ln/>
        </p:spPr>
        <p:txBody>
          <a:bodyPr wrap="square" lIns="0" tIns="0" rIns="0" bIns="0" rtlCol="0" anchor="t"/>
          <a:lstStyle/>
          <a:p>
            <a:pPr indent="0" marL="0">
              <a:lnSpc>
                <a:spcPct val="120000"/>
              </a:lnSpc>
              <a:buNone/>
            </a:pPr>
            <a:r>
              <a:rPr lang="en-US" sz="1100" i="1" dirty="0">
                <a:solidFill>
                  <a:srgbClr val="6E7A6F"/>
                </a:solidFill>
                <a:latin typeface="Calibri" pitchFamily="34" charset="0"/>
                <a:ea typeface="Calibri" pitchFamily="34" charset="-122"/>
                <a:cs typeface="Calibri" pitchFamily="34" charset="-120"/>
              </a:rPr>
              <a:t>Limits shown are for edible-grade coconut oil, tested per batch in our in-house laboratory before release.</a:t>
            </a:r>
            <a:endParaRPr lang="en-US" sz="1100" dirty="0"/>
          </a:p>
        </p:txBody>
      </p:sp>
      <p:sp>
        <p:nvSpPr>
          <p:cNvPr id="24" name="Text 21"/>
          <p:cNvSpPr/>
          <p:nvPr/>
        </p:nvSpPr>
        <p:spPr>
          <a:xfrm>
            <a:off x="640080" y="6382512"/>
            <a:ext cx="5486400" cy="237744"/>
          </a:xfrm>
          <a:prstGeom prst="rect">
            <a:avLst/>
          </a:prstGeom>
          <a:noFill/>
          <a:ln/>
        </p:spPr>
        <p:txBody>
          <a:bodyPr wrap="square" lIns="0" tIns="0" rIns="0" bIns="0" rtlCol="0" anchor="ctr"/>
          <a:lstStyle/>
          <a:p>
            <a:pPr indent="0" marL="0">
              <a:buNone/>
            </a:pPr>
            <a:r>
              <a:rPr lang="en-US" sz="900" spc="60" kern="0" dirty="0">
                <a:solidFill>
                  <a:srgbClr val="6E7A6F"/>
                </a:solidFill>
                <a:latin typeface="Calibri" pitchFamily="34" charset="0"/>
                <a:ea typeface="Calibri" pitchFamily="34" charset="-122"/>
                <a:cs typeface="Calibri" pitchFamily="34" charset="-120"/>
              </a:rPr>
              <a:t>Coco Palms Skylanes and Allied Products</a:t>
            </a:r>
            <a:endParaRPr lang="en-US" sz="900" dirty="0"/>
          </a:p>
        </p:txBody>
      </p:sp>
      <p:sp>
        <p:nvSpPr>
          <p:cNvPr id="25" name="Text 22"/>
          <p:cNvSpPr/>
          <p:nvPr/>
        </p:nvSpPr>
        <p:spPr>
          <a:xfrm>
            <a:off x="10637215" y="6382512"/>
            <a:ext cx="914400" cy="237744"/>
          </a:xfrm>
          <a:prstGeom prst="rect">
            <a:avLst/>
          </a:prstGeom>
          <a:noFill/>
          <a:ln/>
        </p:spPr>
        <p:txBody>
          <a:bodyPr wrap="square" lIns="0" tIns="0" rIns="0" bIns="0" rtlCol="0" anchor="ctr"/>
          <a:lstStyle/>
          <a:p>
            <a:pPr algn="r" indent="0" marL="0">
              <a:buNone/>
            </a:pPr>
            <a:r>
              <a:rPr lang="en-US" sz="900" dirty="0">
                <a:solidFill>
                  <a:srgbClr val="6E7A6F"/>
                </a:solidFill>
                <a:latin typeface="Calibri" pitchFamily="34" charset="0"/>
                <a:ea typeface="Calibri" pitchFamily="34" charset="-122"/>
                <a:cs typeface="Calibri" pitchFamily="34" charset="-120"/>
              </a:rPr>
              <a:t>9</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FFFFF"/>
          </a:solidFill>
          <a:ln w="12700">
            <a:solidFill>
              <a:srgbClr val="FFFFFF"/>
            </a:solidFill>
            <a:prstDash val="solid"/>
          </a:ln>
        </p:spPr>
      </p:sp>
      <p:sp>
        <p:nvSpPr>
          <p:cNvPr id="3" name="Text 1"/>
          <p:cNvSpPr/>
          <p:nvPr/>
        </p:nvSpPr>
        <p:spPr>
          <a:xfrm>
            <a:off x="640080" y="566928"/>
            <a:ext cx="10911535" cy="256032"/>
          </a:xfrm>
          <a:prstGeom prst="rect">
            <a:avLst/>
          </a:prstGeom>
          <a:noFill/>
          <a:ln/>
        </p:spPr>
        <p:txBody>
          <a:bodyPr wrap="square" lIns="0" tIns="0" rIns="0" bIns="0" rtlCol="0" anchor="ctr"/>
          <a:lstStyle/>
          <a:p>
            <a:pPr indent="0" marL="0">
              <a:buNone/>
            </a:pPr>
            <a:r>
              <a:rPr lang="en-US" sz="1150" b="1" spc="240" kern="0" dirty="0">
                <a:solidFill>
                  <a:srgbClr val="B8860F"/>
                </a:solidFill>
                <a:latin typeface="Calibri" pitchFamily="34" charset="0"/>
                <a:ea typeface="Calibri" pitchFamily="34" charset="-122"/>
                <a:cs typeface="Calibri" pitchFamily="34" charset="-120"/>
              </a:rPr>
              <a:t>ACCREDITATIONS</a:t>
            </a:r>
            <a:endParaRPr lang="en-US" sz="1150" dirty="0"/>
          </a:p>
        </p:txBody>
      </p:sp>
      <p:sp>
        <p:nvSpPr>
          <p:cNvPr id="4" name="Text 2"/>
          <p:cNvSpPr/>
          <p:nvPr/>
        </p:nvSpPr>
        <p:spPr>
          <a:xfrm>
            <a:off x="640080" y="877824"/>
            <a:ext cx="10911535" cy="749808"/>
          </a:xfrm>
          <a:prstGeom prst="rect">
            <a:avLst/>
          </a:prstGeom>
          <a:noFill/>
          <a:ln/>
        </p:spPr>
        <p:txBody>
          <a:bodyPr wrap="square" lIns="0" tIns="0" rIns="0" bIns="0" rtlCol="0" anchor="t"/>
          <a:lstStyle/>
          <a:p>
            <a:pPr indent="0" marL="0">
              <a:buNone/>
            </a:pPr>
            <a:r>
              <a:rPr lang="en-US" sz="3400" b="1" dirty="0">
                <a:solidFill>
                  <a:srgbClr val="14532D"/>
                </a:solidFill>
                <a:latin typeface="Cambria" pitchFamily="34" charset="0"/>
                <a:ea typeface="Cambria" pitchFamily="34" charset="-122"/>
                <a:cs typeface="Cambria" pitchFamily="34" charset="-120"/>
              </a:rPr>
              <a:t>Certifications on file</a:t>
            </a:r>
            <a:endParaRPr lang="en-US" sz="3400" dirty="0"/>
          </a:p>
        </p:txBody>
      </p:sp>
      <p:sp>
        <p:nvSpPr>
          <p:cNvPr id="5" name="Shape 3"/>
          <p:cNvSpPr/>
          <p:nvPr/>
        </p:nvSpPr>
        <p:spPr>
          <a:xfrm>
            <a:off x="640080" y="1828800"/>
            <a:ext cx="5486400" cy="2286000"/>
          </a:xfrm>
          <a:prstGeom prst="roundRect">
            <a:avLst>
              <a:gd name="adj" fmla="val 2000"/>
            </a:avLst>
          </a:prstGeom>
          <a:solidFill>
            <a:srgbClr val="FFFFFF"/>
          </a:solidFill>
          <a:ln w="12700">
            <a:solidFill>
              <a:srgbClr val="FFFFFF"/>
            </a:solidFill>
            <a:prstDash val="solid"/>
          </a:ln>
          <a:effectLst>
            <a:outerShdw sx="100000" sy="100000" kx="0" ky="0" algn="bl" rotWithShape="0" blurRad="177800" dist="25400" dir="5400000">
              <a:srgbClr val="000000">
                <a:alpha val="12000"/>
              </a:srgbClr>
            </a:outerShdw>
          </a:effectLst>
        </p:spPr>
      </p:sp>
      <p:pic>
        <p:nvPicPr>
          <p:cNvPr id="6" name="Image 0" descr="C:\Users\affla\OneDrive\Documents\Saas\Claude projects\COCOPALM\build\img\certs.jpg">    </p:cNvPr>
          <p:cNvPicPr>
            <a:picLocks noChangeAspect="1"/>
          </p:cNvPicPr>
          <p:nvPr/>
        </p:nvPicPr>
        <p:blipFill>
          <a:blip r:embed="rId1"/>
          <a:srcRect l="0" r="0" t="0" b="0"/>
          <a:stretch/>
        </p:blipFill>
        <p:spPr>
          <a:xfrm>
            <a:off x="777240" y="1965960"/>
            <a:ext cx="5212080" cy="2011680"/>
          </a:xfrm>
          <a:prstGeom prst="rect">
            <a:avLst/>
          </a:prstGeom>
        </p:spPr>
      </p:pic>
      <p:sp>
        <p:nvSpPr>
          <p:cNvPr id="7" name="Text 4"/>
          <p:cNvSpPr/>
          <p:nvPr/>
        </p:nvSpPr>
        <p:spPr>
          <a:xfrm>
            <a:off x="640080" y="4224528"/>
            <a:ext cx="5486400" cy="274320"/>
          </a:xfrm>
          <a:prstGeom prst="rect">
            <a:avLst/>
          </a:prstGeom>
          <a:noFill/>
          <a:ln/>
        </p:spPr>
        <p:txBody>
          <a:bodyPr wrap="square" lIns="0" tIns="0" rIns="0" bIns="0" rtlCol="0" anchor="ctr"/>
          <a:lstStyle/>
          <a:p>
            <a:pPr indent="0" marL="0">
              <a:buNone/>
            </a:pPr>
            <a:r>
              <a:rPr lang="en-US" sz="950" i="1" dirty="0">
                <a:solidFill>
                  <a:srgbClr val="6E7A6F"/>
                </a:solidFill>
                <a:latin typeface="Calibri" pitchFamily="34" charset="0"/>
                <a:ea typeface="Calibri" pitchFamily="34" charset="-122"/>
                <a:cs typeface="Calibri" pitchFamily="34" charset="-120"/>
              </a:rPr>
              <a:t>Certification marks as presented in the company profile film</a:t>
            </a:r>
            <a:endParaRPr lang="en-US" sz="950" dirty="0"/>
          </a:p>
        </p:txBody>
      </p:sp>
      <p:sp>
        <p:nvSpPr>
          <p:cNvPr id="8" name="Text 5"/>
          <p:cNvSpPr/>
          <p:nvPr/>
        </p:nvSpPr>
        <p:spPr>
          <a:xfrm>
            <a:off x="6693408" y="1810512"/>
            <a:ext cx="4858207" cy="256032"/>
          </a:xfrm>
          <a:prstGeom prst="rect">
            <a:avLst/>
          </a:prstGeom>
          <a:noFill/>
          <a:ln/>
        </p:spPr>
        <p:txBody>
          <a:bodyPr wrap="square" lIns="0" tIns="0" rIns="0" bIns="0" rtlCol="0" anchor="ctr"/>
          <a:lstStyle/>
          <a:p>
            <a:pPr indent="0" marL="0">
              <a:buNone/>
            </a:pPr>
            <a:r>
              <a:rPr lang="en-US" sz="1350" b="1" dirty="0">
                <a:solidFill>
                  <a:srgbClr val="14532D"/>
                </a:solidFill>
                <a:latin typeface="Cambria" pitchFamily="34" charset="0"/>
                <a:ea typeface="Cambria" pitchFamily="34" charset="-122"/>
                <a:cs typeface="Cambria" pitchFamily="34" charset="-120"/>
              </a:rPr>
              <a:t>ISO 9001</a:t>
            </a:r>
            <a:endParaRPr lang="en-US" sz="1350" dirty="0"/>
          </a:p>
        </p:txBody>
      </p:sp>
      <p:sp>
        <p:nvSpPr>
          <p:cNvPr id="9" name="Text 6"/>
          <p:cNvSpPr/>
          <p:nvPr/>
        </p:nvSpPr>
        <p:spPr>
          <a:xfrm>
            <a:off x="6693408" y="2057400"/>
            <a:ext cx="4858207" cy="237744"/>
          </a:xfrm>
          <a:prstGeom prst="rect">
            <a:avLst/>
          </a:prstGeom>
          <a:noFill/>
          <a:ln/>
        </p:spPr>
        <p:txBody>
          <a:bodyPr wrap="square" lIns="0" tIns="0" rIns="0" bIns="0" rtlCol="0" anchor="ctr"/>
          <a:lstStyle/>
          <a:p>
            <a:pPr indent="0" marL="0">
              <a:buNone/>
            </a:pPr>
            <a:r>
              <a:rPr lang="en-US" sz="1050" dirty="0">
                <a:solidFill>
                  <a:srgbClr val="6E7A6F"/>
                </a:solidFill>
                <a:latin typeface="Calibri" pitchFamily="34" charset="0"/>
                <a:ea typeface="Calibri" pitchFamily="34" charset="-122"/>
                <a:cs typeface="Calibri" pitchFamily="34" charset="-120"/>
              </a:rPr>
              <a:t>Quality management system</a:t>
            </a:r>
            <a:endParaRPr lang="en-US" sz="1050" dirty="0"/>
          </a:p>
        </p:txBody>
      </p:sp>
      <p:sp>
        <p:nvSpPr>
          <p:cNvPr id="10" name="Text 7"/>
          <p:cNvSpPr/>
          <p:nvPr/>
        </p:nvSpPr>
        <p:spPr>
          <a:xfrm>
            <a:off x="6693408" y="2377440"/>
            <a:ext cx="4858207" cy="256032"/>
          </a:xfrm>
          <a:prstGeom prst="rect">
            <a:avLst/>
          </a:prstGeom>
          <a:noFill/>
          <a:ln/>
        </p:spPr>
        <p:txBody>
          <a:bodyPr wrap="square" lIns="0" tIns="0" rIns="0" bIns="0" rtlCol="0" anchor="ctr"/>
          <a:lstStyle/>
          <a:p>
            <a:pPr indent="0" marL="0">
              <a:buNone/>
            </a:pPr>
            <a:r>
              <a:rPr lang="en-US" sz="1350" b="1" dirty="0">
                <a:solidFill>
                  <a:srgbClr val="14532D"/>
                </a:solidFill>
                <a:latin typeface="Cambria" pitchFamily="34" charset="0"/>
                <a:ea typeface="Cambria" pitchFamily="34" charset="-122"/>
                <a:cs typeface="Cambria" pitchFamily="34" charset="-120"/>
              </a:rPr>
              <a:t>FSSAI</a:t>
            </a:r>
            <a:endParaRPr lang="en-US" sz="1350" dirty="0"/>
          </a:p>
        </p:txBody>
      </p:sp>
      <p:sp>
        <p:nvSpPr>
          <p:cNvPr id="11" name="Text 8"/>
          <p:cNvSpPr/>
          <p:nvPr/>
        </p:nvSpPr>
        <p:spPr>
          <a:xfrm>
            <a:off x="6693408" y="2624328"/>
            <a:ext cx="4858207" cy="237744"/>
          </a:xfrm>
          <a:prstGeom prst="rect">
            <a:avLst/>
          </a:prstGeom>
          <a:noFill/>
          <a:ln/>
        </p:spPr>
        <p:txBody>
          <a:bodyPr wrap="square" lIns="0" tIns="0" rIns="0" bIns="0" rtlCol="0" anchor="ctr"/>
          <a:lstStyle/>
          <a:p>
            <a:pPr indent="0" marL="0">
              <a:buNone/>
            </a:pPr>
            <a:r>
              <a:rPr lang="en-US" sz="1050" dirty="0">
                <a:solidFill>
                  <a:srgbClr val="6E7A6F"/>
                </a:solidFill>
                <a:latin typeface="Calibri" pitchFamily="34" charset="0"/>
                <a:ea typeface="Calibri" pitchFamily="34" charset="-122"/>
                <a:cs typeface="Calibri" pitchFamily="34" charset="-120"/>
              </a:rPr>
              <a:t>Food licence, Government of India</a:t>
            </a:r>
            <a:endParaRPr lang="en-US" sz="1050" dirty="0"/>
          </a:p>
        </p:txBody>
      </p:sp>
      <p:sp>
        <p:nvSpPr>
          <p:cNvPr id="12" name="Text 9"/>
          <p:cNvSpPr/>
          <p:nvPr/>
        </p:nvSpPr>
        <p:spPr>
          <a:xfrm>
            <a:off x="6693408" y="2944368"/>
            <a:ext cx="4858207" cy="256032"/>
          </a:xfrm>
          <a:prstGeom prst="rect">
            <a:avLst/>
          </a:prstGeom>
          <a:noFill/>
          <a:ln/>
        </p:spPr>
        <p:txBody>
          <a:bodyPr wrap="square" lIns="0" tIns="0" rIns="0" bIns="0" rtlCol="0" anchor="ctr"/>
          <a:lstStyle/>
          <a:p>
            <a:pPr indent="0" marL="0">
              <a:buNone/>
            </a:pPr>
            <a:r>
              <a:rPr lang="en-US" sz="1350" b="1" dirty="0">
                <a:solidFill>
                  <a:srgbClr val="14532D"/>
                </a:solidFill>
                <a:latin typeface="Cambria" pitchFamily="34" charset="0"/>
                <a:ea typeface="Cambria" pitchFamily="34" charset="-122"/>
                <a:cs typeface="Cambria" pitchFamily="34" charset="-120"/>
              </a:rPr>
              <a:t>NABL</a:t>
            </a:r>
            <a:endParaRPr lang="en-US" sz="1350" dirty="0"/>
          </a:p>
        </p:txBody>
      </p:sp>
      <p:sp>
        <p:nvSpPr>
          <p:cNvPr id="13" name="Text 10"/>
          <p:cNvSpPr/>
          <p:nvPr/>
        </p:nvSpPr>
        <p:spPr>
          <a:xfrm>
            <a:off x="6693408" y="3191256"/>
            <a:ext cx="4858207" cy="237744"/>
          </a:xfrm>
          <a:prstGeom prst="rect">
            <a:avLst/>
          </a:prstGeom>
          <a:noFill/>
          <a:ln/>
        </p:spPr>
        <p:txBody>
          <a:bodyPr wrap="square" lIns="0" tIns="0" rIns="0" bIns="0" rtlCol="0" anchor="ctr"/>
          <a:lstStyle/>
          <a:p>
            <a:pPr indent="0" marL="0">
              <a:buNone/>
            </a:pPr>
            <a:r>
              <a:rPr lang="en-US" sz="1050" dirty="0">
                <a:solidFill>
                  <a:srgbClr val="6E7A6F"/>
                </a:solidFill>
                <a:latin typeface="Calibri" pitchFamily="34" charset="0"/>
                <a:ea typeface="Calibri" pitchFamily="34" charset="-122"/>
                <a:cs typeface="Calibri" pitchFamily="34" charset="-120"/>
              </a:rPr>
              <a:t>Laboratory accreditation</a:t>
            </a:r>
            <a:endParaRPr lang="en-US" sz="1050" dirty="0"/>
          </a:p>
        </p:txBody>
      </p:sp>
      <p:sp>
        <p:nvSpPr>
          <p:cNvPr id="14" name="Text 11"/>
          <p:cNvSpPr/>
          <p:nvPr/>
        </p:nvSpPr>
        <p:spPr>
          <a:xfrm>
            <a:off x="6693408" y="3511296"/>
            <a:ext cx="4858207" cy="256032"/>
          </a:xfrm>
          <a:prstGeom prst="rect">
            <a:avLst/>
          </a:prstGeom>
          <a:noFill/>
          <a:ln/>
        </p:spPr>
        <p:txBody>
          <a:bodyPr wrap="square" lIns="0" tIns="0" rIns="0" bIns="0" rtlCol="0" anchor="ctr"/>
          <a:lstStyle/>
          <a:p>
            <a:pPr indent="0" marL="0">
              <a:buNone/>
            </a:pPr>
            <a:r>
              <a:rPr lang="en-US" sz="1350" b="1" dirty="0">
                <a:solidFill>
                  <a:srgbClr val="14532D"/>
                </a:solidFill>
                <a:latin typeface="Cambria" pitchFamily="34" charset="0"/>
                <a:ea typeface="Cambria" pitchFamily="34" charset="-122"/>
                <a:cs typeface="Cambria" pitchFamily="34" charset="-120"/>
              </a:rPr>
              <a:t>BRIT QUALIS</a:t>
            </a:r>
            <a:endParaRPr lang="en-US" sz="1350" dirty="0"/>
          </a:p>
        </p:txBody>
      </p:sp>
      <p:sp>
        <p:nvSpPr>
          <p:cNvPr id="15" name="Text 12"/>
          <p:cNvSpPr/>
          <p:nvPr/>
        </p:nvSpPr>
        <p:spPr>
          <a:xfrm>
            <a:off x="6693408" y="3758184"/>
            <a:ext cx="4858207" cy="237744"/>
          </a:xfrm>
          <a:prstGeom prst="rect">
            <a:avLst/>
          </a:prstGeom>
          <a:noFill/>
          <a:ln/>
        </p:spPr>
        <p:txBody>
          <a:bodyPr wrap="square" lIns="0" tIns="0" rIns="0" bIns="0" rtlCol="0" anchor="ctr"/>
          <a:lstStyle/>
          <a:p>
            <a:pPr indent="0" marL="0">
              <a:buNone/>
            </a:pPr>
            <a:r>
              <a:rPr lang="en-US" sz="1050" dirty="0">
                <a:solidFill>
                  <a:srgbClr val="6E7A6F"/>
                </a:solidFill>
                <a:latin typeface="Calibri" pitchFamily="34" charset="0"/>
                <a:ea typeface="Calibri" pitchFamily="34" charset="-122"/>
                <a:cs typeface="Calibri" pitchFamily="34" charset="-120"/>
              </a:rPr>
              <a:t>Two certificates held</a:t>
            </a:r>
            <a:endParaRPr lang="en-US" sz="1050" dirty="0"/>
          </a:p>
        </p:txBody>
      </p:sp>
      <p:sp>
        <p:nvSpPr>
          <p:cNvPr id="16" name="Text 13"/>
          <p:cNvSpPr/>
          <p:nvPr/>
        </p:nvSpPr>
        <p:spPr>
          <a:xfrm>
            <a:off x="6693408" y="4078224"/>
            <a:ext cx="4858207" cy="256032"/>
          </a:xfrm>
          <a:prstGeom prst="rect">
            <a:avLst/>
          </a:prstGeom>
          <a:noFill/>
          <a:ln/>
        </p:spPr>
        <p:txBody>
          <a:bodyPr wrap="square" lIns="0" tIns="0" rIns="0" bIns="0" rtlCol="0" anchor="ctr"/>
          <a:lstStyle/>
          <a:p>
            <a:pPr indent="0" marL="0">
              <a:buNone/>
            </a:pPr>
            <a:r>
              <a:rPr lang="en-US" sz="1350" b="1" dirty="0">
                <a:solidFill>
                  <a:srgbClr val="14532D"/>
                </a:solidFill>
                <a:latin typeface="Cambria" pitchFamily="34" charset="0"/>
                <a:ea typeface="Cambria" pitchFamily="34" charset="-122"/>
                <a:cs typeface="Cambria" pitchFamily="34" charset="-120"/>
              </a:rPr>
              <a:t>National Test House</a:t>
            </a:r>
            <a:endParaRPr lang="en-US" sz="1350" dirty="0"/>
          </a:p>
        </p:txBody>
      </p:sp>
      <p:sp>
        <p:nvSpPr>
          <p:cNvPr id="17" name="Text 14"/>
          <p:cNvSpPr/>
          <p:nvPr/>
        </p:nvSpPr>
        <p:spPr>
          <a:xfrm>
            <a:off x="6693408" y="4325112"/>
            <a:ext cx="4858207" cy="237744"/>
          </a:xfrm>
          <a:prstGeom prst="rect">
            <a:avLst/>
          </a:prstGeom>
          <a:noFill/>
          <a:ln/>
        </p:spPr>
        <p:txBody>
          <a:bodyPr wrap="square" lIns="0" tIns="0" rIns="0" bIns="0" rtlCol="0" anchor="ctr"/>
          <a:lstStyle/>
          <a:p>
            <a:pPr indent="0" marL="0">
              <a:buNone/>
            </a:pPr>
            <a:r>
              <a:rPr lang="en-US" sz="1050" dirty="0">
                <a:solidFill>
                  <a:srgbClr val="6E7A6F"/>
                </a:solidFill>
                <a:latin typeface="Calibri" pitchFamily="34" charset="0"/>
                <a:ea typeface="Calibri" pitchFamily="34" charset="-122"/>
                <a:cs typeface="Calibri" pitchFamily="34" charset="-120"/>
              </a:rPr>
              <a:t>Government test certificate</a:t>
            </a:r>
            <a:endParaRPr lang="en-US" sz="1050" dirty="0"/>
          </a:p>
        </p:txBody>
      </p:sp>
      <p:sp>
        <p:nvSpPr>
          <p:cNvPr id="18" name="Shape 15"/>
          <p:cNvSpPr/>
          <p:nvPr/>
        </p:nvSpPr>
        <p:spPr>
          <a:xfrm>
            <a:off x="640080" y="4882896"/>
            <a:ext cx="10911535" cy="1133856"/>
          </a:xfrm>
          <a:prstGeom prst="roundRect">
            <a:avLst>
              <a:gd name="adj" fmla="val 4839"/>
            </a:avLst>
          </a:prstGeom>
          <a:solidFill>
            <a:srgbClr val="F1F5EF"/>
          </a:solidFill>
          <a:ln w="12700">
            <a:solidFill>
              <a:srgbClr val="F1F5EF"/>
            </a:solidFill>
            <a:prstDash val="solid"/>
          </a:ln>
        </p:spPr>
      </p:sp>
      <p:sp>
        <p:nvSpPr>
          <p:cNvPr id="19" name="Text 16"/>
          <p:cNvSpPr/>
          <p:nvPr/>
        </p:nvSpPr>
        <p:spPr>
          <a:xfrm>
            <a:off x="914400" y="5010912"/>
            <a:ext cx="10362895" cy="274320"/>
          </a:xfrm>
          <a:prstGeom prst="rect">
            <a:avLst/>
          </a:prstGeom>
          <a:noFill/>
          <a:ln/>
        </p:spPr>
        <p:txBody>
          <a:bodyPr wrap="square" lIns="0" tIns="0" rIns="0" bIns="0" rtlCol="0" anchor="ctr"/>
          <a:lstStyle/>
          <a:p>
            <a:pPr indent="0" marL="0">
              <a:buNone/>
            </a:pPr>
            <a:r>
              <a:rPr lang="en-US" sz="1100" b="1" spc="140" kern="0" dirty="0">
                <a:solidFill>
                  <a:srgbClr val="14532D"/>
                </a:solidFill>
                <a:latin typeface="Calibri" pitchFamily="34" charset="0"/>
                <a:ea typeface="Calibri" pitchFamily="34" charset="-122"/>
                <a:cs typeface="Calibri" pitchFamily="34" charset="-120"/>
              </a:rPr>
              <a:t>Still needed for an export pack</a:t>
            </a:r>
            <a:endParaRPr lang="en-US" sz="1100" dirty="0"/>
          </a:p>
        </p:txBody>
      </p:sp>
      <p:sp>
        <p:nvSpPr>
          <p:cNvPr id="20" name="Text 17"/>
          <p:cNvSpPr/>
          <p:nvPr/>
        </p:nvSpPr>
        <p:spPr>
          <a:xfrm>
            <a:off x="914400" y="5340096"/>
            <a:ext cx="10362895" cy="548640"/>
          </a:xfrm>
          <a:prstGeom prst="rect">
            <a:avLst/>
          </a:prstGeom>
          <a:noFill/>
          <a:ln/>
        </p:spPr>
        <p:txBody>
          <a:bodyPr wrap="square" lIns="0" tIns="0" rIns="0" bIns="0" rtlCol="0" anchor="t"/>
          <a:lstStyle/>
          <a:p>
            <a:pPr indent="0" marL="0">
              <a:lnSpc>
                <a:spcPct val="120000"/>
              </a:lnSpc>
              <a:buNone/>
            </a:pPr>
            <a:r>
              <a:rPr lang="en-US" sz="1150" dirty="0">
                <a:solidFill>
                  <a:srgbClr val="232C24"/>
                </a:solidFill>
                <a:latin typeface="Calibri" pitchFamily="34" charset="0"/>
                <a:ea typeface="Calibri" pitchFamily="34" charset="-122"/>
                <a:cs typeface="Calibri" pitchFamily="34" charset="-120"/>
              </a:rPr>
              <a:t>Certificate numbers and validity dates for each mark above  ·  organic / Fairtrade status if held  ·  importing-country registrations (US FDA, EU, GCC) as applicable.</a:t>
            </a:r>
            <a:endParaRPr lang="en-US" sz="1150" dirty="0"/>
          </a:p>
        </p:txBody>
      </p:sp>
      <p:sp>
        <p:nvSpPr>
          <p:cNvPr id="21" name="Text 18"/>
          <p:cNvSpPr/>
          <p:nvPr/>
        </p:nvSpPr>
        <p:spPr>
          <a:xfrm>
            <a:off x="640080" y="6382512"/>
            <a:ext cx="5486400" cy="237744"/>
          </a:xfrm>
          <a:prstGeom prst="rect">
            <a:avLst/>
          </a:prstGeom>
          <a:noFill/>
          <a:ln/>
        </p:spPr>
        <p:txBody>
          <a:bodyPr wrap="square" lIns="0" tIns="0" rIns="0" bIns="0" rtlCol="0" anchor="ctr"/>
          <a:lstStyle/>
          <a:p>
            <a:pPr indent="0" marL="0">
              <a:buNone/>
            </a:pPr>
            <a:r>
              <a:rPr lang="en-US" sz="900" spc="60" kern="0" dirty="0">
                <a:solidFill>
                  <a:srgbClr val="6E7A6F"/>
                </a:solidFill>
                <a:latin typeface="Calibri" pitchFamily="34" charset="0"/>
                <a:ea typeface="Calibri" pitchFamily="34" charset="-122"/>
                <a:cs typeface="Calibri" pitchFamily="34" charset="-120"/>
              </a:rPr>
              <a:t>Coco Palms Skylanes and Allied Products</a:t>
            </a:r>
            <a:endParaRPr lang="en-US" sz="900" dirty="0"/>
          </a:p>
        </p:txBody>
      </p:sp>
      <p:sp>
        <p:nvSpPr>
          <p:cNvPr id="22" name="Text 19"/>
          <p:cNvSpPr/>
          <p:nvPr/>
        </p:nvSpPr>
        <p:spPr>
          <a:xfrm>
            <a:off x="10637215" y="6382512"/>
            <a:ext cx="914400" cy="237744"/>
          </a:xfrm>
          <a:prstGeom prst="rect">
            <a:avLst/>
          </a:prstGeom>
          <a:noFill/>
          <a:ln/>
        </p:spPr>
        <p:txBody>
          <a:bodyPr wrap="square" lIns="0" tIns="0" rIns="0" bIns="0" rtlCol="0" anchor="ctr"/>
          <a:lstStyle/>
          <a:p>
            <a:pPr algn="r" indent="0" marL="0">
              <a:buNone/>
            </a:pPr>
            <a:r>
              <a:rPr lang="en-US" sz="900" dirty="0">
                <a:solidFill>
                  <a:srgbClr val="6E7A6F"/>
                </a:solidFill>
                <a:latin typeface="Calibri" pitchFamily="34" charset="0"/>
                <a:ea typeface="Calibri" pitchFamily="34" charset="-122"/>
                <a:cs typeface="Calibri" pitchFamily="34" charset="-120"/>
              </a:rPr>
              <a:t>10</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FFFFF"/>
          </a:solidFill>
          <a:ln w="12700">
            <a:solidFill>
              <a:srgbClr val="FFFFFF"/>
            </a:solidFill>
            <a:prstDash val="solid"/>
          </a:ln>
        </p:spPr>
      </p:sp>
      <p:sp>
        <p:nvSpPr>
          <p:cNvPr id="3" name="Text 1"/>
          <p:cNvSpPr/>
          <p:nvPr/>
        </p:nvSpPr>
        <p:spPr>
          <a:xfrm>
            <a:off x="640080" y="566928"/>
            <a:ext cx="10911535" cy="256032"/>
          </a:xfrm>
          <a:prstGeom prst="rect">
            <a:avLst/>
          </a:prstGeom>
          <a:noFill/>
          <a:ln/>
        </p:spPr>
        <p:txBody>
          <a:bodyPr wrap="square" lIns="0" tIns="0" rIns="0" bIns="0" rtlCol="0" anchor="ctr"/>
          <a:lstStyle/>
          <a:p>
            <a:pPr indent="0" marL="0">
              <a:buNone/>
            </a:pPr>
            <a:r>
              <a:rPr lang="en-US" sz="1150" b="1" spc="240" kern="0" dirty="0">
                <a:solidFill>
                  <a:srgbClr val="B8860F"/>
                </a:solidFill>
                <a:latin typeface="Calibri" pitchFamily="34" charset="0"/>
                <a:ea typeface="Calibri" pitchFamily="34" charset="-122"/>
                <a:cs typeface="Calibri" pitchFamily="34" charset="-120"/>
              </a:rPr>
              <a:t>COMMERCIAL</a:t>
            </a:r>
            <a:endParaRPr lang="en-US" sz="1150" dirty="0"/>
          </a:p>
        </p:txBody>
      </p:sp>
      <p:sp>
        <p:nvSpPr>
          <p:cNvPr id="4" name="Text 2"/>
          <p:cNvSpPr/>
          <p:nvPr/>
        </p:nvSpPr>
        <p:spPr>
          <a:xfrm>
            <a:off x="640080" y="877824"/>
            <a:ext cx="10911535" cy="749808"/>
          </a:xfrm>
          <a:prstGeom prst="rect">
            <a:avLst/>
          </a:prstGeom>
          <a:noFill/>
          <a:ln/>
        </p:spPr>
        <p:txBody>
          <a:bodyPr wrap="square" lIns="0" tIns="0" rIns="0" bIns="0" rtlCol="0" anchor="t"/>
          <a:lstStyle/>
          <a:p>
            <a:pPr indent="0" marL="0">
              <a:buNone/>
            </a:pPr>
            <a:r>
              <a:rPr lang="en-US" sz="3400" b="1" dirty="0">
                <a:solidFill>
                  <a:srgbClr val="14532D"/>
                </a:solidFill>
                <a:latin typeface="Cambria" pitchFamily="34" charset="0"/>
                <a:ea typeface="Cambria" pitchFamily="34" charset="-122"/>
                <a:cs typeface="Cambria" pitchFamily="34" charset="-120"/>
              </a:rPr>
              <a:t>Packaging, logistics and terms</a:t>
            </a:r>
            <a:endParaRPr lang="en-US" sz="3400" dirty="0"/>
          </a:p>
        </p:txBody>
      </p:sp>
      <p:sp>
        <p:nvSpPr>
          <p:cNvPr id="5" name="Text 3"/>
          <p:cNvSpPr/>
          <p:nvPr/>
        </p:nvSpPr>
        <p:spPr>
          <a:xfrm>
            <a:off x="640080" y="1682496"/>
            <a:ext cx="7498080" cy="420624"/>
          </a:xfrm>
          <a:prstGeom prst="rect">
            <a:avLst/>
          </a:prstGeom>
          <a:noFill/>
          <a:ln/>
        </p:spPr>
        <p:txBody>
          <a:bodyPr wrap="square" lIns="0" tIns="0" rIns="0" bIns="0" rtlCol="0" anchor="ctr"/>
          <a:lstStyle/>
          <a:p>
            <a:pPr indent="0" marL="0">
              <a:lnSpc>
                <a:spcPct val="120000"/>
              </a:lnSpc>
              <a:buNone/>
            </a:pPr>
            <a:r>
              <a:rPr lang="en-US" sz="1200" i="1" dirty="0">
                <a:solidFill>
                  <a:srgbClr val="6E7A6F"/>
                </a:solidFill>
                <a:latin typeface="Calibri" pitchFamily="34" charset="0"/>
                <a:ea typeface="Calibri" pitchFamily="34" charset="-122"/>
                <a:cs typeface="Calibri" pitchFamily="34" charset="-120"/>
              </a:rPr>
              <a:t>Standard terms below. All are negotiable against confirmed volume and destination.</a:t>
            </a:r>
            <a:endParaRPr lang="en-US" sz="1200" dirty="0"/>
          </a:p>
        </p:txBody>
      </p:sp>
      <p:graphicFrame>
        <p:nvGraphicFramePr>
          <p:cNvPr id="12" name="Table 0"/>
          <p:cNvGraphicFramePr>
            <a:graphicFrameLocks noGrp="1"/>
          </p:cNvGraphicFramePr>
          <p:nvPr>
            <p:extLst>
              <p:ext uri="{D42A27DB-BD31-4B8C-83A1-F6EECF244321}">
                <p14:modId xmlns:p14="http://schemas.microsoft.com/office/powerpoint/2010/main" val="1579011935"/>
              </p:ext>
            </p:extLst>
          </p:nvPr>
        </p:nvGraphicFramePr>
        <p:xfrm>
          <a:off x="640080" y="2212848"/>
          <a:ext cx="7498080" cy="914400"/>
        </p:xfrm>
        <a:graphic>
          <a:graphicData uri="http://schemas.openxmlformats.org/drawingml/2006/table">
            <a:tbl>
              <a:tblPr/>
              <a:tblGrid>
                <a:gridCol w="3299155"/>
                <a:gridCol w="4198925"/>
              </a:tblGrid>
              <a:tr h="365760">
                <a:tc>
                  <a:txBody>
                    <a:bodyPr/>
                    <a:lstStyle/>
                    <a:p>
                      <a:pPr indent="0" marL="0">
                        <a:buNone/>
                      </a:pPr>
                      <a:r>
                        <a:rPr lang="en-US" sz="1100" b="1" dirty="0">
                          <a:solidFill>
                            <a:srgbClr val="232C24"/>
                          </a:solidFill>
                          <a:latin typeface="Calibri" pitchFamily="34" charset="0"/>
                          <a:ea typeface="Calibri" pitchFamily="34" charset="-122"/>
                          <a:cs typeface="Calibri" pitchFamily="34" charset="-120"/>
                        </a:rPr>
                        <a:t>Item</a:t>
                      </a:r>
                      <a:endParaRPr lang="en-US" sz="1100" dirty="0">
                        <a:latin typeface="Calibri" charset="0"/>
                        <a:ea typeface="Calibri" charset="0"/>
                        <a:cs typeface="Calibri" charset="0"/>
                      </a:endParaRPr>
                    </a:p>
                  </a:txBody>
                  <a:tcPr marL="109728" marR="109728" marT="0" marB="0" anchor="ctr">
                    <a:lnL w="9525" cap="flat" cmpd="sng" algn="ctr">
                      <a:solidFill>
                        <a:srgbClr val="DDE5DB"/>
                      </a:solidFill>
                      <a:prstDash val="solid"/>
                      <a:round/>
                      <a:headEnd type="none" w="med" len="med"/>
                      <a:tailEnd type="none" w="med" len="med"/>
                    </a:lnL>
                    <a:lnR w="9525" cap="flat" cmpd="sng" algn="ctr">
                      <a:solidFill>
                        <a:srgbClr val="DDE5DB"/>
                      </a:solidFill>
                      <a:prstDash val="solid"/>
                      <a:round/>
                      <a:headEnd type="none" w="med" len="med"/>
                      <a:tailEnd type="none" w="med" len="med"/>
                    </a:lnR>
                    <a:lnT w="9525" cap="flat" cmpd="sng" algn="ctr">
                      <a:solidFill>
                        <a:srgbClr val="DDE5DB"/>
                      </a:solidFill>
                      <a:prstDash val="solid"/>
                      <a:round/>
                      <a:headEnd type="none" w="med" len="med"/>
                      <a:tailEnd type="none" w="med" len="med"/>
                    </a:lnT>
                    <a:lnB w="9525" cap="flat" cmpd="sng" algn="ctr">
                      <a:solidFill>
                        <a:srgbClr val="DDE5DB"/>
                      </a:solidFill>
                      <a:prstDash val="solid"/>
                      <a:round/>
                      <a:headEnd type="none" w="med" len="med"/>
                      <a:tailEnd type="none" w="med" len="med"/>
                    </a:lnB>
                    <a:solidFill>
                      <a:srgbClr val="FFFFFF"/>
                    </a:solidFill>
                  </a:tcPr>
                </a:tc>
                <a:tc>
                  <a:txBody>
                    <a:bodyPr/>
                    <a:lstStyle/>
                    <a:p>
                      <a:pPr indent="0" marL="0">
                        <a:buNone/>
                      </a:pPr>
                      <a:r>
                        <a:rPr lang="en-US" sz="1100" b="1" dirty="0">
                          <a:solidFill>
                            <a:srgbClr val="232C24"/>
                          </a:solidFill>
                          <a:latin typeface="Calibri" pitchFamily="34" charset="0"/>
                          <a:ea typeface="Calibri" pitchFamily="34" charset="-122"/>
                          <a:cs typeface="Calibri" pitchFamily="34" charset="-120"/>
                        </a:rPr>
                        <a:t>Detail</a:t>
                      </a:r>
                      <a:endParaRPr lang="en-US" sz="1100" dirty="0">
                        <a:latin typeface="Calibri" charset="0"/>
                        <a:ea typeface="Calibri" charset="0"/>
                        <a:cs typeface="Calibri" charset="0"/>
                      </a:endParaRPr>
                    </a:p>
                  </a:txBody>
                  <a:tcPr marL="109728" marR="109728" marT="0" marB="0" anchor="ctr">
                    <a:lnL w="9525" cap="flat" cmpd="sng" algn="ctr">
                      <a:solidFill>
                        <a:srgbClr val="DDE5DB"/>
                      </a:solidFill>
                      <a:prstDash val="solid"/>
                      <a:round/>
                      <a:headEnd type="none" w="med" len="med"/>
                      <a:tailEnd type="none" w="med" len="med"/>
                    </a:lnL>
                    <a:lnR w="9525" cap="flat" cmpd="sng" algn="ctr">
                      <a:solidFill>
                        <a:srgbClr val="DDE5DB"/>
                      </a:solidFill>
                      <a:prstDash val="solid"/>
                      <a:round/>
                      <a:headEnd type="none" w="med" len="med"/>
                      <a:tailEnd type="none" w="med" len="med"/>
                    </a:lnR>
                    <a:lnT w="9525" cap="flat" cmpd="sng" algn="ctr">
                      <a:solidFill>
                        <a:srgbClr val="DDE5DB"/>
                      </a:solidFill>
                      <a:prstDash val="solid"/>
                      <a:round/>
                      <a:headEnd type="none" w="med" len="med"/>
                      <a:tailEnd type="none" w="med" len="med"/>
                    </a:lnT>
                    <a:lnB w="9525" cap="flat" cmpd="sng" algn="ctr">
                      <a:solidFill>
                        <a:srgbClr val="DDE5DB"/>
                      </a:solidFill>
                      <a:prstDash val="solid"/>
                      <a:round/>
                      <a:headEnd type="none" w="med" len="med"/>
                      <a:tailEnd type="none" w="med" len="med"/>
                    </a:lnB>
                    <a:solidFill>
                      <a:srgbClr val="FFFFFF"/>
                    </a:solidFill>
                  </a:tcPr>
                </a:tc>
              </a:tr>
              <a:tr h="365760">
                <a:tc>
                  <a:txBody>
                    <a:bodyPr/>
                    <a:lstStyle/>
                    <a:p>
                      <a:pPr indent="0" marL="0">
                        <a:buNone/>
                      </a:pPr>
                      <a:r>
                        <a:rPr lang="en-US" sz="1100" dirty="0">
                          <a:solidFill>
                            <a:srgbClr val="232C24"/>
                          </a:solidFill>
                          <a:latin typeface="Calibri" pitchFamily="34" charset="0"/>
                          <a:ea typeface="Calibri" pitchFamily="34" charset="-122"/>
                          <a:cs typeface="Calibri" pitchFamily="34" charset="-120"/>
                        </a:rPr>
                        <a:t>Retail pack sizes</a:t>
                      </a:r>
                      <a:endParaRPr lang="en-US" sz="1100" dirty="0">
                        <a:latin typeface="Calibri" charset="0"/>
                        <a:ea typeface="Calibri" charset="0"/>
                        <a:cs typeface="Calibri" charset="0"/>
                      </a:endParaRPr>
                    </a:p>
                  </a:txBody>
                  <a:tcPr marL="109728" marR="109728" marT="0" marB="0" anchor="ctr">
                    <a:lnL w="9525" cap="flat" cmpd="sng" algn="ctr">
                      <a:solidFill>
                        <a:srgbClr val="DDE5DB"/>
                      </a:solidFill>
                      <a:prstDash val="solid"/>
                      <a:round/>
                      <a:headEnd type="none" w="med" len="med"/>
                      <a:tailEnd type="none" w="med" len="med"/>
                    </a:lnL>
                    <a:lnR w="9525" cap="flat" cmpd="sng" algn="ctr">
                      <a:solidFill>
                        <a:srgbClr val="DDE5DB"/>
                      </a:solidFill>
                      <a:prstDash val="solid"/>
                      <a:round/>
                      <a:headEnd type="none" w="med" len="med"/>
                      <a:tailEnd type="none" w="med" len="med"/>
                    </a:lnR>
                    <a:lnT w="9525" cap="flat" cmpd="sng" algn="ctr">
                      <a:solidFill>
                        <a:srgbClr val="DDE5DB"/>
                      </a:solidFill>
                      <a:prstDash val="solid"/>
                      <a:round/>
                      <a:headEnd type="none" w="med" len="med"/>
                      <a:tailEnd type="none" w="med" len="med"/>
                    </a:lnT>
                    <a:lnB w="9525" cap="flat" cmpd="sng" algn="ctr">
                      <a:solidFill>
                        <a:srgbClr val="DDE5DB"/>
                      </a:solidFill>
                      <a:prstDash val="solid"/>
                      <a:round/>
                      <a:headEnd type="none" w="med" len="med"/>
                      <a:tailEnd type="none" w="med" len="med"/>
                    </a:lnB>
                    <a:solidFill>
                      <a:srgbClr val="FFFFFF"/>
                    </a:solidFill>
                  </a:tcPr>
                </a:tc>
                <a:tc>
                  <a:txBody>
                    <a:bodyPr/>
                    <a:lstStyle/>
                    <a:p>
                      <a:pPr indent="0" marL="0">
                        <a:buNone/>
                      </a:pPr>
                      <a:r>
                        <a:rPr lang="en-US" sz="1100" dirty="0">
                          <a:solidFill>
                            <a:srgbClr val="232C24"/>
                          </a:solidFill>
                          <a:latin typeface="Calibri" pitchFamily="34" charset="0"/>
                          <a:ea typeface="Calibri" pitchFamily="34" charset="-122"/>
                          <a:cs typeface="Calibri" pitchFamily="34" charset="-120"/>
                        </a:rPr>
                        <a:t>200 ml · 500 ml · 1 L PET · 5 L jerrycan</a:t>
                      </a:r>
                      <a:endParaRPr lang="en-US" sz="1100" dirty="0">
                        <a:latin typeface="Calibri" charset="0"/>
                        <a:ea typeface="Calibri" charset="0"/>
                        <a:cs typeface="Calibri" charset="0"/>
                      </a:endParaRPr>
                    </a:p>
                  </a:txBody>
                  <a:tcPr marL="109728" marR="109728" marT="0" marB="0" anchor="ctr">
                    <a:lnL w="9525" cap="flat" cmpd="sng" algn="ctr">
                      <a:solidFill>
                        <a:srgbClr val="DDE5DB"/>
                      </a:solidFill>
                      <a:prstDash val="solid"/>
                      <a:round/>
                      <a:headEnd type="none" w="med" len="med"/>
                      <a:tailEnd type="none" w="med" len="med"/>
                    </a:lnL>
                    <a:lnR w="9525" cap="flat" cmpd="sng" algn="ctr">
                      <a:solidFill>
                        <a:srgbClr val="DDE5DB"/>
                      </a:solidFill>
                      <a:prstDash val="solid"/>
                      <a:round/>
                      <a:headEnd type="none" w="med" len="med"/>
                      <a:tailEnd type="none" w="med" len="med"/>
                    </a:lnR>
                    <a:lnT w="9525" cap="flat" cmpd="sng" algn="ctr">
                      <a:solidFill>
                        <a:srgbClr val="DDE5DB"/>
                      </a:solidFill>
                      <a:prstDash val="solid"/>
                      <a:round/>
                      <a:headEnd type="none" w="med" len="med"/>
                      <a:tailEnd type="none" w="med" len="med"/>
                    </a:lnT>
                    <a:lnB w="9525" cap="flat" cmpd="sng" algn="ctr">
                      <a:solidFill>
                        <a:srgbClr val="DDE5DB"/>
                      </a:solidFill>
                      <a:prstDash val="solid"/>
                      <a:round/>
                      <a:headEnd type="none" w="med" len="med"/>
                      <a:tailEnd type="none" w="med" len="med"/>
                    </a:lnB>
                    <a:solidFill>
                      <a:srgbClr val="FFFFFF"/>
                    </a:solidFill>
                  </a:tcPr>
                </a:tc>
              </a:tr>
              <a:tr h="365760">
                <a:tc>
                  <a:txBody>
                    <a:bodyPr/>
                    <a:lstStyle/>
                    <a:p>
                      <a:pPr indent="0" marL="0">
                        <a:buNone/>
                      </a:pPr>
                      <a:r>
                        <a:rPr lang="en-US" sz="1100" dirty="0">
                          <a:solidFill>
                            <a:srgbClr val="232C24"/>
                          </a:solidFill>
                          <a:latin typeface="Calibri" pitchFamily="34" charset="0"/>
                          <a:ea typeface="Calibri" pitchFamily="34" charset="-122"/>
                          <a:cs typeface="Calibri" pitchFamily="34" charset="-120"/>
                        </a:rPr>
                        <a:t>Bulk pack format</a:t>
                      </a:r>
                      <a:endParaRPr lang="en-US" sz="1100" dirty="0">
                        <a:latin typeface="Calibri" charset="0"/>
                        <a:ea typeface="Calibri" charset="0"/>
                        <a:cs typeface="Calibri" charset="0"/>
                      </a:endParaRPr>
                    </a:p>
                  </a:txBody>
                  <a:tcPr marL="109728" marR="109728" marT="0" marB="0" anchor="ctr">
                    <a:lnL w="9525" cap="flat" cmpd="sng" algn="ctr">
                      <a:solidFill>
                        <a:srgbClr val="DDE5DB"/>
                      </a:solidFill>
                      <a:prstDash val="solid"/>
                      <a:round/>
                      <a:headEnd type="none" w="med" len="med"/>
                      <a:tailEnd type="none" w="med" len="med"/>
                    </a:lnL>
                    <a:lnR w="9525" cap="flat" cmpd="sng" algn="ctr">
                      <a:solidFill>
                        <a:srgbClr val="DDE5DB"/>
                      </a:solidFill>
                      <a:prstDash val="solid"/>
                      <a:round/>
                      <a:headEnd type="none" w="med" len="med"/>
                      <a:tailEnd type="none" w="med" len="med"/>
                    </a:lnR>
                    <a:lnT w="9525" cap="flat" cmpd="sng" algn="ctr">
                      <a:solidFill>
                        <a:srgbClr val="DDE5DB"/>
                      </a:solidFill>
                      <a:prstDash val="solid"/>
                      <a:round/>
                      <a:headEnd type="none" w="med" len="med"/>
                      <a:tailEnd type="none" w="med" len="med"/>
                    </a:lnT>
                    <a:lnB w="9525" cap="flat" cmpd="sng" algn="ctr">
                      <a:solidFill>
                        <a:srgbClr val="DDE5DB"/>
                      </a:solidFill>
                      <a:prstDash val="solid"/>
                      <a:round/>
                      <a:headEnd type="none" w="med" len="med"/>
                      <a:tailEnd type="none" w="med" len="med"/>
                    </a:lnB>
                    <a:solidFill>
                      <a:srgbClr val="FFFFFF"/>
                    </a:solidFill>
                  </a:tcPr>
                </a:tc>
                <a:tc>
                  <a:txBody>
                    <a:bodyPr/>
                    <a:lstStyle/>
                    <a:p>
                      <a:pPr indent="0" marL="0">
                        <a:buNone/>
                      </a:pPr>
                      <a:r>
                        <a:rPr lang="en-US" sz="1100" dirty="0">
                          <a:solidFill>
                            <a:srgbClr val="232C24"/>
                          </a:solidFill>
                          <a:latin typeface="Calibri" pitchFamily="34" charset="0"/>
                          <a:ea typeface="Calibri" pitchFamily="34" charset="-122"/>
                          <a:cs typeface="Calibri" pitchFamily="34" charset="-120"/>
                        </a:rPr>
                        <a:t>15 kg tin · 200 kg HDPE drum · flexitank</a:t>
                      </a:r>
                      <a:endParaRPr lang="en-US" sz="1100" dirty="0">
                        <a:latin typeface="Calibri" charset="0"/>
                        <a:ea typeface="Calibri" charset="0"/>
                        <a:cs typeface="Calibri" charset="0"/>
                      </a:endParaRPr>
                    </a:p>
                  </a:txBody>
                  <a:tcPr marL="109728" marR="109728" marT="0" marB="0" anchor="ctr">
                    <a:lnL w="9525" cap="flat" cmpd="sng" algn="ctr">
                      <a:solidFill>
                        <a:srgbClr val="DDE5DB"/>
                      </a:solidFill>
                      <a:prstDash val="solid"/>
                      <a:round/>
                      <a:headEnd type="none" w="med" len="med"/>
                      <a:tailEnd type="none" w="med" len="med"/>
                    </a:lnL>
                    <a:lnR w="9525" cap="flat" cmpd="sng" algn="ctr">
                      <a:solidFill>
                        <a:srgbClr val="DDE5DB"/>
                      </a:solidFill>
                      <a:prstDash val="solid"/>
                      <a:round/>
                      <a:headEnd type="none" w="med" len="med"/>
                      <a:tailEnd type="none" w="med" len="med"/>
                    </a:lnR>
                    <a:lnT w="9525" cap="flat" cmpd="sng" algn="ctr">
                      <a:solidFill>
                        <a:srgbClr val="DDE5DB"/>
                      </a:solidFill>
                      <a:prstDash val="solid"/>
                      <a:round/>
                      <a:headEnd type="none" w="med" len="med"/>
                      <a:tailEnd type="none" w="med" len="med"/>
                    </a:lnT>
                    <a:lnB w="9525" cap="flat" cmpd="sng" algn="ctr">
                      <a:solidFill>
                        <a:srgbClr val="DDE5DB"/>
                      </a:solidFill>
                      <a:prstDash val="solid"/>
                      <a:round/>
                      <a:headEnd type="none" w="med" len="med"/>
                      <a:tailEnd type="none" w="med" len="med"/>
                    </a:lnB>
                    <a:solidFill>
                      <a:srgbClr val="FFFFFF"/>
                    </a:solidFill>
                  </a:tcPr>
                </a:tc>
              </a:tr>
              <a:tr h="365760">
                <a:tc>
                  <a:txBody>
                    <a:bodyPr/>
                    <a:lstStyle/>
                    <a:p>
                      <a:pPr indent="0" marL="0">
                        <a:buNone/>
                      </a:pPr>
                      <a:r>
                        <a:rPr lang="en-US" sz="1100" dirty="0">
                          <a:solidFill>
                            <a:srgbClr val="232C24"/>
                          </a:solidFill>
                          <a:latin typeface="Calibri" pitchFamily="34" charset="0"/>
                          <a:ea typeface="Calibri" pitchFamily="34" charset="-122"/>
                          <a:cs typeface="Calibri" pitchFamily="34" charset="-120"/>
                        </a:rPr>
                        <a:t>Minimum order quantity</a:t>
                      </a:r>
                      <a:endParaRPr lang="en-US" sz="1100" dirty="0">
                        <a:latin typeface="Calibri" charset="0"/>
                        <a:ea typeface="Calibri" charset="0"/>
                        <a:cs typeface="Calibri" charset="0"/>
                      </a:endParaRPr>
                    </a:p>
                  </a:txBody>
                  <a:tcPr marL="109728" marR="109728" marT="0" marB="0" anchor="ctr">
                    <a:lnL w="9525" cap="flat" cmpd="sng" algn="ctr">
                      <a:solidFill>
                        <a:srgbClr val="DDE5DB"/>
                      </a:solidFill>
                      <a:prstDash val="solid"/>
                      <a:round/>
                      <a:headEnd type="none" w="med" len="med"/>
                      <a:tailEnd type="none" w="med" len="med"/>
                    </a:lnL>
                    <a:lnR w="9525" cap="flat" cmpd="sng" algn="ctr">
                      <a:solidFill>
                        <a:srgbClr val="DDE5DB"/>
                      </a:solidFill>
                      <a:prstDash val="solid"/>
                      <a:round/>
                      <a:headEnd type="none" w="med" len="med"/>
                      <a:tailEnd type="none" w="med" len="med"/>
                    </a:lnR>
                    <a:lnT w="9525" cap="flat" cmpd="sng" algn="ctr">
                      <a:solidFill>
                        <a:srgbClr val="DDE5DB"/>
                      </a:solidFill>
                      <a:prstDash val="solid"/>
                      <a:round/>
                      <a:headEnd type="none" w="med" len="med"/>
                      <a:tailEnd type="none" w="med" len="med"/>
                    </a:lnT>
                    <a:lnB w="9525" cap="flat" cmpd="sng" algn="ctr">
                      <a:solidFill>
                        <a:srgbClr val="DDE5DB"/>
                      </a:solidFill>
                      <a:prstDash val="solid"/>
                      <a:round/>
                      <a:headEnd type="none" w="med" len="med"/>
                      <a:tailEnd type="none" w="med" len="med"/>
                    </a:lnB>
                    <a:solidFill>
                      <a:srgbClr val="FFFFFF"/>
                    </a:solidFill>
                  </a:tcPr>
                </a:tc>
                <a:tc>
                  <a:txBody>
                    <a:bodyPr/>
                    <a:lstStyle/>
                    <a:p>
                      <a:pPr indent="0" marL="0">
                        <a:buNone/>
                      </a:pPr>
                      <a:r>
                        <a:rPr lang="en-US" sz="1100" dirty="0">
                          <a:solidFill>
                            <a:srgbClr val="232C24"/>
                          </a:solidFill>
                          <a:latin typeface="Calibri" pitchFamily="34" charset="0"/>
                          <a:ea typeface="Calibri" pitchFamily="34" charset="-122"/>
                          <a:cs typeface="Calibri" pitchFamily="34" charset="-120"/>
                        </a:rPr>
                        <a:t>One 20ft FCL</a:t>
                      </a:r>
                      <a:endParaRPr lang="en-US" sz="1100" dirty="0">
                        <a:latin typeface="Calibri" charset="0"/>
                        <a:ea typeface="Calibri" charset="0"/>
                        <a:cs typeface="Calibri" charset="0"/>
                      </a:endParaRPr>
                    </a:p>
                  </a:txBody>
                  <a:tcPr marL="109728" marR="109728" marT="0" marB="0" anchor="ctr">
                    <a:lnL w="9525" cap="flat" cmpd="sng" algn="ctr">
                      <a:solidFill>
                        <a:srgbClr val="DDE5DB"/>
                      </a:solidFill>
                      <a:prstDash val="solid"/>
                      <a:round/>
                      <a:headEnd type="none" w="med" len="med"/>
                      <a:tailEnd type="none" w="med" len="med"/>
                    </a:lnL>
                    <a:lnR w="9525" cap="flat" cmpd="sng" algn="ctr">
                      <a:solidFill>
                        <a:srgbClr val="DDE5DB"/>
                      </a:solidFill>
                      <a:prstDash val="solid"/>
                      <a:round/>
                      <a:headEnd type="none" w="med" len="med"/>
                      <a:tailEnd type="none" w="med" len="med"/>
                    </a:lnR>
                    <a:lnT w="9525" cap="flat" cmpd="sng" algn="ctr">
                      <a:solidFill>
                        <a:srgbClr val="DDE5DB"/>
                      </a:solidFill>
                      <a:prstDash val="solid"/>
                      <a:round/>
                      <a:headEnd type="none" w="med" len="med"/>
                      <a:tailEnd type="none" w="med" len="med"/>
                    </a:lnT>
                    <a:lnB w="9525" cap="flat" cmpd="sng" algn="ctr">
                      <a:solidFill>
                        <a:srgbClr val="DDE5DB"/>
                      </a:solidFill>
                      <a:prstDash val="solid"/>
                      <a:round/>
                      <a:headEnd type="none" w="med" len="med"/>
                      <a:tailEnd type="none" w="med" len="med"/>
                    </a:lnB>
                    <a:solidFill>
                      <a:srgbClr val="FFFFFF"/>
                    </a:solidFill>
                  </a:tcPr>
                </a:tc>
              </a:tr>
              <a:tr h="365760">
                <a:tc>
                  <a:txBody>
                    <a:bodyPr/>
                    <a:lstStyle/>
                    <a:p>
                      <a:pPr indent="0" marL="0">
                        <a:buNone/>
                      </a:pPr>
                      <a:r>
                        <a:rPr lang="en-US" sz="1100" dirty="0">
                          <a:solidFill>
                            <a:srgbClr val="232C24"/>
                          </a:solidFill>
                          <a:latin typeface="Calibri" pitchFamily="34" charset="0"/>
                          <a:ea typeface="Calibri" pitchFamily="34" charset="-122"/>
                          <a:cs typeface="Calibri" pitchFamily="34" charset="-120"/>
                        </a:rPr>
                        <a:t>Units per 20ft / 40ft container</a:t>
                      </a:r>
                      <a:endParaRPr lang="en-US" sz="1100" dirty="0">
                        <a:latin typeface="Calibri" charset="0"/>
                        <a:ea typeface="Calibri" charset="0"/>
                        <a:cs typeface="Calibri" charset="0"/>
                      </a:endParaRPr>
                    </a:p>
                  </a:txBody>
                  <a:tcPr marL="109728" marR="109728" marT="0" marB="0" anchor="ctr">
                    <a:lnL w="9525" cap="flat" cmpd="sng" algn="ctr">
                      <a:solidFill>
                        <a:srgbClr val="DDE5DB"/>
                      </a:solidFill>
                      <a:prstDash val="solid"/>
                      <a:round/>
                      <a:headEnd type="none" w="med" len="med"/>
                      <a:tailEnd type="none" w="med" len="med"/>
                    </a:lnL>
                    <a:lnR w="9525" cap="flat" cmpd="sng" algn="ctr">
                      <a:solidFill>
                        <a:srgbClr val="DDE5DB"/>
                      </a:solidFill>
                      <a:prstDash val="solid"/>
                      <a:round/>
                      <a:headEnd type="none" w="med" len="med"/>
                      <a:tailEnd type="none" w="med" len="med"/>
                    </a:lnR>
                    <a:lnT w="9525" cap="flat" cmpd="sng" algn="ctr">
                      <a:solidFill>
                        <a:srgbClr val="DDE5DB"/>
                      </a:solidFill>
                      <a:prstDash val="solid"/>
                      <a:round/>
                      <a:headEnd type="none" w="med" len="med"/>
                      <a:tailEnd type="none" w="med" len="med"/>
                    </a:lnT>
                    <a:lnB w="9525" cap="flat" cmpd="sng" algn="ctr">
                      <a:solidFill>
                        <a:srgbClr val="DDE5DB"/>
                      </a:solidFill>
                      <a:prstDash val="solid"/>
                      <a:round/>
                      <a:headEnd type="none" w="med" len="med"/>
                      <a:tailEnd type="none" w="med" len="med"/>
                    </a:lnB>
                    <a:solidFill>
                      <a:srgbClr val="FFFFFF"/>
                    </a:solidFill>
                  </a:tcPr>
                </a:tc>
                <a:tc>
                  <a:txBody>
                    <a:bodyPr/>
                    <a:lstStyle/>
                    <a:p>
                      <a:pPr indent="0" marL="0">
                        <a:buNone/>
                      </a:pPr>
                      <a:r>
                        <a:rPr lang="en-US" sz="1100" dirty="0">
                          <a:solidFill>
                            <a:srgbClr val="232C24"/>
                          </a:solidFill>
                          <a:latin typeface="Calibri" pitchFamily="34" charset="0"/>
                          <a:ea typeface="Calibri" pitchFamily="34" charset="-122"/>
                          <a:cs typeface="Calibri" pitchFamily="34" charset="-120"/>
                        </a:rPr>
                        <a:t>16-18 MT / 24-26 MT</a:t>
                      </a:r>
                      <a:endParaRPr lang="en-US" sz="1100" dirty="0">
                        <a:latin typeface="Calibri" charset="0"/>
                        <a:ea typeface="Calibri" charset="0"/>
                        <a:cs typeface="Calibri" charset="0"/>
                      </a:endParaRPr>
                    </a:p>
                  </a:txBody>
                  <a:tcPr marL="109728" marR="109728" marT="0" marB="0" anchor="ctr">
                    <a:lnL w="9525" cap="flat" cmpd="sng" algn="ctr">
                      <a:solidFill>
                        <a:srgbClr val="DDE5DB"/>
                      </a:solidFill>
                      <a:prstDash val="solid"/>
                      <a:round/>
                      <a:headEnd type="none" w="med" len="med"/>
                      <a:tailEnd type="none" w="med" len="med"/>
                    </a:lnL>
                    <a:lnR w="9525" cap="flat" cmpd="sng" algn="ctr">
                      <a:solidFill>
                        <a:srgbClr val="DDE5DB"/>
                      </a:solidFill>
                      <a:prstDash val="solid"/>
                      <a:round/>
                      <a:headEnd type="none" w="med" len="med"/>
                      <a:tailEnd type="none" w="med" len="med"/>
                    </a:lnR>
                    <a:lnT w="9525" cap="flat" cmpd="sng" algn="ctr">
                      <a:solidFill>
                        <a:srgbClr val="DDE5DB"/>
                      </a:solidFill>
                      <a:prstDash val="solid"/>
                      <a:round/>
                      <a:headEnd type="none" w="med" len="med"/>
                      <a:tailEnd type="none" w="med" len="med"/>
                    </a:lnT>
                    <a:lnB w="9525" cap="flat" cmpd="sng" algn="ctr">
                      <a:solidFill>
                        <a:srgbClr val="DDE5DB"/>
                      </a:solidFill>
                      <a:prstDash val="solid"/>
                      <a:round/>
                      <a:headEnd type="none" w="med" len="med"/>
                      <a:tailEnd type="none" w="med" len="med"/>
                    </a:lnB>
                    <a:solidFill>
                      <a:srgbClr val="FFFFFF"/>
                    </a:solidFill>
                  </a:tcPr>
                </a:tc>
              </a:tr>
              <a:tr h="365760">
                <a:tc>
                  <a:txBody>
                    <a:bodyPr/>
                    <a:lstStyle/>
                    <a:p>
                      <a:pPr indent="0" marL="0">
                        <a:buNone/>
                      </a:pPr>
                      <a:r>
                        <a:rPr lang="en-US" sz="1100" dirty="0">
                          <a:solidFill>
                            <a:srgbClr val="232C24"/>
                          </a:solidFill>
                          <a:latin typeface="Calibri" pitchFamily="34" charset="0"/>
                          <a:ea typeface="Calibri" pitchFamily="34" charset="-122"/>
                          <a:cs typeface="Calibri" pitchFamily="34" charset="-120"/>
                        </a:rPr>
                        <a:t>Port of loading</a:t>
                      </a:r>
                      <a:endParaRPr lang="en-US" sz="1100" dirty="0">
                        <a:latin typeface="Calibri" charset="0"/>
                        <a:ea typeface="Calibri" charset="0"/>
                        <a:cs typeface="Calibri" charset="0"/>
                      </a:endParaRPr>
                    </a:p>
                  </a:txBody>
                  <a:tcPr marL="109728" marR="109728" marT="0" marB="0" anchor="ctr">
                    <a:lnL w="9525" cap="flat" cmpd="sng" algn="ctr">
                      <a:solidFill>
                        <a:srgbClr val="DDE5DB"/>
                      </a:solidFill>
                      <a:prstDash val="solid"/>
                      <a:round/>
                      <a:headEnd type="none" w="med" len="med"/>
                      <a:tailEnd type="none" w="med" len="med"/>
                    </a:lnL>
                    <a:lnR w="9525" cap="flat" cmpd="sng" algn="ctr">
                      <a:solidFill>
                        <a:srgbClr val="DDE5DB"/>
                      </a:solidFill>
                      <a:prstDash val="solid"/>
                      <a:round/>
                      <a:headEnd type="none" w="med" len="med"/>
                      <a:tailEnd type="none" w="med" len="med"/>
                    </a:lnR>
                    <a:lnT w="9525" cap="flat" cmpd="sng" algn="ctr">
                      <a:solidFill>
                        <a:srgbClr val="DDE5DB"/>
                      </a:solidFill>
                      <a:prstDash val="solid"/>
                      <a:round/>
                      <a:headEnd type="none" w="med" len="med"/>
                      <a:tailEnd type="none" w="med" len="med"/>
                    </a:lnT>
                    <a:lnB w="9525" cap="flat" cmpd="sng" algn="ctr">
                      <a:solidFill>
                        <a:srgbClr val="DDE5DB"/>
                      </a:solidFill>
                      <a:prstDash val="solid"/>
                      <a:round/>
                      <a:headEnd type="none" w="med" len="med"/>
                      <a:tailEnd type="none" w="med" len="med"/>
                    </a:lnB>
                    <a:solidFill>
                      <a:srgbClr val="FFFFFF"/>
                    </a:solidFill>
                  </a:tcPr>
                </a:tc>
                <a:tc>
                  <a:txBody>
                    <a:bodyPr/>
                    <a:lstStyle/>
                    <a:p>
                      <a:pPr indent="0" marL="0">
                        <a:buNone/>
                      </a:pPr>
                      <a:r>
                        <a:rPr lang="en-US" sz="1100" dirty="0">
                          <a:solidFill>
                            <a:srgbClr val="232C24"/>
                          </a:solidFill>
                          <a:latin typeface="Calibri" pitchFamily="34" charset="0"/>
                          <a:ea typeface="Calibri" pitchFamily="34" charset="-122"/>
                          <a:cs typeface="Calibri" pitchFamily="34" charset="-120"/>
                        </a:rPr>
                        <a:t>Chennai / Ennore, Tamil Nadu</a:t>
                      </a:r>
                      <a:endParaRPr lang="en-US" sz="1100" dirty="0">
                        <a:latin typeface="Calibri" charset="0"/>
                        <a:ea typeface="Calibri" charset="0"/>
                        <a:cs typeface="Calibri" charset="0"/>
                      </a:endParaRPr>
                    </a:p>
                  </a:txBody>
                  <a:tcPr marL="109728" marR="109728" marT="0" marB="0" anchor="ctr">
                    <a:lnL w="9525" cap="flat" cmpd="sng" algn="ctr">
                      <a:solidFill>
                        <a:srgbClr val="DDE5DB"/>
                      </a:solidFill>
                      <a:prstDash val="solid"/>
                      <a:round/>
                      <a:headEnd type="none" w="med" len="med"/>
                      <a:tailEnd type="none" w="med" len="med"/>
                    </a:lnL>
                    <a:lnR w="9525" cap="flat" cmpd="sng" algn="ctr">
                      <a:solidFill>
                        <a:srgbClr val="DDE5DB"/>
                      </a:solidFill>
                      <a:prstDash val="solid"/>
                      <a:round/>
                      <a:headEnd type="none" w="med" len="med"/>
                      <a:tailEnd type="none" w="med" len="med"/>
                    </a:lnR>
                    <a:lnT w="9525" cap="flat" cmpd="sng" algn="ctr">
                      <a:solidFill>
                        <a:srgbClr val="DDE5DB"/>
                      </a:solidFill>
                      <a:prstDash val="solid"/>
                      <a:round/>
                      <a:headEnd type="none" w="med" len="med"/>
                      <a:tailEnd type="none" w="med" len="med"/>
                    </a:lnT>
                    <a:lnB w="9525" cap="flat" cmpd="sng" algn="ctr">
                      <a:solidFill>
                        <a:srgbClr val="DDE5DB"/>
                      </a:solidFill>
                      <a:prstDash val="solid"/>
                      <a:round/>
                      <a:headEnd type="none" w="med" len="med"/>
                      <a:tailEnd type="none" w="med" len="med"/>
                    </a:lnB>
                    <a:solidFill>
                      <a:srgbClr val="FFFFFF"/>
                    </a:solidFill>
                  </a:tcPr>
                </a:tc>
              </a:tr>
              <a:tr h="365760">
                <a:tc>
                  <a:txBody>
                    <a:bodyPr/>
                    <a:lstStyle/>
                    <a:p>
                      <a:pPr indent="0" marL="0">
                        <a:buNone/>
                      </a:pPr>
                      <a:r>
                        <a:rPr lang="en-US" sz="1100" dirty="0">
                          <a:solidFill>
                            <a:srgbClr val="232C24"/>
                          </a:solidFill>
                          <a:latin typeface="Calibri" pitchFamily="34" charset="0"/>
                          <a:ea typeface="Calibri" pitchFamily="34" charset="-122"/>
                          <a:cs typeface="Calibri" pitchFamily="34" charset="-120"/>
                        </a:rPr>
                        <a:t>Lead time from order</a:t>
                      </a:r>
                      <a:endParaRPr lang="en-US" sz="1100" dirty="0">
                        <a:latin typeface="Calibri" charset="0"/>
                        <a:ea typeface="Calibri" charset="0"/>
                        <a:cs typeface="Calibri" charset="0"/>
                      </a:endParaRPr>
                    </a:p>
                  </a:txBody>
                  <a:tcPr marL="109728" marR="109728" marT="0" marB="0" anchor="ctr">
                    <a:lnL w="9525" cap="flat" cmpd="sng" algn="ctr">
                      <a:solidFill>
                        <a:srgbClr val="DDE5DB"/>
                      </a:solidFill>
                      <a:prstDash val="solid"/>
                      <a:round/>
                      <a:headEnd type="none" w="med" len="med"/>
                      <a:tailEnd type="none" w="med" len="med"/>
                    </a:lnL>
                    <a:lnR w="9525" cap="flat" cmpd="sng" algn="ctr">
                      <a:solidFill>
                        <a:srgbClr val="DDE5DB"/>
                      </a:solidFill>
                      <a:prstDash val="solid"/>
                      <a:round/>
                      <a:headEnd type="none" w="med" len="med"/>
                      <a:tailEnd type="none" w="med" len="med"/>
                    </a:lnR>
                    <a:lnT w="9525" cap="flat" cmpd="sng" algn="ctr">
                      <a:solidFill>
                        <a:srgbClr val="DDE5DB"/>
                      </a:solidFill>
                      <a:prstDash val="solid"/>
                      <a:round/>
                      <a:headEnd type="none" w="med" len="med"/>
                      <a:tailEnd type="none" w="med" len="med"/>
                    </a:lnT>
                    <a:lnB w="9525" cap="flat" cmpd="sng" algn="ctr">
                      <a:solidFill>
                        <a:srgbClr val="DDE5DB"/>
                      </a:solidFill>
                      <a:prstDash val="solid"/>
                      <a:round/>
                      <a:headEnd type="none" w="med" len="med"/>
                      <a:tailEnd type="none" w="med" len="med"/>
                    </a:lnB>
                    <a:solidFill>
                      <a:srgbClr val="FFFFFF"/>
                    </a:solidFill>
                  </a:tcPr>
                </a:tc>
                <a:tc>
                  <a:txBody>
                    <a:bodyPr/>
                    <a:lstStyle/>
                    <a:p>
                      <a:pPr indent="0" marL="0">
                        <a:buNone/>
                      </a:pPr>
                      <a:r>
                        <a:rPr lang="en-US" sz="1100" dirty="0">
                          <a:solidFill>
                            <a:srgbClr val="232C24"/>
                          </a:solidFill>
                          <a:latin typeface="Calibri" pitchFamily="34" charset="0"/>
                          <a:ea typeface="Calibri" pitchFamily="34" charset="-122"/>
                          <a:cs typeface="Calibri" pitchFamily="34" charset="-120"/>
                        </a:rPr>
                        <a:t>15-21 days from confirmed order</a:t>
                      </a:r>
                      <a:endParaRPr lang="en-US" sz="1100" dirty="0">
                        <a:latin typeface="Calibri" charset="0"/>
                        <a:ea typeface="Calibri" charset="0"/>
                        <a:cs typeface="Calibri" charset="0"/>
                      </a:endParaRPr>
                    </a:p>
                  </a:txBody>
                  <a:tcPr marL="109728" marR="109728" marT="0" marB="0" anchor="ctr">
                    <a:lnL w="9525" cap="flat" cmpd="sng" algn="ctr">
                      <a:solidFill>
                        <a:srgbClr val="DDE5DB"/>
                      </a:solidFill>
                      <a:prstDash val="solid"/>
                      <a:round/>
                      <a:headEnd type="none" w="med" len="med"/>
                      <a:tailEnd type="none" w="med" len="med"/>
                    </a:lnL>
                    <a:lnR w="9525" cap="flat" cmpd="sng" algn="ctr">
                      <a:solidFill>
                        <a:srgbClr val="DDE5DB"/>
                      </a:solidFill>
                      <a:prstDash val="solid"/>
                      <a:round/>
                      <a:headEnd type="none" w="med" len="med"/>
                      <a:tailEnd type="none" w="med" len="med"/>
                    </a:lnR>
                    <a:lnT w="9525" cap="flat" cmpd="sng" algn="ctr">
                      <a:solidFill>
                        <a:srgbClr val="DDE5DB"/>
                      </a:solidFill>
                      <a:prstDash val="solid"/>
                      <a:round/>
                      <a:headEnd type="none" w="med" len="med"/>
                      <a:tailEnd type="none" w="med" len="med"/>
                    </a:lnT>
                    <a:lnB w="9525" cap="flat" cmpd="sng" algn="ctr">
                      <a:solidFill>
                        <a:srgbClr val="DDE5DB"/>
                      </a:solidFill>
                      <a:prstDash val="solid"/>
                      <a:round/>
                      <a:headEnd type="none" w="med" len="med"/>
                      <a:tailEnd type="none" w="med" len="med"/>
                    </a:lnB>
                    <a:solidFill>
                      <a:srgbClr val="FFFFFF"/>
                    </a:solidFill>
                  </a:tcPr>
                </a:tc>
              </a:tr>
              <a:tr h="365760">
                <a:tc>
                  <a:txBody>
                    <a:bodyPr/>
                    <a:lstStyle/>
                    <a:p>
                      <a:pPr indent="0" marL="0">
                        <a:buNone/>
                      </a:pPr>
                      <a:r>
                        <a:rPr lang="en-US" sz="1100" dirty="0">
                          <a:solidFill>
                            <a:srgbClr val="232C24"/>
                          </a:solidFill>
                          <a:latin typeface="Calibri" pitchFamily="34" charset="0"/>
                          <a:ea typeface="Calibri" pitchFamily="34" charset="-122"/>
                          <a:cs typeface="Calibri" pitchFamily="34" charset="-120"/>
                        </a:rPr>
                        <a:t>Incoterms offered</a:t>
                      </a:r>
                      <a:endParaRPr lang="en-US" sz="1100" dirty="0">
                        <a:latin typeface="Calibri" charset="0"/>
                        <a:ea typeface="Calibri" charset="0"/>
                        <a:cs typeface="Calibri" charset="0"/>
                      </a:endParaRPr>
                    </a:p>
                  </a:txBody>
                  <a:tcPr marL="109728" marR="109728" marT="0" marB="0" anchor="ctr">
                    <a:lnL w="9525" cap="flat" cmpd="sng" algn="ctr">
                      <a:solidFill>
                        <a:srgbClr val="DDE5DB"/>
                      </a:solidFill>
                      <a:prstDash val="solid"/>
                      <a:round/>
                      <a:headEnd type="none" w="med" len="med"/>
                      <a:tailEnd type="none" w="med" len="med"/>
                    </a:lnL>
                    <a:lnR w="9525" cap="flat" cmpd="sng" algn="ctr">
                      <a:solidFill>
                        <a:srgbClr val="DDE5DB"/>
                      </a:solidFill>
                      <a:prstDash val="solid"/>
                      <a:round/>
                      <a:headEnd type="none" w="med" len="med"/>
                      <a:tailEnd type="none" w="med" len="med"/>
                    </a:lnR>
                    <a:lnT w="9525" cap="flat" cmpd="sng" algn="ctr">
                      <a:solidFill>
                        <a:srgbClr val="DDE5DB"/>
                      </a:solidFill>
                      <a:prstDash val="solid"/>
                      <a:round/>
                      <a:headEnd type="none" w="med" len="med"/>
                      <a:tailEnd type="none" w="med" len="med"/>
                    </a:lnT>
                    <a:lnB w="9525" cap="flat" cmpd="sng" algn="ctr">
                      <a:solidFill>
                        <a:srgbClr val="DDE5DB"/>
                      </a:solidFill>
                      <a:prstDash val="solid"/>
                      <a:round/>
                      <a:headEnd type="none" w="med" len="med"/>
                      <a:tailEnd type="none" w="med" len="med"/>
                    </a:lnB>
                    <a:solidFill>
                      <a:srgbClr val="FFFFFF"/>
                    </a:solidFill>
                  </a:tcPr>
                </a:tc>
                <a:tc>
                  <a:txBody>
                    <a:bodyPr/>
                    <a:lstStyle/>
                    <a:p>
                      <a:pPr indent="0" marL="0">
                        <a:buNone/>
                      </a:pPr>
                      <a:r>
                        <a:rPr lang="en-US" sz="1100" dirty="0">
                          <a:solidFill>
                            <a:srgbClr val="232C24"/>
                          </a:solidFill>
                          <a:latin typeface="Calibri" pitchFamily="34" charset="0"/>
                          <a:ea typeface="Calibri" pitchFamily="34" charset="-122"/>
                          <a:cs typeface="Calibri" pitchFamily="34" charset="-120"/>
                        </a:rPr>
                        <a:t>FOB · CFR · CIF</a:t>
                      </a:r>
                      <a:endParaRPr lang="en-US" sz="1100" dirty="0">
                        <a:latin typeface="Calibri" charset="0"/>
                        <a:ea typeface="Calibri" charset="0"/>
                        <a:cs typeface="Calibri" charset="0"/>
                      </a:endParaRPr>
                    </a:p>
                  </a:txBody>
                  <a:tcPr marL="109728" marR="109728" marT="0" marB="0" anchor="ctr">
                    <a:lnL w="9525" cap="flat" cmpd="sng" algn="ctr">
                      <a:solidFill>
                        <a:srgbClr val="DDE5DB"/>
                      </a:solidFill>
                      <a:prstDash val="solid"/>
                      <a:round/>
                      <a:headEnd type="none" w="med" len="med"/>
                      <a:tailEnd type="none" w="med" len="med"/>
                    </a:lnL>
                    <a:lnR w="9525" cap="flat" cmpd="sng" algn="ctr">
                      <a:solidFill>
                        <a:srgbClr val="DDE5DB"/>
                      </a:solidFill>
                      <a:prstDash val="solid"/>
                      <a:round/>
                      <a:headEnd type="none" w="med" len="med"/>
                      <a:tailEnd type="none" w="med" len="med"/>
                    </a:lnR>
                    <a:lnT w="9525" cap="flat" cmpd="sng" algn="ctr">
                      <a:solidFill>
                        <a:srgbClr val="DDE5DB"/>
                      </a:solidFill>
                      <a:prstDash val="solid"/>
                      <a:round/>
                      <a:headEnd type="none" w="med" len="med"/>
                      <a:tailEnd type="none" w="med" len="med"/>
                    </a:lnT>
                    <a:lnB w="9525" cap="flat" cmpd="sng" algn="ctr">
                      <a:solidFill>
                        <a:srgbClr val="DDE5DB"/>
                      </a:solidFill>
                      <a:prstDash val="solid"/>
                      <a:round/>
                      <a:headEnd type="none" w="med" len="med"/>
                      <a:tailEnd type="none" w="med" len="med"/>
                    </a:lnB>
                    <a:solidFill>
                      <a:srgbClr val="FFFFFF"/>
                    </a:solidFill>
                  </a:tcPr>
                </a:tc>
              </a:tr>
              <a:tr h="365760">
                <a:tc>
                  <a:txBody>
                    <a:bodyPr/>
                    <a:lstStyle/>
                    <a:p>
                      <a:pPr indent="0" marL="0">
                        <a:buNone/>
                      </a:pPr>
                      <a:r>
                        <a:rPr lang="en-US" sz="1100" dirty="0">
                          <a:solidFill>
                            <a:srgbClr val="232C24"/>
                          </a:solidFill>
                          <a:latin typeface="Calibri" pitchFamily="34" charset="0"/>
                          <a:ea typeface="Calibri" pitchFamily="34" charset="-122"/>
                          <a:cs typeface="Calibri" pitchFamily="34" charset="-120"/>
                        </a:rPr>
                        <a:t>Payment terms</a:t>
                      </a:r>
                      <a:endParaRPr lang="en-US" sz="1100" dirty="0">
                        <a:latin typeface="Calibri" charset="0"/>
                        <a:ea typeface="Calibri" charset="0"/>
                        <a:cs typeface="Calibri" charset="0"/>
                      </a:endParaRPr>
                    </a:p>
                  </a:txBody>
                  <a:tcPr marL="109728" marR="109728" marT="0" marB="0" anchor="ctr">
                    <a:lnL w="9525" cap="flat" cmpd="sng" algn="ctr">
                      <a:solidFill>
                        <a:srgbClr val="DDE5DB"/>
                      </a:solidFill>
                      <a:prstDash val="solid"/>
                      <a:round/>
                      <a:headEnd type="none" w="med" len="med"/>
                      <a:tailEnd type="none" w="med" len="med"/>
                    </a:lnL>
                    <a:lnR w="9525" cap="flat" cmpd="sng" algn="ctr">
                      <a:solidFill>
                        <a:srgbClr val="DDE5DB"/>
                      </a:solidFill>
                      <a:prstDash val="solid"/>
                      <a:round/>
                      <a:headEnd type="none" w="med" len="med"/>
                      <a:tailEnd type="none" w="med" len="med"/>
                    </a:lnR>
                    <a:lnT w="9525" cap="flat" cmpd="sng" algn="ctr">
                      <a:solidFill>
                        <a:srgbClr val="DDE5DB"/>
                      </a:solidFill>
                      <a:prstDash val="solid"/>
                      <a:round/>
                      <a:headEnd type="none" w="med" len="med"/>
                      <a:tailEnd type="none" w="med" len="med"/>
                    </a:lnT>
                    <a:lnB w="9525" cap="flat" cmpd="sng" algn="ctr">
                      <a:solidFill>
                        <a:srgbClr val="DDE5DB"/>
                      </a:solidFill>
                      <a:prstDash val="solid"/>
                      <a:round/>
                      <a:headEnd type="none" w="med" len="med"/>
                      <a:tailEnd type="none" w="med" len="med"/>
                    </a:lnB>
                    <a:solidFill>
                      <a:srgbClr val="FFFFFF"/>
                    </a:solidFill>
                  </a:tcPr>
                </a:tc>
                <a:tc>
                  <a:txBody>
                    <a:bodyPr/>
                    <a:lstStyle/>
                    <a:p>
                      <a:pPr indent="0" marL="0">
                        <a:buNone/>
                      </a:pPr>
                      <a:r>
                        <a:rPr lang="en-US" sz="1100" dirty="0">
                          <a:solidFill>
                            <a:srgbClr val="232C24"/>
                          </a:solidFill>
                          <a:latin typeface="Calibri" pitchFamily="34" charset="0"/>
                          <a:ea typeface="Calibri" pitchFamily="34" charset="-122"/>
                          <a:cs typeface="Calibri" pitchFamily="34" charset="-120"/>
                        </a:rPr>
                        <a:t>30% advance, balance vs B/L; or L/C at sight</a:t>
                      </a:r>
                      <a:endParaRPr lang="en-US" sz="1100" dirty="0">
                        <a:latin typeface="Calibri" charset="0"/>
                        <a:ea typeface="Calibri" charset="0"/>
                        <a:cs typeface="Calibri" charset="0"/>
                      </a:endParaRPr>
                    </a:p>
                  </a:txBody>
                  <a:tcPr marL="109728" marR="109728" marT="0" marB="0" anchor="ctr">
                    <a:lnL w="9525" cap="flat" cmpd="sng" algn="ctr">
                      <a:solidFill>
                        <a:srgbClr val="DDE5DB"/>
                      </a:solidFill>
                      <a:prstDash val="solid"/>
                      <a:round/>
                      <a:headEnd type="none" w="med" len="med"/>
                      <a:tailEnd type="none" w="med" len="med"/>
                    </a:lnL>
                    <a:lnR w="9525" cap="flat" cmpd="sng" algn="ctr">
                      <a:solidFill>
                        <a:srgbClr val="DDE5DB"/>
                      </a:solidFill>
                      <a:prstDash val="solid"/>
                      <a:round/>
                      <a:headEnd type="none" w="med" len="med"/>
                      <a:tailEnd type="none" w="med" len="med"/>
                    </a:lnR>
                    <a:lnT w="9525" cap="flat" cmpd="sng" algn="ctr">
                      <a:solidFill>
                        <a:srgbClr val="DDE5DB"/>
                      </a:solidFill>
                      <a:prstDash val="solid"/>
                      <a:round/>
                      <a:headEnd type="none" w="med" len="med"/>
                      <a:tailEnd type="none" w="med" len="med"/>
                    </a:lnT>
                    <a:lnB w="9525" cap="flat" cmpd="sng" algn="ctr">
                      <a:solidFill>
                        <a:srgbClr val="DDE5DB"/>
                      </a:solidFill>
                      <a:prstDash val="solid"/>
                      <a:round/>
                      <a:headEnd type="none" w="med" len="med"/>
                      <a:tailEnd type="none" w="med" len="med"/>
                    </a:lnB>
                    <a:solidFill>
                      <a:srgbClr val="FFFFFF"/>
                    </a:solidFill>
                  </a:tcPr>
                </a:tc>
              </a:tr>
              <a:tr h="365760">
                <a:tc>
                  <a:txBody>
                    <a:bodyPr/>
                    <a:lstStyle/>
                    <a:p>
                      <a:pPr indent="0" marL="0">
                        <a:buNone/>
                      </a:pPr>
                      <a:r>
                        <a:rPr lang="en-US" sz="1100" dirty="0">
                          <a:solidFill>
                            <a:srgbClr val="232C24"/>
                          </a:solidFill>
                          <a:latin typeface="Calibri" pitchFamily="34" charset="0"/>
                          <a:ea typeface="Calibri" pitchFamily="34" charset="-122"/>
                          <a:cs typeface="Calibri" pitchFamily="34" charset="-120"/>
                        </a:rPr>
                        <a:t>Private label / OEM</a:t>
                      </a:r>
                      <a:endParaRPr lang="en-US" sz="1100" dirty="0">
                        <a:latin typeface="Calibri" charset="0"/>
                        <a:ea typeface="Calibri" charset="0"/>
                        <a:cs typeface="Calibri" charset="0"/>
                      </a:endParaRPr>
                    </a:p>
                  </a:txBody>
                  <a:tcPr marL="109728" marR="109728" marT="0" marB="0" anchor="ctr">
                    <a:lnL w="9525" cap="flat" cmpd="sng" algn="ctr">
                      <a:solidFill>
                        <a:srgbClr val="DDE5DB"/>
                      </a:solidFill>
                      <a:prstDash val="solid"/>
                      <a:round/>
                      <a:headEnd type="none" w="med" len="med"/>
                      <a:tailEnd type="none" w="med" len="med"/>
                    </a:lnL>
                    <a:lnR w="9525" cap="flat" cmpd="sng" algn="ctr">
                      <a:solidFill>
                        <a:srgbClr val="DDE5DB"/>
                      </a:solidFill>
                      <a:prstDash val="solid"/>
                      <a:round/>
                      <a:headEnd type="none" w="med" len="med"/>
                      <a:tailEnd type="none" w="med" len="med"/>
                    </a:lnR>
                    <a:lnT w="9525" cap="flat" cmpd="sng" algn="ctr">
                      <a:solidFill>
                        <a:srgbClr val="DDE5DB"/>
                      </a:solidFill>
                      <a:prstDash val="solid"/>
                      <a:round/>
                      <a:headEnd type="none" w="med" len="med"/>
                      <a:tailEnd type="none" w="med" len="med"/>
                    </a:lnT>
                    <a:lnB w="9525" cap="flat" cmpd="sng" algn="ctr">
                      <a:solidFill>
                        <a:srgbClr val="DDE5DB"/>
                      </a:solidFill>
                      <a:prstDash val="solid"/>
                      <a:round/>
                      <a:headEnd type="none" w="med" len="med"/>
                      <a:tailEnd type="none" w="med" len="med"/>
                    </a:lnB>
                    <a:solidFill>
                      <a:srgbClr val="FFFFFF"/>
                    </a:solidFill>
                  </a:tcPr>
                </a:tc>
                <a:tc>
                  <a:txBody>
                    <a:bodyPr/>
                    <a:lstStyle/>
                    <a:p>
                      <a:pPr indent="0" marL="0">
                        <a:buNone/>
                      </a:pPr>
                      <a:r>
                        <a:rPr lang="en-US" sz="1100" dirty="0">
                          <a:solidFill>
                            <a:srgbClr val="232C24"/>
                          </a:solidFill>
                          <a:latin typeface="Calibri" pitchFamily="34" charset="0"/>
                          <a:ea typeface="Calibri" pitchFamily="34" charset="-122"/>
                          <a:cs typeface="Calibri" pitchFamily="34" charset="-120"/>
                        </a:rPr>
                        <a:t>Available</a:t>
                      </a:r>
                      <a:endParaRPr lang="en-US" sz="1100" dirty="0">
                        <a:latin typeface="Calibri" charset="0"/>
                        <a:ea typeface="Calibri" charset="0"/>
                        <a:cs typeface="Calibri" charset="0"/>
                      </a:endParaRPr>
                    </a:p>
                  </a:txBody>
                  <a:tcPr marL="109728" marR="109728" marT="0" marB="0" anchor="ctr">
                    <a:lnL w="9525" cap="flat" cmpd="sng" algn="ctr">
                      <a:solidFill>
                        <a:srgbClr val="DDE5DB"/>
                      </a:solidFill>
                      <a:prstDash val="solid"/>
                      <a:round/>
                      <a:headEnd type="none" w="med" len="med"/>
                      <a:tailEnd type="none" w="med" len="med"/>
                    </a:lnL>
                    <a:lnR w="9525" cap="flat" cmpd="sng" algn="ctr">
                      <a:solidFill>
                        <a:srgbClr val="DDE5DB"/>
                      </a:solidFill>
                      <a:prstDash val="solid"/>
                      <a:round/>
                      <a:headEnd type="none" w="med" len="med"/>
                      <a:tailEnd type="none" w="med" len="med"/>
                    </a:lnR>
                    <a:lnT w="9525" cap="flat" cmpd="sng" algn="ctr">
                      <a:solidFill>
                        <a:srgbClr val="DDE5DB"/>
                      </a:solidFill>
                      <a:prstDash val="solid"/>
                      <a:round/>
                      <a:headEnd type="none" w="med" len="med"/>
                      <a:tailEnd type="none" w="med" len="med"/>
                    </a:lnT>
                    <a:lnB w="9525" cap="flat" cmpd="sng" algn="ctr">
                      <a:solidFill>
                        <a:srgbClr val="DDE5DB"/>
                      </a:solidFill>
                      <a:prstDash val="solid"/>
                      <a:round/>
                      <a:headEnd type="none" w="med" len="med"/>
                      <a:tailEnd type="none" w="med" len="med"/>
                    </a:lnB>
                    <a:solidFill>
                      <a:srgbClr val="FFFFFF"/>
                    </a:solidFill>
                  </a:tcPr>
                </a:tc>
              </a:tr>
              <a:tr h="365760">
                <a:tc>
                  <a:txBody>
                    <a:bodyPr/>
                    <a:lstStyle/>
                    <a:p>
                      <a:pPr indent="0" marL="0">
                        <a:buNone/>
                      </a:pPr>
                      <a:r>
                        <a:rPr lang="en-US" sz="1100" dirty="0">
                          <a:solidFill>
                            <a:srgbClr val="232C24"/>
                          </a:solidFill>
                          <a:latin typeface="Calibri" pitchFamily="34" charset="0"/>
                          <a:ea typeface="Calibri" pitchFamily="34" charset="-122"/>
                          <a:cs typeface="Calibri" pitchFamily="34" charset="-120"/>
                        </a:rPr>
                        <a:t>Shelf life</a:t>
                      </a:r>
                      <a:endParaRPr lang="en-US" sz="1100" dirty="0">
                        <a:latin typeface="Calibri" charset="0"/>
                        <a:ea typeface="Calibri" charset="0"/>
                        <a:cs typeface="Calibri" charset="0"/>
                      </a:endParaRPr>
                    </a:p>
                  </a:txBody>
                  <a:tcPr marL="109728" marR="109728" marT="0" marB="0" anchor="ctr">
                    <a:lnL w="9525" cap="flat" cmpd="sng" algn="ctr">
                      <a:solidFill>
                        <a:srgbClr val="DDE5DB"/>
                      </a:solidFill>
                      <a:prstDash val="solid"/>
                      <a:round/>
                      <a:headEnd type="none" w="med" len="med"/>
                      <a:tailEnd type="none" w="med" len="med"/>
                    </a:lnL>
                    <a:lnR w="9525" cap="flat" cmpd="sng" algn="ctr">
                      <a:solidFill>
                        <a:srgbClr val="DDE5DB"/>
                      </a:solidFill>
                      <a:prstDash val="solid"/>
                      <a:round/>
                      <a:headEnd type="none" w="med" len="med"/>
                      <a:tailEnd type="none" w="med" len="med"/>
                    </a:lnR>
                    <a:lnT w="9525" cap="flat" cmpd="sng" algn="ctr">
                      <a:solidFill>
                        <a:srgbClr val="DDE5DB"/>
                      </a:solidFill>
                      <a:prstDash val="solid"/>
                      <a:round/>
                      <a:headEnd type="none" w="med" len="med"/>
                      <a:tailEnd type="none" w="med" len="med"/>
                    </a:lnT>
                    <a:lnB w="9525" cap="flat" cmpd="sng" algn="ctr">
                      <a:solidFill>
                        <a:srgbClr val="DDE5DB"/>
                      </a:solidFill>
                      <a:prstDash val="solid"/>
                      <a:round/>
                      <a:headEnd type="none" w="med" len="med"/>
                      <a:tailEnd type="none" w="med" len="med"/>
                    </a:lnB>
                    <a:solidFill>
                      <a:srgbClr val="FFFFFF"/>
                    </a:solidFill>
                  </a:tcPr>
                </a:tc>
                <a:tc>
                  <a:txBody>
                    <a:bodyPr/>
                    <a:lstStyle/>
                    <a:p>
                      <a:pPr indent="0" marL="0">
                        <a:buNone/>
                      </a:pPr>
                      <a:r>
                        <a:rPr lang="en-US" sz="1100" dirty="0">
                          <a:solidFill>
                            <a:srgbClr val="232C24"/>
                          </a:solidFill>
                          <a:latin typeface="Calibri" pitchFamily="34" charset="0"/>
                          <a:ea typeface="Calibri" pitchFamily="34" charset="-122"/>
                          <a:cs typeface="Calibri" pitchFamily="34" charset="-120"/>
                        </a:rPr>
                        <a:t>18 months in original sealed pack</a:t>
                      </a:r>
                      <a:endParaRPr lang="en-US" sz="1100" dirty="0">
                        <a:latin typeface="Calibri" charset="0"/>
                        <a:ea typeface="Calibri" charset="0"/>
                        <a:cs typeface="Calibri" charset="0"/>
                      </a:endParaRPr>
                    </a:p>
                  </a:txBody>
                  <a:tcPr marL="109728" marR="109728" marT="0" marB="0" anchor="ctr">
                    <a:lnL w="9525" cap="flat" cmpd="sng" algn="ctr">
                      <a:solidFill>
                        <a:srgbClr val="DDE5DB"/>
                      </a:solidFill>
                      <a:prstDash val="solid"/>
                      <a:round/>
                      <a:headEnd type="none" w="med" len="med"/>
                      <a:tailEnd type="none" w="med" len="med"/>
                    </a:lnL>
                    <a:lnR w="9525" cap="flat" cmpd="sng" algn="ctr">
                      <a:solidFill>
                        <a:srgbClr val="DDE5DB"/>
                      </a:solidFill>
                      <a:prstDash val="solid"/>
                      <a:round/>
                      <a:headEnd type="none" w="med" len="med"/>
                      <a:tailEnd type="none" w="med" len="med"/>
                    </a:lnR>
                    <a:lnT w="9525" cap="flat" cmpd="sng" algn="ctr">
                      <a:solidFill>
                        <a:srgbClr val="DDE5DB"/>
                      </a:solidFill>
                      <a:prstDash val="solid"/>
                      <a:round/>
                      <a:headEnd type="none" w="med" len="med"/>
                      <a:tailEnd type="none" w="med" len="med"/>
                    </a:lnT>
                    <a:lnB w="9525" cap="flat" cmpd="sng" algn="ctr">
                      <a:solidFill>
                        <a:srgbClr val="DDE5DB"/>
                      </a:solidFill>
                      <a:prstDash val="solid"/>
                      <a:round/>
                      <a:headEnd type="none" w="med" len="med"/>
                      <a:tailEnd type="none" w="med" len="med"/>
                    </a:lnB>
                    <a:solidFill>
                      <a:srgbClr val="FFFFFF"/>
                    </a:solidFill>
                  </a:tcPr>
                </a:tc>
              </a:tr>
            </a:tbl>
          </a:graphicData>
        </a:graphic>
      </p:graphicFrame>
      <p:pic>
        <p:nvPicPr>
          <p:cNvPr id="7" name="Image 0" descr="C:\Users\affla\OneDrive\Documents\Saas\Claude projects\COCOPALM\build\img\machine2.jpg">    </p:cNvPr>
          <p:cNvPicPr>
            <a:picLocks noChangeAspect="1"/>
          </p:cNvPicPr>
          <p:nvPr/>
        </p:nvPicPr>
        <p:blipFill>
          <a:blip r:embed="rId1"/>
          <a:srcRect l="0" r="0" t="0" b="0"/>
          <a:stretch/>
        </p:blipFill>
        <p:spPr>
          <a:xfrm>
            <a:off x="8686800" y="2212848"/>
            <a:ext cx="2864815" cy="1920240"/>
          </a:xfrm>
          <a:prstGeom prst="rect">
            <a:avLst/>
          </a:prstGeom>
        </p:spPr>
      </p:pic>
      <p:sp>
        <p:nvSpPr>
          <p:cNvPr id="8" name="Text 4"/>
          <p:cNvSpPr/>
          <p:nvPr/>
        </p:nvSpPr>
        <p:spPr>
          <a:xfrm>
            <a:off x="8686800" y="4206240"/>
            <a:ext cx="2864815" cy="274320"/>
          </a:xfrm>
          <a:prstGeom prst="rect">
            <a:avLst/>
          </a:prstGeom>
          <a:noFill/>
          <a:ln/>
        </p:spPr>
        <p:txBody>
          <a:bodyPr wrap="square" lIns="0" tIns="0" rIns="0" bIns="0" rtlCol="0" anchor="ctr"/>
          <a:lstStyle/>
          <a:p>
            <a:pPr indent="0" marL="0">
              <a:buNone/>
            </a:pPr>
            <a:r>
              <a:rPr lang="en-US" sz="950" i="1" dirty="0">
                <a:solidFill>
                  <a:srgbClr val="6E7A6F"/>
                </a:solidFill>
                <a:latin typeface="Calibri" pitchFamily="34" charset="0"/>
                <a:ea typeface="Calibri" pitchFamily="34" charset="-122"/>
                <a:cs typeface="Calibri" pitchFamily="34" charset="-120"/>
              </a:rPr>
              <a:t>Handling between drying and finishing</a:t>
            </a:r>
            <a:endParaRPr lang="en-US" sz="950" dirty="0"/>
          </a:p>
        </p:txBody>
      </p:sp>
      <p:sp>
        <p:nvSpPr>
          <p:cNvPr id="9" name="Shape 5"/>
          <p:cNvSpPr/>
          <p:nvPr/>
        </p:nvSpPr>
        <p:spPr>
          <a:xfrm>
            <a:off x="8686800" y="4608576"/>
            <a:ext cx="2864815" cy="1408176"/>
          </a:xfrm>
          <a:prstGeom prst="roundRect">
            <a:avLst>
              <a:gd name="adj" fmla="val 3896"/>
            </a:avLst>
          </a:prstGeom>
          <a:solidFill>
            <a:srgbClr val="14532D"/>
          </a:solidFill>
          <a:ln w="12700">
            <a:solidFill>
              <a:srgbClr val="14532D"/>
            </a:solidFill>
            <a:prstDash val="solid"/>
          </a:ln>
        </p:spPr>
      </p:sp>
      <p:sp>
        <p:nvSpPr>
          <p:cNvPr id="10" name="Text 6"/>
          <p:cNvSpPr/>
          <p:nvPr/>
        </p:nvSpPr>
        <p:spPr>
          <a:xfrm>
            <a:off x="8924544" y="4754880"/>
            <a:ext cx="2389327" cy="274320"/>
          </a:xfrm>
          <a:prstGeom prst="rect">
            <a:avLst/>
          </a:prstGeom>
          <a:noFill/>
          <a:ln/>
        </p:spPr>
        <p:txBody>
          <a:bodyPr wrap="square" lIns="0" tIns="0" rIns="0" bIns="0" rtlCol="0" anchor="ctr"/>
          <a:lstStyle/>
          <a:p>
            <a:pPr indent="0" marL="0">
              <a:buNone/>
            </a:pPr>
            <a:r>
              <a:rPr lang="en-US" sz="1050" b="1" spc="130" kern="0" dirty="0">
                <a:solidFill>
                  <a:srgbClr val="E3C171"/>
                </a:solidFill>
                <a:latin typeface="Calibri" pitchFamily="34" charset="0"/>
                <a:ea typeface="Calibri" pitchFamily="34" charset="-122"/>
                <a:cs typeface="Calibri" pitchFamily="34" charset="-120"/>
              </a:rPr>
              <a:t>Flexible on structure</a:t>
            </a:r>
            <a:endParaRPr lang="en-US" sz="1050" dirty="0"/>
          </a:p>
        </p:txBody>
      </p:sp>
      <p:sp>
        <p:nvSpPr>
          <p:cNvPr id="11" name="Text 7"/>
          <p:cNvSpPr/>
          <p:nvPr/>
        </p:nvSpPr>
        <p:spPr>
          <a:xfrm>
            <a:off x="8924544" y="5065776"/>
            <a:ext cx="2389327" cy="822960"/>
          </a:xfrm>
          <a:prstGeom prst="rect">
            <a:avLst/>
          </a:prstGeom>
          <a:noFill/>
          <a:ln/>
        </p:spPr>
        <p:txBody>
          <a:bodyPr wrap="square" lIns="0" tIns="0" rIns="0" bIns="0" rtlCol="0" anchor="t"/>
          <a:lstStyle/>
          <a:p>
            <a:pPr indent="0" marL="0">
              <a:lnSpc>
                <a:spcPct val="120000"/>
              </a:lnSpc>
              <a:buNone/>
            </a:pPr>
            <a:r>
              <a:rPr lang="en-US" sz="1050" dirty="0">
                <a:solidFill>
                  <a:srgbClr val="FFFFFF"/>
                </a:solidFill>
                <a:latin typeface="Calibri" pitchFamily="34" charset="0"/>
                <a:ea typeface="Calibri" pitchFamily="34" charset="-122"/>
                <a:cs typeface="Calibri" pitchFamily="34" charset="-120"/>
              </a:rPr>
              <a:t>Tell us your volume, pack format and destination port and we will quote FOB or CIF against it.</a:t>
            </a:r>
            <a:endParaRPr lang="en-US" sz="1050" dirty="0"/>
          </a:p>
        </p:txBody>
      </p:sp>
      <p:sp>
        <p:nvSpPr>
          <p:cNvPr id="12" name="Text 8"/>
          <p:cNvSpPr/>
          <p:nvPr/>
        </p:nvSpPr>
        <p:spPr>
          <a:xfrm>
            <a:off x="640080" y="6382512"/>
            <a:ext cx="5486400" cy="237744"/>
          </a:xfrm>
          <a:prstGeom prst="rect">
            <a:avLst/>
          </a:prstGeom>
          <a:noFill/>
          <a:ln/>
        </p:spPr>
        <p:txBody>
          <a:bodyPr wrap="square" lIns="0" tIns="0" rIns="0" bIns="0" rtlCol="0" anchor="ctr"/>
          <a:lstStyle/>
          <a:p>
            <a:pPr indent="0" marL="0">
              <a:buNone/>
            </a:pPr>
            <a:r>
              <a:rPr lang="en-US" sz="900" spc="60" kern="0" dirty="0">
                <a:solidFill>
                  <a:srgbClr val="6E7A6F"/>
                </a:solidFill>
                <a:latin typeface="Calibri" pitchFamily="34" charset="0"/>
                <a:ea typeface="Calibri" pitchFamily="34" charset="-122"/>
                <a:cs typeface="Calibri" pitchFamily="34" charset="-120"/>
              </a:rPr>
              <a:t>Coco Palms Skylanes and Allied Products</a:t>
            </a:r>
            <a:endParaRPr lang="en-US" sz="900" dirty="0"/>
          </a:p>
        </p:txBody>
      </p:sp>
      <p:sp>
        <p:nvSpPr>
          <p:cNvPr id="13" name="Text 9"/>
          <p:cNvSpPr/>
          <p:nvPr/>
        </p:nvSpPr>
        <p:spPr>
          <a:xfrm>
            <a:off x="10637215" y="6382512"/>
            <a:ext cx="914400" cy="237744"/>
          </a:xfrm>
          <a:prstGeom prst="rect">
            <a:avLst/>
          </a:prstGeom>
          <a:noFill/>
          <a:ln/>
        </p:spPr>
        <p:txBody>
          <a:bodyPr wrap="square" lIns="0" tIns="0" rIns="0" bIns="0" rtlCol="0" anchor="ctr"/>
          <a:lstStyle/>
          <a:p>
            <a:pPr algn="r" indent="0" marL="0">
              <a:buNone/>
            </a:pPr>
            <a:r>
              <a:rPr lang="en-US" sz="900" dirty="0">
                <a:solidFill>
                  <a:srgbClr val="6E7A6F"/>
                </a:solidFill>
                <a:latin typeface="Calibri" pitchFamily="34" charset="0"/>
                <a:ea typeface="Calibri" pitchFamily="34" charset="-122"/>
                <a:cs typeface="Calibri" pitchFamily="34" charset="-120"/>
              </a:rPr>
              <a:t>11</a:t>
            </a:r>
            <a:endParaRPr lang="en-US" sz="9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FFFFF"/>
          </a:solidFill>
          <a:ln w="12700">
            <a:solidFill>
              <a:srgbClr val="FFFFFF"/>
            </a:solidFill>
            <a:prstDash val="solid"/>
          </a:ln>
        </p:spPr>
      </p:sp>
      <p:sp>
        <p:nvSpPr>
          <p:cNvPr id="3" name="Text 1"/>
          <p:cNvSpPr/>
          <p:nvPr/>
        </p:nvSpPr>
        <p:spPr>
          <a:xfrm>
            <a:off x="640080" y="566928"/>
            <a:ext cx="10911535" cy="256032"/>
          </a:xfrm>
          <a:prstGeom prst="rect">
            <a:avLst/>
          </a:prstGeom>
          <a:noFill/>
          <a:ln/>
        </p:spPr>
        <p:txBody>
          <a:bodyPr wrap="square" lIns="0" tIns="0" rIns="0" bIns="0" rtlCol="0" anchor="ctr"/>
          <a:lstStyle/>
          <a:p>
            <a:pPr indent="0" marL="0">
              <a:buNone/>
            </a:pPr>
            <a:r>
              <a:rPr lang="en-US" sz="1150" b="1" spc="240" kern="0" dirty="0">
                <a:solidFill>
                  <a:srgbClr val="B8860F"/>
                </a:solidFill>
                <a:latin typeface="Calibri" pitchFamily="34" charset="0"/>
                <a:ea typeface="Calibri" pitchFamily="34" charset="-122"/>
                <a:cs typeface="Calibri" pitchFamily="34" charset="-120"/>
              </a:rPr>
              <a:t>LEADERSHIP</a:t>
            </a:r>
            <a:endParaRPr lang="en-US" sz="1150" dirty="0"/>
          </a:p>
        </p:txBody>
      </p:sp>
      <p:sp>
        <p:nvSpPr>
          <p:cNvPr id="4" name="Text 2"/>
          <p:cNvSpPr/>
          <p:nvPr/>
        </p:nvSpPr>
        <p:spPr>
          <a:xfrm>
            <a:off x="640080" y="877824"/>
            <a:ext cx="10911535" cy="749808"/>
          </a:xfrm>
          <a:prstGeom prst="rect">
            <a:avLst/>
          </a:prstGeom>
          <a:noFill/>
          <a:ln/>
        </p:spPr>
        <p:txBody>
          <a:bodyPr wrap="square" lIns="0" tIns="0" rIns="0" bIns="0" rtlCol="0" anchor="t"/>
          <a:lstStyle/>
          <a:p>
            <a:pPr indent="0" marL="0">
              <a:buNone/>
            </a:pPr>
            <a:r>
              <a:rPr lang="en-US" sz="3400" b="1" dirty="0">
                <a:solidFill>
                  <a:srgbClr val="14532D"/>
                </a:solidFill>
                <a:latin typeface="Cambria" pitchFamily="34" charset="0"/>
                <a:ea typeface="Cambria" pitchFamily="34" charset="-122"/>
                <a:cs typeface="Cambria" pitchFamily="34" charset="-120"/>
              </a:rPr>
              <a:t>The people behind the plant</a:t>
            </a:r>
            <a:endParaRPr lang="en-US" sz="3400" dirty="0"/>
          </a:p>
        </p:txBody>
      </p:sp>
      <p:pic>
        <p:nvPicPr>
          <p:cNvPr id="5" name="Image 0" descr="C:\Users\affla\OneDrive\Documents\Saas\Claude projects\COCOPALM\build\img\founder.jpg">    </p:cNvPr>
          <p:cNvPicPr>
            <a:picLocks noChangeAspect="1"/>
          </p:cNvPicPr>
          <p:nvPr/>
        </p:nvPicPr>
        <p:blipFill>
          <a:blip r:embed="rId1"/>
          <a:srcRect l="0" r="0" t="0" b="0"/>
          <a:stretch/>
        </p:blipFill>
        <p:spPr>
          <a:xfrm>
            <a:off x="640080" y="1810512"/>
            <a:ext cx="5394960" cy="2871216"/>
          </a:xfrm>
          <a:prstGeom prst="rect">
            <a:avLst/>
          </a:prstGeom>
        </p:spPr>
      </p:pic>
      <p:sp>
        <p:nvSpPr>
          <p:cNvPr id="6" name="Text 3"/>
          <p:cNvSpPr/>
          <p:nvPr/>
        </p:nvSpPr>
        <p:spPr>
          <a:xfrm>
            <a:off x="640080" y="4754880"/>
            <a:ext cx="5394960" cy="274320"/>
          </a:xfrm>
          <a:prstGeom prst="rect">
            <a:avLst/>
          </a:prstGeom>
          <a:noFill/>
          <a:ln/>
        </p:spPr>
        <p:txBody>
          <a:bodyPr wrap="square" lIns="0" tIns="0" rIns="0" bIns="0" rtlCol="0" anchor="ctr"/>
          <a:lstStyle/>
          <a:p>
            <a:pPr indent="0" marL="0">
              <a:buNone/>
            </a:pPr>
            <a:r>
              <a:rPr lang="en-US" sz="950" i="1" dirty="0">
                <a:solidFill>
                  <a:srgbClr val="6E7A6F"/>
                </a:solidFill>
                <a:latin typeface="Calibri" pitchFamily="34" charset="0"/>
                <a:ea typeface="Calibri" pitchFamily="34" charset="-122"/>
                <a:cs typeface="Calibri" pitchFamily="34" charset="-120"/>
              </a:rPr>
              <a:t>Speaking to camera at the plant office</a:t>
            </a:r>
            <a:endParaRPr lang="en-US" sz="950" dirty="0"/>
          </a:p>
        </p:txBody>
      </p:sp>
      <p:pic>
        <p:nvPicPr>
          <p:cNvPr id="7" name="Image 1" descr="C:\Users\affla\OneDrive\Documents\Saas\Claude projects\COCOPALM\build\img\team.jpg">    </p:cNvPr>
          <p:cNvPicPr>
            <a:picLocks noChangeAspect="1"/>
          </p:cNvPicPr>
          <p:nvPr/>
        </p:nvPicPr>
        <p:blipFill>
          <a:blip r:embed="rId2"/>
          <a:srcRect l="0" r="0" t="0" b="0"/>
          <a:stretch/>
        </p:blipFill>
        <p:spPr>
          <a:xfrm>
            <a:off x="640080" y="5157216"/>
            <a:ext cx="5394960" cy="1060704"/>
          </a:xfrm>
          <a:prstGeom prst="rect">
            <a:avLst/>
          </a:prstGeom>
        </p:spPr>
      </p:pic>
      <p:sp>
        <p:nvSpPr>
          <p:cNvPr id="8" name="Text 4"/>
          <p:cNvSpPr/>
          <p:nvPr/>
        </p:nvSpPr>
        <p:spPr>
          <a:xfrm>
            <a:off x="640080" y="6272784"/>
            <a:ext cx="5394960" cy="274320"/>
          </a:xfrm>
          <a:prstGeom prst="rect">
            <a:avLst/>
          </a:prstGeom>
          <a:noFill/>
          <a:ln/>
        </p:spPr>
        <p:txBody>
          <a:bodyPr wrap="square" lIns="0" tIns="0" rIns="0" bIns="0" rtlCol="0" anchor="ctr"/>
          <a:lstStyle/>
          <a:p>
            <a:pPr indent="0" marL="0">
              <a:buNone/>
            </a:pPr>
            <a:r>
              <a:rPr lang="en-US" sz="950" i="1" dirty="0">
                <a:solidFill>
                  <a:srgbClr val="6E7A6F"/>
                </a:solidFill>
                <a:latin typeface="Calibri" pitchFamily="34" charset="0"/>
                <a:ea typeface="Calibri" pitchFamily="34" charset="-122"/>
                <a:cs typeface="Calibri" pitchFamily="34" charset="-120"/>
              </a:rPr>
              <a:t>Review meeting with the plant team</a:t>
            </a:r>
            <a:endParaRPr lang="en-US" sz="950" dirty="0"/>
          </a:p>
        </p:txBody>
      </p:sp>
      <p:sp>
        <p:nvSpPr>
          <p:cNvPr id="9" name="Shape 5"/>
          <p:cNvSpPr/>
          <p:nvPr/>
        </p:nvSpPr>
        <p:spPr>
          <a:xfrm>
            <a:off x="6601968" y="1810512"/>
            <a:ext cx="4949647" cy="2157984"/>
          </a:xfrm>
          <a:prstGeom prst="roundRect">
            <a:avLst>
              <a:gd name="adj" fmla="val 2542"/>
            </a:avLst>
          </a:prstGeom>
          <a:solidFill>
            <a:srgbClr val="F1F5EF"/>
          </a:solidFill>
          <a:ln w="12700">
            <a:solidFill>
              <a:srgbClr val="F1F5EF"/>
            </a:solidFill>
            <a:prstDash val="solid"/>
          </a:ln>
        </p:spPr>
      </p:sp>
      <p:sp>
        <p:nvSpPr>
          <p:cNvPr id="10" name="Text 6"/>
          <p:cNvSpPr/>
          <p:nvPr/>
        </p:nvSpPr>
        <p:spPr>
          <a:xfrm>
            <a:off x="6876288" y="2011680"/>
            <a:ext cx="4401007" cy="822960"/>
          </a:xfrm>
          <a:prstGeom prst="rect">
            <a:avLst/>
          </a:prstGeom>
          <a:noFill/>
          <a:ln/>
        </p:spPr>
        <p:txBody>
          <a:bodyPr wrap="square" lIns="0" tIns="0" rIns="0" bIns="0" rtlCol="0" anchor="t"/>
          <a:lstStyle/>
          <a:p>
            <a:pPr indent="0" marL="0">
              <a:lnSpc>
                <a:spcPct val="120000"/>
              </a:lnSpc>
              <a:buNone/>
            </a:pPr>
            <a:r>
              <a:rPr lang="en-US" sz="1900" i="1" dirty="0">
                <a:solidFill>
                  <a:srgbClr val="14532D"/>
                </a:solidFill>
                <a:latin typeface="Cambria" pitchFamily="34" charset="0"/>
                <a:ea typeface="Cambria" pitchFamily="34" charset="-122"/>
                <a:cs typeface="Cambria" pitchFamily="34" charset="-120"/>
              </a:rPr>
              <a:t>“TO CONFIRM”</a:t>
            </a:r>
            <a:endParaRPr lang="en-US" sz="1900" dirty="0"/>
          </a:p>
        </p:txBody>
      </p:sp>
      <p:sp>
        <p:nvSpPr>
          <p:cNvPr id="11" name="Text 7"/>
          <p:cNvSpPr/>
          <p:nvPr/>
        </p:nvSpPr>
        <p:spPr>
          <a:xfrm>
            <a:off x="6876288" y="3035808"/>
            <a:ext cx="4401007" cy="694944"/>
          </a:xfrm>
          <a:prstGeom prst="rect">
            <a:avLst/>
          </a:prstGeom>
          <a:noFill/>
          <a:ln/>
        </p:spPr>
        <p:txBody>
          <a:bodyPr wrap="square" lIns="0" tIns="0" rIns="0" bIns="0" rtlCol="0" anchor="t"/>
          <a:lstStyle/>
          <a:p>
            <a:pPr indent="0" marL="0">
              <a:lnSpc>
                <a:spcPct val="118000"/>
              </a:lnSpc>
              <a:buNone/>
            </a:pPr>
            <a:r>
              <a:rPr lang="en-US" sz="1050" i="1" dirty="0">
                <a:solidFill>
                  <a:srgbClr val="6E7A6F"/>
                </a:solidFill>
                <a:latin typeface="Calibri" pitchFamily="34" charset="0"/>
                <a:ea typeface="Calibri" pitchFamily="34" charset="-122"/>
                <a:cs typeface="Calibri" pitchFamily="34" charset="-120"/>
              </a:rPr>
              <a:t>A two-line statement on standards, and on why the plant was built the way it was.</a:t>
            </a:r>
            <a:endParaRPr lang="en-US" sz="1050" dirty="0"/>
          </a:p>
        </p:txBody>
      </p:sp>
      <p:sp>
        <p:nvSpPr>
          <p:cNvPr id="12" name="Text 8"/>
          <p:cNvSpPr/>
          <p:nvPr/>
        </p:nvSpPr>
        <p:spPr>
          <a:xfrm>
            <a:off x="6601968" y="4261104"/>
            <a:ext cx="2377440" cy="274320"/>
          </a:xfrm>
          <a:prstGeom prst="rect">
            <a:avLst/>
          </a:prstGeom>
          <a:noFill/>
          <a:ln/>
        </p:spPr>
        <p:txBody>
          <a:bodyPr wrap="square" lIns="0" tIns="0" rIns="0" bIns="0" rtlCol="0" anchor="ctr"/>
          <a:lstStyle/>
          <a:p>
            <a:pPr indent="0" marL="0">
              <a:buNone/>
            </a:pPr>
            <a:r>
              <a:rPr lang="en-US" sz="1150" b="1" spc="80" kern="0" dirty="0">
                <a:solidFill>
                  <a:srgbClr val="6E7A6F"/>
                </a:solidFill>
                <a:latin typeface="Calibri" pitchFamily="34" charset="0"/>
                <a:ea typeface="Calibri" pitchFamily="34" charset="-122"/>
                <a:cs typeface="Calibri" pitchFamily="34" charset="-120"/>
              </a:rPr>
              <a:t>Name</a:t>
            </a:r>
            <a:endParaRPr lang="en-US" sz="1150" dirty="0"/>
          </a:p>
        </p:txBody>
      </p:sp>
      <p:sp>
        <p:nvSpPr>
          <p:cNvPr id="13" name="Text 9"/>
          <p:cNvSpPr/>
          <p:nvPr/>
        </p:nvSpPr>
        <p:spPr>
          <a:xfrm>
            <a:off x="8979408" y="4261104"/>
            <a:ext cx="2572207" cy="274320"/>
          </a:xfrm>
          <a:prstGeom prst="rect">
            <a:avLst/>
          </a:prstGeom>
          <a:noFill/>
          <a:ln/>
        </p:spPr>
        <p:txBody>
          <a:bodyPr wrap="square" lIns="0" tIns="0" rIns="0" bIns="0" rtlCol="0" anchor="ctr"/>
          <a:lstStyle/>
          <a:p>
            <a:pPr indent="0" marL="0">
              <a:buNone/>
            </a:pPr>
            <a:r>
              <a:rPr lang="en-US" sz="1100" b="1" i="1" spc="120" kern="0" dirty="0">
                <a:solidFill>
                  <a:srgbClr val="B8860F"/>
                </a:solidFill>
                <a:latin typeface="Calibri" pitchFamily="34" charset="0"/>
                <a:ea typeface="Calibri" pitchFamily="34" charset="-122"/>
                <a:cs typeface="Calibri" pitchFamily="34" charset="-120"/>
              </a:rPr>
              <a:t>TO CONFIRM</a:t>
            </a:r>
            <a:endParaRPr lang="en-US" sz="1100" dirty="0"/>
          </a:p>
        </p:txBody>
      </p:sp>
      <p:sp>
        <p:nvSpPr>
          <p:cNvPr id="14" name="Text 10"/>
          <p:cNvSpPr/>
          <p:nvPr/>
        </p:nvSpPr>
        <p:spPr>
          <a:xfrm>
            <a:off x="6601968" y="4718304"/>
            <a:ext cx="2377440" cy="274320"/>
          </a:xfrm>
          <a:prstGeom prst="rect">
            <a:avLst/>
          </a:prstGeom>
          <a:noFill/>
          <a:ln/>
        </p:spPr>
        <p:txBody>
          <a:bodyPr wrap="square" lIns="0" tIns="0" rIns="0" bIns="0" rtlCol="0" anchor="ctr"/>
          <a:lstStyle/>
          <a:p>
            <a:pPr indent="0" marL="0">
              <a:buNone/>
            </a:pPr>
            <a:r>
              <a:rPr lang="en-US" sz="1150" b="1" spc="80" kern="0" dirty="0">
                <a:solidFill>
                  <a:srgbClr val="6E7A6F"/>
                </a:solidFill>
                <a:latin typeface="Calibri" pitchFamily="34" charset="0"/>
                <a:ea typeface="Calibri" pitchFamily="34" charset="-122"/>
                <a:cs typeface="Calibri" pitchFamily="34" charset="-120"/>
              </a:rPr>
              <a:t>Title</a:t>
            </a:r>
            <a:endParaRPr lang="en-US" sz="1150" dirty="0"/>
          </a:p>
        </p:txBody>
      </p:sp>
      <p:sp>
        <p:nvSpPr>
          <p:cNvPr id="15" name="Text 11"/>
          <p:cNvSpPr/>
          <p:nvPr/>
        </p:nvSpPr>
        <p:spPr>
          <a:xfrm>
            <a:off x="8979408" y="4718304"/>
            <a:ext cx="2572207" cy="274320"/>
          </a:xfrm>
          <a:prstGeom prst="rect">
            <a:avLst/>
          </a:prstGeom>
          <a:noFill/>
          <a:ln/>
        </p:spPr>
        <p:txBody>
          <a:bodyPr wrap="square" lIns="0" tIns="0" rIns="0" bIns="0" rtlCol="0" anchor="ctr"/>
          <a:lstStyle/>
          <a:p>
            <a:pPr indent="0" marL="0">
              <a:buNone/>
            </a:pPr>
            <a:r>
              <a:rPr lang="en-US" sz="1100" b="1" i="1" spc="120" kern="0" dirty="0">
                <a:solidFill>
                  <a:srgbClr val="B8860F"/>
                </a:solidFill>
                <a:latin typeface="Calibri" pitchFamily="34" charset="0"/>
                <a:ea typeface="Calibri" pitchFamily="34" charset="-122"/>
                <a:cs typeface="Calibri" pitchFamily="34" charset="-120"/>
              </a:rPr>
              <a:t>TO CONFIRM</a:t>
            </a:r>
            <a:endParaRPr lang="en-US" sz="1100" dirty="0"/>
          </a:p>
        </p:txBody>
      </p:sp>
      <p:sp>
        <p:nvSpPr>
          <p:cNvPr id="16" name="Text 12"/>
          <p:cNvSpPr/>
          <p:nvPr/>
        </p:nvSpPr>
        <p:spPr>
          <a:xfrm>
            <a:off x="6601968" y="5175504"/>
            <a:ext cx="2377440" cy="274320"/>
          </a:xfrm>
          <a:prstGeom prst="rect">
            <a:avLst/>
          </a:prstGeom>
          <a:noFill/>
          <a:ln/>
        </p:spPr>
        <p:txBody>
          <a:bodyPr wrap="square" lIns="0" tIns="0" rIns="0" bIns="0" rtlCol="0" anchor="ctr"/>
          <a:lstStyle/>
          <a:p>
            <a:pPr indent="0" marL="0">
              <a:buNone/>
            </a:pPr>
            <a:r>
              <a:rPr lang="en-US" sz="1150" b="1" spc="80" kern="0" dirty="0">
                <a:solidFill>
                  <a:srgbClr val="6E7A6F"/>
                </a:solidFill>
                <a:latin typeface="Calibri" pitchFamily="34" charset="0"/>
                <a:ea typeface="Calibri" pitchFamily="34" charset="-122"/>
                <a:cs typeface="Calibri" pitchFamily="34" charset="-120"/>
              </a:rPr>
              <a:t>Years in coconut processing</a:t>
            </a:r>
            <a:endParaRPr lang="en-US" sz="1150" dirty="0"/>
          </a:p>
        </p:txBody>
      </p:sp>
      <p:sp>
        <p:nvSpPr>
          <p:cNvPr id="17" name="Text 13"/>
          <p:cNvSpPr/>
          <p:nvPr/>
        </p:nvSpPr>
        <p:spPr>
          <a:xfrm>
            <a:off x="8979408" y="5175504"/>
            <a:ext cx="2572207" cy="274320"/>
          </a:xfrm>
          <a:prstGeom prst="rect">
            <a:avLst/>
          </a:prstGeom>
          <a:noFill/>
          <a:ln/>
        </p:spPr>
        <p:txBody>
          <a:bodyPr wrap="square" lIns="0" tIns="0" rIns="0" bIns="0" rtlCol="0" anchor="ctr"/>
          <a:lstStyle/>
          <a:p>
            <a:pPr indent="0" marL="0">
              <a:buNone/>
            </a:pPr>
            <a:r>
              <a:rPr lang="en-US" sz="1100" b="1" i="1" spc="120" kern="0" dirty="0">
                <a:solidFill>
                  <a:srgbClr val="B8860F"/>
                </a:solidFill>
                <a:latin typeface="Calibri" pitchFamily="34" charset="0"/>
                <a:ea typeface="Calibri" pitchFamily="34" charset="-122"/>
                <a:cs typeface="Calibri" pitchFamily="34" charset="-120"/>
              </a:rPr>
              <a:t>TO CONFIRM</a:t>
            </a:r>
            <a:endParaRPr lang="en-US" sz="1100" dirty="0"/>
          </a:p>
        </p:txBody>
      </p:sp>
      <p:sp>
        <p:nvSpPr>
          <p:cNvPr id="18" name="Text 14"/>
          <p:cNvSpPr/>
          <p:nvPr/>
        </p:nvSpPr>
        <p:spPr>
          <a:xfrm>
            <a:off x="6601968" y="6382512"/>
            <a:ext cx="5486400" cy="237744"/>
          </a:xfrm>
          <a:prstGeom prst="rect">
            <a:avLst/>
          </a:prstGeom>
          <a:noFill/>
          <a:ln/>
        </p:spPr>
        <p:txBody>
          <a:bodyPr wrap="square" lIns="0" tIns="0" rIns="0" bIns="0" rtlCol="0" anchor="ctr"/>
          <a:lstStyle/>
          <a:p>
            <a:pPr indent="0" marL="0">
              <a:buNone/>
            </a:pPr>
            <a:r>
              <a:rPr lang="en-US" sz="900" spc="60" kern="0" dirty="0">
                <a:solidFill>
                  <a:srgbClr val="6E7A6F"/>
                </a:solidFill>
                <a:latin typeface="Calibri" pitchFamily="34" charset="0"/>
                <a:ea typeface="Calibri" pitchFamily="34" charset="-122"/>
                <a:cs typeface="Calibri" pitchFamily="34" charset="-120"/>
              </a:rPr>
              <a:t>Coco Palms Skylanes and Allied Products</a:t>
            </a:r>
            <a:endParaRPr lang="en-US" sz="900" dirty="0"/>
          </a:p>
        </p:txBody>
      </p:sp>
      <p:sp>
        <p:nvSpPr>
          <p:cNvPr id="19" name="Text 15"/>
          <p:cNvSpPr/>
          <p:nvPr/>
        </p:nvSpPr>
        <p:spPr>
          <a:xfrm>
            <a:off x="10637215" y="6382512"/>
            <a:ext cx="914400" cy="237744"/>
          </a:xfrm>
          <a:prstGeom prst="rect">
            <a:avLst/>
          </a:prstGeom>
          <a:noFill/>
          <a:ln/>
        </p:spPr>
        <p:txBody>
          <a:bodyPr wrap="square" lIns="0" tIns="0" rIns="0" bIns="0" rtlCol="0" anchor="ctr"/>
          <a:lstStyle/>
          <a:p>
            <a:pPr algn="r" indent="0" marL="0">
              <a:buNone/>
            </a:pPr>
            <a:r>
              <a:rPr lang="en-US" sz="900" dirty="0">
                <a:solidFill>
                  <a:srgbClr val="6E7A6F"/>
                </a:solidFill>
                <a:latin typeface="Calibri" pitchFamily="34" charset="0"/>
                <a:ea typeface="Calibri" pitchFamily="34" charset="-122"/>
                <a:cs typeface="Calibri" pitchFamily="34" charset="-120"/>
              </a:rPr>
              <a:t>12</a:t>
            </a:r>
            <a:endParaRPr lang="en-US" sz="9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14532D"/>
          </a:solidFill>
          <a:ln w="12700">
            <a:solidFill>
              <a:srgbClr val="14532D"/>
            </a:solidFill>
            <a:prstDash val="solid"/>
          </a:ln>
        </p:spPr>
      </p:sp>
      <p:sp>
        <p:nvSpPr>
          <p:cNvPr id="3" name="Text 1"/>
          <p:cNvSpPr/>
          <p:nvPr/>
        </p:nvSpPr>
        <p:spPr>
          <a:xfrm>
            <a:off x="640080" y="1133856"/>
            <a:ext cx="10911535" cy="256032"/>
          </a:xfrm>
          <a:prstGeom prst="rect">
            <a:avLst/>
          </a:prstGeom>
          <a:noFill/>
          <a:ln/>
        </p:spPr>
        <p:txBody>
          <a:bodyPr wrap="square" lIns="0" tIns="0" rIns="0" bIns="0" rtlCol="0" anchor="ctr"/>
          <a:lstStyle/>
          <a:p>
            <a:pPr indent="0" marL="0">
              <a:buNone/>
            </a:pPr>
            <a:r>
              <a:rPr lang="en-US" sz="1150" b="1" spc="240" kern="0" dirty="0">
                <a:solidFill>
                  <a:srgbClr val="E3C171"/>
                </a:solidFill>
                <a:latin typeface="Calibri" pitchFamily="34" charset="0"/>
                <a:ea typeface="Calibri" pitchFamily="34" charset="-122"/>
                <a:cs typeface="Calibri" pitchFamily="34" charset="-120"/>
              </a:rPr>
              <a:t>NEXT STEPS</a:t>
            </a:r>
            <a:endParaRPr lang="en-US" sz="1150" dirty="0"/>
          </a:p>
        </p:txBody>
      </p:sp>
      <p:sp>
        <p:nvSpPr>
          <p:cNvPr id="4" name="Text 2"/>
          <p:cNvSpPr/>
          <p:nvPr/>
        </p:nvSpPr>
        <p:spPr>
          <a:xfrm>
            <a:off x="640080" y="1463040"/>
            <a:ext cx="6766560" cy="786384"/>
          </a:xfrm>
          <a:prstGeom prst="rect">
            <a:avLst/>
          </a:prstGeom>
          <a:noFill/>
          <a:ln/>
        </p:spPr>
        <p:txBody>
          <a:bodyPr wrap="square" lIns="0" tIns="0" rIns="0" bIns="0" rtlCol="0" anchor="ctr"/>
          <a:lstStyle/>
          <a:p>
            <a:pPr indent="0" marL="0">
              <a:buNone/>
            </a:pPr>
            <a:r>
              <a:rPr lang="en-US" sz="3400" b="1" dirty="0">
                <a:solidFill>
                  <a:srgbClr val="FFFFFF"/>
                </a:solidFill>
                <a:latin typeface="Cambria" pitchFamily="34" charset="0"/>
                <a:ea typeface="Cambria" pitchFamily="34" charset="-122"/>
                <a:cs typeface="Cambria" pitchFamily="34" charset="-120"/>
              </a:rPr>
              <a:t>Let's talk specification</a:t>
            </a:r>
            <a:endParaRPr lang="en-US" sz="3400" dirty="0"/>
          </a:p>
        </p:txBody>
      </p:sp>
      <p:sp>
        <p:nvSpPr>
          <p:cNvPr id="5" name="Text 3"/>
          <p:cNvSpPr/>
          <p:nvPr/>
        </p:nvSpPr>
        <p:spPr>
          <a:xfrm>
            <a:off x="640080" y="2340864"/>
            <a:ext cx="6400800" cy="877824"/>
          </a:xfrm>
          <a:prstGeom prst="rect">
            <a:avLst/>
          </a:prstGeom>
          <a:noFill/>
          <a:ln/>
        </p:spPr>
        <p:txBody>
          <a:bodyPr wrap="square" lIns="0" tIns="0" rIns="0" bIns="0" rtlCol="0" anchor="t"/>
          <a:lstStyle/>
          <a:p>
            <a:pPr indent="0" marL="0">
              <a:lnSpc>
                <a:spcPct val="128000"/>
              </a:lnSpc>
              <a:buNone/>
            </a:pPr>
            <a:r>
              <a:rPr lang="en-US" sz="1350" dirty="0">
                <a:solidFill>
                  <a:srgbClr val="A9BBAB"/>
                </a:solidFill>
                <a:latin typeface="Calibri" pitchFamily="34" charset="0"/>
                <a:ea typeface="Calibri" pitchFamily="34" charset="-122"/>
                <a:cs typeface="Calibri" pitchFamily="34" charset="-120"/>
              </a:rPr>
              <a:t>Send us your incoming specification and target volume, and we will come back with a costed offer, a sample plan and a certificate pack.</a:t>
            </a:r>
            <a:endParaRPr lang="en-US" sz="1350" dirty="0"/>
          </a:p>
        </p:txBody>
      </p:sp>
      <p:sp>
        <p:nvSpPr>
          <p:cNvPr id="6" name="Shape 4"/>
          <p:cNvSpPr/>
          <p:nvPr/>
        </p:nvSpPr>
        <p:spPr>
          <a:xfrm>
            <a:off x="640080" y="3456432"/>
            <a:ext cx="457200" cy="457200"/>
          </a:xfrm>
          <a:prstGeom prst="ellipse">
            <a:avLst/>
          </a:prstGeom>
          <a:solidFill>
            <a:srgbClr val="B8860F"/>
          </a:solidFill>
          <a:ln w="12700">
            <a:solidFill>
              <a:srgbClr val="B8860F"/>
            </a:solidFill>
            <a:prstDash val="solid"/>
          </a:ln>
        </p:spPr>
      </p:sp>
      <p:sp>
        <p:nvSpPr>
          <p:cNvPr id="7" name="Text 5"/>
          <p:cNvSpPr/>
          <p:nvPr/>
        </p:nvSpPr>
        <p:spPr>
          <a:xfrm>
            <a:off x="640080" y="3456432"/>
            <a:ext cx="457200" cy="457200"/>
          </a:xfrm>
          <a:prstGeom prst="rect">
            <a:avLst/>
          </a:prstGeom>
          <a:noFill/>
          <a:ln/>
        </p:spPr>
        <p:txBody>
          <a:bodyPr wrap="square" lIns="0" tIns="0" rIns="0" bIns="0" rtlCol="0" anchor="ctr"/>
          <a:lstStyle/>
          <a:p>
            <a:pPr algn="ctr" indent="0" marL="0">
              <a:buNone/>
            </a:pPr>
            <a:r>
              <a:rPr lang="en-US" sz="1300" b="1" dirty="0">
                <a:solidFill>
                  <a:srgbClr val="FFFFFF"/>
                </a:solidFill>
                <a:latin typeface="Cambria" pitchFamily="34" charset="0"/>
                <a:ea typeface="Cambria" pitchFamily="34" charset="-122"/>
                <a:cs typeface="Cambria" pitchFamily="34" charset="-120"/>
              </a:rPr>
              <a:t>1</a:t>
            </a:r>
            <a:endParaRPr lang="en-US" sz="1300" dirty="0"/>
          </a:p>
        </p:txBody>
      </p:sp>
      <p:sp>
        <p:nvSpPr>
          <p:cNvPr id="8" name="Text 6"/>
          <p:cNvSpPr/>
          <p:nvPr/>
        </p:nvSpPr>
        <p:spPr>
          <a:xfrm>
            <a:off x="1298448" y="3438144"/>
            <a:ext cx="5669280" cy="292608"/>
          </a:xfrm>
          <a:prstGeom prst="rect">
            <a:avLst/>
          </a:prstGeom>
          <a:noFill/>
          <a:ln/>
        </p:spPr>
        <p:txBody>
          <a:bodyPr wrap="square" lIns="0" tIns="0" rIns="0" bIns="0" rtlCol="0" anchor="ctr"/>
          <a:lstStyle/>
          <a:p>
            <a:pPr indent="0" marL="0">
              <a:buNone/>
            </a:pPr>
            <a:r>
              <a:rPr lang="en-US" sz="1450" b="1" dirty="0">
                <a:solidFill>
                  <a:srgbClr val="FFFFFF"/>
                </a:solidFill>
                <a:latin typeface="Cambria" pitchFamily="34" charset="0"/>
                <a:ea typeface="Cambria" pitchFamily="34" charset="-122"/>
                <a:cs typeface="Cambria" pitchFamily="34" charset="-120"/>
              </a:rPr>
              <a:t>Share your specification</a:t>
            </a:r>
            <a:endParaRPr lang="en-US" sz="1450" dirty="0"/>
          </a:p>
        </p:txBody>
      </p:sp>
      <p:sp>
        <p:nvSpPr>
          <p:cNvPr id="9" name="Text 7"/>
          <p:cNvSpPr/>
          <p:nvPr/>
        </p:nvSpPr>
        <p:spPr>
          <a:xfrm>
            <a:off x="1298448" y="3712464"/>
            <a:ext cx="5669280" cy="256032"/>
          </a:xfrm>
          <a:prstGeom prst="rect">
            <a:avLst/>
          </a:prstGeom>
          <a:noFill/>
          <a:ln/>
        </p:spPr>
        <p:txBody>
          <a:bodyPr wrap="square" lIns="0" tIns="0" rIns="0" bIns="0" rtlCol="0" anchor="ctr"/>
          <a:lstStyle/>
          <a:p>
            <a:pPr indent="0" marL="0">
              <a:buNone/>
            </a:pPr>
            <a:r>
              <a:rPr lang="en-US" sz="1100" dirty="0">
                <a:solidFill>
                  <a:srgbClr val="A9BBAB"/>
                </a:solidFill>
                <a:latin typeface="Calibri" pitchFamily="34" charset="0"/>
                <a:ea typeface="Calibri" pitchFamily="34" charset="-122"/>
                <a:cs typeface="Calibri" pitchFamily="34" charset="-120"/>
              </a:rPr>
              <a:t>Grade, pack format and annual volume</a:t>
            </a:r>
            <a:endParaRPr lang="en-US" sz="1100" dirty="0"/>
          </a:p>
        </p:txBody>
      </p:sp>
      <p:sp>
        <p:nvSpPr>
          <p:cNvPr id="10" name="Shape 8"/>
          <p:cNvSpPr/>
          <p:nvPr/>
        </p:nvSpPr>
        <p:spPr>
          <a:xfrm>
            <a:off x="640080" y="4242816"/>
            <a:ext cx="457200" cy="457200"/>
          </a:xfrm>
          <a:prstGeom prst="ellipse">
            <a:avLst/>
          </a:prstGeom>
          <a:solidFill>
            <a:srgbClr val="B8860F"/>
          </a:solidFill>
          <a:ln w="12700">
            <a:solidFill>
              <a:srgbClr val="B8860F"/>
            </a:solidFill>
            <a:prstDash val="solid"/>
          </a:ln>
        </p:spPr>
      </p:sp>
      <p:sp>
        <p:nvSpPr>
          <p:cNvPr id="11" name="Text 9"/>
          <p:cNvSpPr/>
          <p:nvPr/>
        </p:nvSpPr>
        <p:spPr>
          <a:xfrm>
            <a:off x="640080" y="4242816"/>
            <a:ext cx="457200" cy="457200"/>
          </a:xfrm>
          <a:prstGeom prst="rect">
            <a:avLst/>
          </a:prstGeom>
          <a:noFill/>
          <a:ln/>
        </p:spPr>
        <p:txBody>
          <a:bodyPr wrap="square" lIns="0" tIns="0" rIns="0" bIns="0" rtlCol="0" anchor="ctr"/>
          <a:lstStyle/>
          <a:p>
            <a:pPr algn="ctr" indent="0" marL="0">
              <a:buNone/>
            </a:pPr>
            <a:r>
              <a:rPr lang="en-US" sz="1300" b="1" dirty="0">
                <a:solidFill>
                  <a:srgbClr val="FFFFFF"/>
                </a:solidFill>
                <a:latin typeface="Cambria" pitchFamily="34" charset="0"/>
                <a:ea typeface="Cambria" pitchFamily="34" charset="-122"/>
                <a:cs typeface="Cambria" pitchFamily="34" charset="-120"/>
              </a:rPr>
              <a:t>2</a:t>
            </a:r>
            <a:endParaRPr lang="en-US" sz="1300" dirty="0"/>
          </a:p>
        </p:txBody>
      </p:sp>
      <p:sp>
        <p:nvSpPr>
          <p:cNvPr id="12" name="Text 10"/>
          <p:cNvSpPr/>
          <p:nvPr/>
        </p:nvSpPr>
        <p:spPr>
          <a:xfrm>
            <a:off x="1298448" y="4224528"/>
            <a:ext cx="5669280" cy="292608"/>
          </a:xfrm>
          <a:prstGeom prst="rect">
            <a:avLst/>
          </a:prstGeom>
          <a:noFill/>
          <a:ln/>
        </p:spPr>
        <p:txBody>
          <a:bodyPr wrap="square" lIns="0" tIns="0" rIns="0" bIns="0" rtlCol="0" anchor="ctr"/>
          <a:lstStyle/>
          <a:p>
            <a:pPr indent="0" marL="0">
              <a:buNone/>
            </a:pPr>
            <a:r>
              <a:rPr lang="en-US" sz="1450" b="1" dirty="0">
                <a:solidFill>
                  <a:srgbClr val="FFFFFF"/>
                </a:solidFill>
                <a:latin typeface="Cambria" pitchFamily="34" charset="0"/>
                <a:ea typeface="Cambria" pitchFamily="34" charset="-122"/>
                <a:cs typeface="Cambria" pitchFamily="34" charset="-120"/>
              </a:rPr>
              <a:t>Sample and approval</a:t>
            </a:r>
            <a:endParaRPr lang="en-US" sz="1450" dirty="0"/>
          </a:p>
        </p:txBody>
      </p:sp>
      <p:sp>
        <p:nvSpPr>
          <p:cNvPr id="13" name="Text 11"/>
          <p:cNvSpPr/>
          <p:nvPr/>
        </p:nvSpPr>
        <p:spPr>
          <a:xfrm>
            <a:off x="1298448" y="4498848"/>
            <a:ext cx="5669280" cy="256032"/>
          </a:xfrm>
          <a:prstGeom prst="rect">
            <a:avLst/>
          </a:prstGeom>
          <a:noFill/>
          <a:ln/>
        </p:spPr>
        <p:txBody>
          <a:bodyPr wrap="square" lIns="0" tIns="0" rIns="0" bIns="0" rtlCol="0" anchor="ctr"/>
          <a:lstStyle/>
          <a:p>
            <a:pPr indent="0" marL="0">
              <a:buNone/>
            </a:pPr>
            <a:r>
              <a:rPr lang="en-US" sz="1100" dirty="0">
                <a:solidFill>
                  <a:srgbClr val="A9BBAB"/>
                </a:solidFill>
                <a:latin typeface="Calibri" pitchFamily="34" charset="0"/>
                <a:ea typeface="Calibri" pitchFamily="34" charset="-122"/>
                <a:cs typeface="Calibri" pitchFamily="34" charset="-120"/>
              </a:rPr>
              <a:t>We ship samples against your spec</a:t>
            </a:r>
            <a:endParaRPr lang="en-US" sz="1100" dirty="0"/>
          </a:p>
        </p:txBody>
      </p:sp>
      <p:sp>
        <p:nvSpPr>
          <p:cNvPr id="14" name="Shape 12"/>
          <p:cNvSpPr/>
          <p:nvPr/>
        </p:nvSpPr>
        <p:spPr>
          <a:xfrm>
            <a:off x="640080" y="5029200"/>
            <a:ext cx="457200" cy="457200"/>
          </a:xfrm>
          <a:prstGeom prst="ellipse">
            <a:avLst/>
          </a:prstGeom>
          <a:solidFill>
            <a:srgbClr val="B8860F"/>
          </a:solidFill>
          <a:ln w="12700">
            <a:solidFill>
              <a:srgbClr val="B8860F"/>
            </a:solidFill>
            <a:prstDash val="solid"/>
          </a:ln>
        </p:spPr>
      </p:sp>
      <p:sp>
        <p:nvSpPr>
          <p:cNvPr id="15" name="Text 13"/>
          <p:cNvSpPr/>
          <p:nvPr/>
        </p:nvSpPr>
        <p:spPr>
          <a:xfrm>
            <a:off x="640080" y="5029200"/>
            <a:ext cx="457200" cy="457200"/>
          </a:xfrm>
          <a:prstGeom prst="rect">
            <a:avLst/>
          </a:prstGeom>
          <a:noFill/>
          <a:ln/>
        </p:spPr>
        <p:txBody>
          <a:bodyPr wrap="square" lIns="0" tIns="0" rIns="0" bIns="0" rtlCol="0" anchor="ctr"/>
          <a:lstStyle/>
          <a:p>
            <a:pPr algn="ctr" indent="0" marL="0">
              <a:buNone/>
            </a:pPr>
            <a:r>
              <a:rPr lang="en-US" sz="1300" b="1" dirty="0">
                <a:solidFill>
                  <a:srgbClr val="FFFFFF"/>
                </a:solidFill>
                <a:latin typeface="Cambria" pitchFamily="34" charset="0"/>
                <a:ea typeface="Cambria" pitchFamily="34" charset="-122"/>
                <a:cs typeface="Cambria" pitchFamily="34" charset="-120"/>
              </a:rPr>
              <a:t>3</a:t>
            </a:r>
            <a:endParaRPr lang="en-US" sz="1300" dirty="0"/>
          </a:p>
        </p:txBody>
      </p:sp>
      <p:sp>
        <p:nvSpPr>
          <p:cNvPr id="16" name="Text 14"/>
          <p:cNvSpPr/>
          <p:nvPr/>
        </p:nvSpPr>
        <p:spPr>
          <a:xfrm>
            <a:off x="1298448" y="5010912"/>
            <a:ext cx="5669280" cy="292608"/>
          </a:xfrm>
          <a:prstGeom prst="rect">
            <a:avLst/>
          </a:prstGeom>
          <a:noFill/>
          <a:ln/>
        </p:spPr>
        <p:txBody>
          <a:bodyPr wrap="square" lIns="0" tIns="0" rIns="0" bIns="0" rtlCol="0" anchor="ctr"/>
          <a:lstStyle/>
          <a:p>
            <a:pPr indent="0" marL="0">
              <a:buNone/>
            </a:pPr>
            <a:r>
              <a:rPr lang="en-US" sz="1450" b="1" dirty="0">
                <a:solidFill>
                  <a:srgbClr val="FFFFFF"/>
                </a:solidFill>
                <a:latin typeface="Cambria" pitchFamily="34" charset="0"/>
                <a:ea typeface="Cambria" pitchFamily="34" charset="-122"/>
                <a:cs typeface="Cambria" pitchFamily="34" charset="-120"/>
              </a:rPr>
              <a:t>Trial order</a:t>
            </a:r>
            <a:endParaRPr lang="en-US" sz="1450" dirty="0"/>
          </a:p>
        </p:txBody>
      </p:sp>
      <p:sp>
        <p:nvSpPr>
          <p:cNvPr id="17" name="Text 15"/>
          <p:cNvSpPr/>
          <p:nvPr/>
        </p:nvSpPr>
        <p:spPr>
          <a:xfrm>
            <a:off x="1298448" y="5285232"/>
            <a:ext cx="5669280" cy="256032"/>
          </a:xfrm>
          <a:prstGeom prst="rect">
            <a:avLst/>
          </a:prstGeom>
          <a:noFill/>
          <a:ln/>
        </p:spPr>
        <p:txBody>
          <a:bodyPr wrap="square" lIns="0" tIns="0" rIns="0" bIns="0" rtlCol="0" anchor="ctr"/>
          <a:lstStyle/>
          <a:p>
            <a:pPr indent="0" marL="0">
              <a:buNone/>
            </a:pPr>
            <a:r>
              <a:rPr lang="en-US" sz="1100" dirty="0">
                <a:solidFill>
                  <a:srgbClr val="A9BBAB"/>
                </a:solidFill>
                <a:latin typeface="Calibri" pitchFamily="34" charset="0"/>
                <a:ea typeface="Calibri" pitchFamily="34" charset="-122"/>
                <a:cs typeface="Calibri" pitchFamily="34" charset="-120"/>
              </a:rPr>
              <a:t>First container on agreed Incoterms</a:t>
            </a:r>
            <a:endParaRPr lang="en-US" sz="1100" dirty="0"/>
          </a:p>
        </p:txBody>
      </p:sp>
      <p:sp>
        <p:nvSpPr>
          <p:cNvPr id="18" name="Shape 16"/>
          <p:cNvSpPr/>
          <p:nvPr/>
        </p:nvSpPr>
        <p:spPr>
          <a:xfrm>
            <a:off x="7772400" y="841248"/>
            <a:ext cx="3779215" cy="5230368"/>
          </a:xfrm>
          <a:prstGeom prst="roundRect">
            <a:avLst>
              <a:gd name="adj" fmla="val 1210"/>
            </a:avLst>
          </a:prstGeom>
          <a:solidFill>
            <a:srgbClr val="FFFFFF"/>
          </a:solidFill>
          <a:ln w="12700">
            <a:solidFill>
              <a:srgbClr val="FFFFFF"/>
            </a:solidFill>
            <a:prstDash val="solid"/>
          </a:ln>
          <a:effectLst>
            <a:outerShdw sx="100000" sy="100000" kx="0" ky="0" algn="bl" rotWithShape="0" blurRad="254000" dist="25400" dir="5400000">
              <a:srgbClr val="000000">
                <a:alpha val="22000"/>
              </a:srgbClr>
            </a:outerShdw>
          </a:effectLst>
        </p:spPr>
      </p:sp>
      <p:pic>
        <p:nvPicPr>
          <p:cNvPr id="19" name="Image 0" descr="C:\Users\affla\OneDrive\Documents\Saas\Claude projects\COCOPALM\build\img\logo.jpg">    </p:cNvPr>
          <p:cNvPicPr>
            <a:picLocks noChangeAspect="1"/>
          </p:cNvPicPr>
          <p:nvPr/>
        </p:nvPicPr>
        <p:blipFill>
          <a:blip r:embed="rId1"/>
          <a:srcRect l="0" r="0" t="0" b="0"/>
          <a:stretch/>
        </p:blipFill>
        <p:spPr>
          <a:xfrm>
            <a:off x="8339328" y="1060704"/>
            <a:ext cx="2651760" cy="1847088"/>
          </a:xfrm>
          <a:prstGeom prst="rect">
            <a:avLst/>
          </a:prstGeom>
        </p:spPr>
      </p:pic>
      <p:sp>
        <p:nvSpPr>
          <p:cNvPr id="20" name="Text 17"/>
          <p:cNvSpPr/>
          <p:nvPr/>
        </p:nvSpPr>
        <p:spPr>
          <a:xfrm>
            <a:off x="8083296" y="3127248"/>
            <a:ext cx="3157423" cy="182880"/>
          </a:xfrm>
          <a:prstGeom prst="rect">
            <a:avLst/>
          </a:prstGeom>
          <a:noFill/>
          <a:ln/>
        </p:spPr>
        <p:txBody>
          <a:bodyPr wrap="square" lIns="0" tIns="0" rIns="0" bIns="0" rtlCol="0" anchor="ctr"/>
          <a:lstStyle/>
          <a:p>
            <a:pPr indent="0" marL="0">
              <a:buNone/>
            </a:pPr>
            <a:r>
              <a:rPr lang="en-US" sz="850" b="1" spc="110" kern="0" dirty="0">
                <a:solidFill>
                  <a:srgbClr val="6E7A6F"/>
                </a:solidFill>
                <a:latin typeface="Calibri" pitchFamily="34" charset="0"/>
                <a:ea typeface="Calibri" pitchFamily="34" charset="-122"/>
                <a:cs typeface="Calibri" pitchFamily="34" charset="-120"/>
              </a:rPr>
              <a:t>Contact</a:t>
            </a:r>
            <a:endParaRPr lang="en-US" sz="850" dirty="0"/>
          </a:p>
        </p:txBody>
      </p:sp>
      <p:sp>
        <p:nvSpPr>
          <p:cNvPr id="21" name="Text 18"/>
          <p:cNvSpPr/>
          <p:nvPr/>
        </p:nvSpPr>
        <p:spPr>
          <a:xfrm>
            <a:off x="8083296" y="3310128"/>
            <a:ext cx="3157423" cy="219456"/>
          </a:xfrm>
          <a:prstGeom prst="rect">
            <a:avLst/>
          </a:prstGeom>
          <a:noFill/>
          <a:ln/>
        </p:spPr>
        <p:txBody>
          <a:bodyPr wrap="square" lIns="0" tIns="0" rIns="0" bIns="0" rtlCol="0" anchor="t"/>
          <a:lstStyle/>
          <a:p>
            <a:pPr indent="0" marL="0">
              <a:lnSpc>
                <a:spcPct val="105000"/>
              </a:lnSpc>
              <a:buNone/>
            </a:pPr>
            <a:r>
              <a:rPr lang="en-US" sz="1050" b="1" dirty="0">
                <a:solidFill>
                  <a:srgbClr val="232C24"/>
                </a:solidFill>
                <a:latin typeface="Calibri" pitchFamily="34" charset="0"/>
                <a:ea typeface="Calibri" pitchFamily="34" charset="-122"/>
                <a:cs typeface="Calibri" pitchFamily="34" charset="-120"/>
              </a:rPr>
              <a:t>Mr. Barani</a:t>
            </a:r>
            <a:endParaRPr lang="en-US" sz="1050" dirty="0"/>
          </a:p>
        </p:txBody>
      </p:sp>
      <p:sp>
        <p:nvSpPr>
          <p:cNvPr id="22" name="Text 19"/>
          <p:cNvSpPr/>
          <p:nvPr/>
        </p:nvSpPr>
        <p:spPr>
          <a:xfrm>
            <a:off x="8083296" y="3511296"/>
            <a:ext cx="3157423" cy="182880"/>
          </a:xfrm>
          <a:prstGeom prst="rect">
            <a:avLst/>
          </a:prstGeom>
          <a:noFill/>
          <a:ln/>
        </p:spPr>
        <p:txBody>
          <a:bodyPr wrap="square" lIns="0" tIns="0" rIns="0" bIns="0" rtlCol="0" anchor="ctr"/>
          <a:lstStyle/>
          <a:p>
            <a:pPr indent="0" marL="0">
              <a:buNone/>
            </a:pPr>
            <a:r>
              <a:rPr lang="en-US" sz="850" b="1" spc="110" kern="0" dirty="0">
                <a:solidFill>
                  <a:srgbClr val="6E7A6F"/>
                </a:solidFill>
                <a:latin typeface="Calibri" pitchFamily="34" charset="0"/>
                <a:ea typeface="Calibri" pitchFamily="34" charset="-122"/>
                <a:cs typeface="Calibri" pitchFamily="34" charset="-120"/>
              </a:rPr>
              <a:t>Designation</a:t>
            </a:r>
            <a:endParaRPr lang="en-US" sz="850" dirty="0"/>
          </a:p>
        </p:txBody>
      </p:sp>
      <p:sp>
        <p:nvSpPr>
          <p:cNvPr id="23" name="Text 20"/>
          <p:cNvSpPr/>
          <p:nvPr/>
        </p:nvSpPr>
        <p:spPr>
          <a:xfrm>
            <a:off x="8083296" y="3694176"/>
            <a:ext cx="3157423" cy="219456"/>
          </a:xfrm>
          <a:prstGeom prst="rect">
            <a:avLst/>
          </a:prstGeom>
          <a:noFill/>
          <a:ln/>
        </p:spPr>
        <p:txBody>
          <a:bodyPr wrap="square" lIns="0" tIns="0" rIns="0" bIns="0" rtlCol="0" anchor="t"/>
          <a:lstStyle/>
          <a:p>
            <a:pPr indent="0" marL="0">
              <a:lnSpc>
                <a:spcPct val="105000"/>
              </a:lnSpc>
              <a:buNone/>
            </a:pPr>
            <a:r>
              <a:rPr lang="en-US" sz="1050" b="1" dirty="0">
                <a:solidFill>
                  <a:srgbClr val="232C24"/>
                </a:solidFill>
                <a:latin typeface="Calibri" pitchFamily="34" charset="0"/>
                <a:ea typeface="Calibri" pitchFamily="34" charset="-122"/>
                <a:cs typeface="Calibri" pitchFamily="34" charset="-120"/>
              </a:rPr>
              <a:t>Operations Head</a:t>
            </a:r>
            <a:endParaRPr lang="en-US" sz="1050" dirty="0"/>
          </a:p>
        </p:txBody>
      </p:sp>
      <p:sp>
        <p:nvSpPr>
          <p:cNvPr id="24" name="Text 21"/>
          <p:cNvSpPr/>
          <p:nvPr/>
        </p:nvSpPr>
        <p:spPr>
          <a:xfrm>
            <a:off x="8083296" y="3895344"/>
            <a:ext cx="3157423" cy="182880"/>
          </a:xfrm>
          <a:prstGeom prst="rect">
            <a:avLst/>
          </a:prstGeom>
          <a:noFill/>
          <a:ln/>
        </p:spPr>
        <p:txBody>
          <a:bodyPr wrap="square" lIns="0" tIns="0" rIns="0" bIns="0" rtlCol="0" anchor="ctr"/>
          <a:lstStyle/>
          <a:p>
            <a:pPr indent="0" marL="0">
              <a:buNone/>
            </a:pPr>
            <a:r>
              <a:rPr lang="en-US" sz="850" b="1" spc="110" kern="0" dirty="0">
                <a:solidFill>
                  <a:srgbClr val="6E7A6F"/>
                </a:solidFill>
                <a:latin typeface="Calibri" pitchFamily="34" charset="0"/>
                <a:ea typeface="Calibri" pitchFamily="34" charset="-122"/>
                <a:cs typeface="Calibri" pitchFamily="34" charset="-120"/>
              </a:rPr>
              <a:t>Telephone</a:t>
            </a:r>
            <a:endParaRPr lang="en-US" sz="850" dirty="0"/>
          </a:p>
        </p:txBody>
      </p:sp>
      <p:sp>
        <p:nvSpPr>
          <p:cNvPr id="25" name="Text 22"/>
          <p:cNvSpPr/>
          <p:nvPr/>
        </p:nvSpPr>
        <p:spPr>
          <a:xfrm>
            <a:off x="8083296" y="4078224"/>
            <a:ext cx="3157423" cy="219456"/>
          </a:xfrm>
          <a:prstGeom prst="rect">
            <a:avLst/>
          </a:prstGeom>
          <a:noFill/>
          <a:ln/>
        </p:spPr>
        <p:txBody>
          <a:bodyPr wrap="square" lIns="0" tIns="0" rIns="0" bIns="0" rtlCol="0" anchor="t"/>
          <a:lstStyle/>
          <a:p>
            <a:pPr indent="0" marL="0">
              <a:lnSpc>
                <a:spcPct val="105000"/>
              </a:lnSpc>
              <a:buNone/>
            </a:pPr>
            <a:r>
              <a:rPr lang="en-US" sz="1050" b="1" dirty="0">
                <a:solidFill>
                  <a:srgbClr val="232C24"/>
                </a:solidFill>
                <a:latin typeface="Calibri" pitchFamily="34" charset="0"/>
                <a:ea typeface="Calibri" pitchFamily="34" charset="-122"/>
                <a:cs typeface="Calibri" pitchFamily="34" charset="-120"/>
              </a:rPr>
              <a:t>+91 95661 62825</a:t>
            </a:r>
            <a:endParaRPr lang="en-US" sz="1050" dirty="0"/>
          </a:p>
        </p:txBody>
      </p:sp>
      <p:sp>
        <p:nvSpPr>
          <p:cNvPr id="26" name="Text 23"/>
          <p:cNvSpPr/>
          <p:nvPr/>
        </p:nvSpPr>
        <p:spPr>
          <a:xfrm>
            <a:off x="8083296" y="4279392"/>
            <a:ext cx="3157423" cy="182880"/>
          </a:xfrm>
          <a:prstGeom prst="rect">
            <a:avLst/>
          </a:prstGeom>
          <a:noFill/>
          <a:ln/>
        </p:spPr>
        <p:txBody>
          <a:bodyPr wrap="square" lIns="0" tIns="0" rIns="0" bIns="0" rtlCol="0" anchor="ctr"/>
          <a:lstStyle/>
          <a:p>
            <a:pPr indent="0" marL="0">
              <a:buNone/>
            </a:pPr>
            <a:r>
              <a:rPr lang="en-US" sz="850" b="1" spc="110" kern="0" dirty="0">
                <a:solidFill>
                  <a:srgbClr val="6E7A6F"/>
                </a:solidFill>
                <a:latin typeface="Calibri" pitchFamily="34" charset="0"/>
                <a:ea typeface="Calibri" pitchFamily="34" charset="-122"/>
                <a:cs typeface="Calibri" pitchFamily="34" charset="-120"/>
              </a:rPr>
              <a:t>Email</a:t>
            </a:r>
            <a:endParaRPr lang="en-US" sz="850" dirty="0"/>
          </a:p>
        </p:txBody>
      </p:sp>
      <p:sp>
        <p:nvSpPr>
          <p:cNvPr id="27" name="Text 24"/>
          <p:cNvSpPr/>
          <p:nvPr/>
        </p:nvSpPr>
        <p:spPr>
          <a:xfrm>
            <a:off x="8083296" y="4462272"/>
            <a:ext cx="3157423" cy="219456"/>
          </a:xfrm>
          <a:prstGeom prst="rect">
            <a:avLst/>
          </a:prstGeom>
          <a:noFill/>
          <a:ln/>
        </p:spPr>
        <p:txBody>
          <a:bodyPr wrap="square" lIns="0" tIns="0" rIns="0" bIns="0" rtlCol="0" anchor="t"/>
          <a:lstStyle/>
          <a:p>
            <a:pPr indent="0" marL="0">
              <a:lnSpc>
                <a:spcPct val="105000"/>
              </a:lnSpc>
              <a:buNone/>
            </a:pPr>
            <a:r>
              <a:rPr lang="en-US" sz="1050" b="1" dirty="0">
                <a:solidFill>
                  <a:srgbClr val="232C24"/>
                </a:solidFill>
                <a:latin typeface="Calibri" pitchFamily="34" charset="0"/>
                <a:ea typeface="Calibri" pitchFamily="34" charset="-122"/>
                <a:cs typeface="Calibri" pitchFamily="34" charset="-120"/>
              </a:rPr>
              <a:t>info@blackboxtraders.in</a:t>
            </a:r>
            <a:endParaRPr lang="en-US" sz="1050" dirty="0"/>
          </a:p>
        </p:txBody>
      </p:sp>
      <p:sp>
        <p:nvSpPr>
          <p:cNvPr id="28" name="Text 25"/>
          <p:cNvSpPr/>
          <p:nvPr/>
        </p:nvSpPr>
        <p:spPr>
          <a:xfrm>
            <a:off x="8083296" y="4663440"/>
            <a:ext cx="3157423" cy="182880"/>
          </a:xfrm>
          <a:prstGeom prst="rect">
            <a:avLst/>
          </a:prstGeom>
          <a:noFill/>
          <a:ln/>
        </p:spPr>
        <p:txBody>
          <a:bodyPr wrap="square" lIns="0" tIns="0" rIns="0" bIns="0" rtlCol="0" anchor="ctr"/>
          <a:lstStyle/>
          <a:p>
            <a:pPr indent="0" marL="0">
              <a:buNone/>
            </a:pPr>
            <a:r>
              <a:rPr lang="en-US" sz="850" b="1" spc="110" kern="0" dirty="0">
                <a:solidFill>
                  <a:srgbClr val="6E7A6F"/>
                </a:solidFill>
                <a:latin typeface="Calibri" pitchFamily="34" charset="0"/>
                <a:ea typeface="Calibri" pitchFamily="34" charset="-122"/>
                <a:cs typeface="Calibri" pitchFamily="34" charset="-120"/>
              </a:rPr>
              <a:t>Website</a:t>
            </a:r>
            <a:endParaRPr lang="en-US" sz="850" dirty="0"/>
          </a:p>
        </p:txBody>
      </p:sp>
      <p:sp>
        <p:nvSpPr>
          <p:cNvPr id="29" name="Text 26"/>
          <p:cNvSpPr/>
          <p:nvPr/>
        </p:nvSpPr>
        <p:spPr>
          <a:xfrm>
            <a:off x="8083296" y="4846320"/>
            <a:ext cx="3157423" cy="219456"/>
          </a:xfrm>
          <a:prstGeom prst="rect">
            <a:avLst/>
          </a:prstGeom>
          <a:noFill/>
          <a:ln/>
        </p:spPr>
        <p:txBody>
          <a:bodyPr wrap="square" lIns="0" tIns="0" rIns="0" bIns="0" rtlCol="0" anchor="t"/>
          <a:lstStyle/>
          <a:p>
            <a:pPr indent="0" marL="0">
              <a:lnSpc>
                <a:spcPct val="105000"/>
              </a:lnSpc>
              <a:buNone/>
            </a:pPr>
            <a:r>
              <a:rPr lang="en-US" sz="1050" b="1" dirty="0">
                <a:solidFill>
                  <a:srgbClr val="232C24"/>
                </a:solidFill>
                <a:latin typeface="Calibri" pitchFamily="34" charset="0"/>
                <a:ea typeface="Calibri" pitchFamily="34" charset="-122"/>
                <a:cs typeface="Calibri" pitchFamily="34" charset="-120"/>
              </a:rPr>
              <a:t>www.blackboxtraders.in</a:t>
            </a:r>
            <a:endParaRPr lang="en-US" sz="1050" dirty="0"/>
          </a:p>
        </p:txBody>
      </p:sp>
      <p:sp>
        <p:nvSpPr>
          <p:cNvPr id="30" name="Text 27"/>
          <p:cNvSpPr/>
          <p:nvPr/>
        </p:nvSpPr>
        <p:spPr>
          <a:xfrm>
            <a:off x="8083296" y="5047488"/>
            <a:ext cx="3157423" cy="182880"/>
          </a:xfrm>
          <a:prstGeom prst="rect">
            <a:avLst/>
          </a:prstGeom>
          <a:noFill/>
          <a:ln/>
        </p:spPr>
        <p:txBody>
          <a:bodyPr wrap="square" lIns="0" tIns="0" rIns="0" bIns="0" rtlCol="0" anchor="ctr"/>
          <a:lstStyle/>
          <a:p>
            <a:pPr indent="0" marL="0">
              <a:buNone/>
            </a:pPr>
            <a:r>
              <a:rPr lang="en-US" sz="850" b="1" spc="110" kern="0" dirty="0">
                <a:solidFill>
                  <a:srgbClr val="6E7A6F"/>
                </a:solidFill>
                <a:latin typeface="Calibri" pitchFamily="34" charset="0"/>
                <a:ea typeface="Calibri" pitchFamily="34" charset="-122"/>
                <a:cs typeface="Calibri" pitchFamily="34" charset="-120"/>
              </a:rPr>
              <a:t>Plant address</a:t>
            </a:r>
            <a:endParaRPr lang="en-US" sz="850" dirty="0"/>
          </a:p>
        </p:txBody>
      </p:sp>
      <p:sp>
        <p:nvSpPr>
          <p:cNvPr id="31" name="Text 28"/>
          <p:cNvSpPr/>
          <p:nvPr/>
        </p:nvSpPr>
        <p:spPr>
          <a:xfrm>
            <a:off x="8083296" y="5230368"/>
            <a:ext cx="3157423" cy="658368"/>
          </a:xfrm>
          <a:prstGeom prst="rect">
            <a:avLst/>
          </a:prstGeom>
          <a:noFill/>
          <a:ln/>
        </p:spPr>
        <p:txBody>
          <a:bodyPr wrap="square" lIns="0" tIns="0" rIns="0" bIns="0" rtlCol="0" anchor="t"/>
          <a:lstStyle/>
          <a:p>
            <a:pPr indent="0" marL="0">
              <a:lnSpc>
                <a:spcPct val="105000"/>
              </a:lnSpc>
              <a:buNone/>
            </a:pPr>
            <a:r>
              <a:rPr lang="en-US" sz="1050" b="1" dirty="0">
                <a:solidFill>
                  <a:srgbClr val="232C24"/>
                </a:solidFill>
                <a:latin typeface="Calibri" pitchFamily="34" charset="0"/>
                <a:ea typeface="Calibri" pitchFamily="34" charset="-122"/>
                <a:cs typeface="Calibri" pitchFamily="34" charset="-120"/>
              </a:rPr>
              <a:t>177 Marakanam Road, Maduranthagam,</a:t>
            </a:r>
            <a:endParaRPr lang="en-US" sz="1050" dirty="0"/>
          </a:p>
          <a:p>
            <a:pPr indent="0" marL="0">
              <a:lnSpc>
                <a:spcPct val="105000"/>
              </a:lnSpc>
              <a:buNone/>
            </a:pPr>
            <a:r>
              <a:rPr lang="en-US" sz="1050" b="1" dirty="0">
                <a:solidFill>
                  <a:srgbClr val="232C24"/>
                </a:solidFill>
                <a:latin typeface="Calibri" pitchFamily="34" charset="0"/>
                <a:ea typeface="Calibri" pitchFamily="34" charset="-122"/>
                <a:cs typeface="Calibri" pitchFamily="34" charset="-120"/>
              </a:rPr>
              <a:t>Nethapakkam, Chengalpattu,</a:t>
            </a:r>
            <a:endParaRPr lang="en-US" sz="1050" dirty="0"/>
          </a:p>
          <a:p>
            <a:pPr indent="0" marL="0">
              <a:lnSpc>
                <a:spcPct val="105000"/>
              </a:lnSpc>
              <a:buNone/>
            </a:pPr>
            <a:r>
              <a:rPr lang="en-US" sz="1050" b="1" dirty="0">
                <a:solidFill>
                  <a:srgbClr val="232C24"/>
                </a:solidFill>
                <a:latin typeface="Calibri" pitchFamily="34" charset="0"/>
                <a:ea typeface="Calibri" pitchFamily="34" charset="-122"/>
                <a:cs typeface="Calibri" pitchFamily="34" charset="-120"/>
              </a:rPr>
              <a:t>Tamil Nadu 603301</a:t>
            </a:r>
            <a:endParaRPr lang="en-US" sz="1050" dirty="0"/>
          </a:p>
        </p:txBody>
      </p:sp>
      <p:sp>
        <p:nvSpPr>
          <p:cNvPr id="32" name="Text 29"/>
          <p:cNvSpPr/>
          <p:nvPr/>
        </p:nvSpPr>
        <p:spPr>
          <a:xfrm>
            <a:off x="640080" y="6382512"/>
            <a:ext cx="5486400" cy="237744"/>
          </a:xfrm>
          <a:prstGeom prst="rect">
            <a:avLst/>
          </a:prstGeom>
          <a:noFill/>
          <a:ln/>
        </p:spPr>
        <p:txBody>
          <a:bodyPr wrap="square" lIns="0" tIns="0" rIns="0" bIns="0" rtlCol="0" anchor="ctr"/>
          <a:lstStyle/>
          <a:p>
            <a:pPr indent="0" marL="0">
              <a:buNone/>
            </a:pPr>
            <a:r>
              <a:rPr lang="en-US" sz="900" spc="60" kern="0" dirty="0">
                <a:solidFill>
                  <a:srgbClr val="A9BBAB"/>
                </a:solidFill>
                <a:latin typeface="Calibri" pitchFamily="34" charset="0"/>
                <a:ea typeface="Calibri" pitchFamily="34" charset="-122"/>
                <a:cs typeface="Calibri" pitchFamily="34" charset="-120"/>
              </a:rPr>
              <a:t>Coco Palms Skylanes and Allied Products</a:t>
            </a:r>
            <a:endParaRPr lang="en-US" sz="900" dirty="0"/>
          </a:p>
        </p:txBody>
      </p:sp>
      <p:sp>
        <p:nvSpPr>
          <p:cNvPr id="33" name="Text 30"/>
          <p:cNvSpPr/>
          <p:nvPr/>
        </p:nvSpPr>
        <p:spPr>
          <a:xfrm>
            <a:off x="10637215" y="6382512"/>
            <a:ext cx="914400" cy="237744"/>
          </a:xfrm>
          <a:prstGeom prst="rect">
            <a:avLst/>
          </a:prstGeom>
          <a:noFill/>
          <a:ln/>
        </p:spPr>
        <p:txBody>
          <a:bodyPr wrap="square" lIns="0" tIns="0" rIns="0" bIns="0" rtlCol="0" anchor="ctr"/>
          <a:lstStyle/>
          <a:p>
            <a:pPr algn="r" indent="0" marL="0">
              <a:buNone/>
            </a:pPr>
            <a:r>
              <a:rPr lang="en-US" sz="900" dirty="0">
                <a:solidFill>
                  <a:srgbClr val="A9BBAB"/>
                </a:solidFill>
                <a:latin typeface="Calibri" pitchFamily="34" charset="0"/>
                <a:ea typeface="Calibri" pitchFamily="34" charset="-122"/>
                <a:cs typeface="Calibri" pitchFamily="34" charset="-120"/>
              </a:rPr>
              <a:t>13</a:t>
            </a: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13</Slides>
  <Notes>13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13</vt:i4>
      </vt:variant>
    </vt:vector>
  </HeadingPairs>
  <TitlesOfParts>
    <vt:vector size="1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vector>
  </TitlesOfParts>
  <Company>Coco Palms Skylanes and Allied Products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Coco Palms Skylanes - Export Capability Profile</dc:title>
  <dc:subject>PptxGenJS Presentation</dc:subject>
  <dc:creator>Coco Palms Skylanes and Allied Products</dc:creator>
  <cp:lastModifiedBy>Coco Palms Skylanes and Allied Products</cp:lastModifiedBy>
  <cp:revision>1</cp:revision>
  <dcterms:created xsi:type="dcterms:W3CDTF">2026-08-12T15:03:23Z</dcterms:created>
  <dcterms:modified xsi:type="dcterms:W3CDTF">2026-08-12T15:03:23Z</dcterms:modified>
</cp:coreProperties>
</file>